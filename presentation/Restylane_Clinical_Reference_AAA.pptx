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5EDE3"/>
            </a:gs>
            <a:gs pos="100000">
              <a:srgbClr val="E8D9C5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640080"/>
            <a:ext cx="1463040" cy="640080"/>
          </a:xfrm>
          <a:prstGeom prst="roundRect">
            <a:avLst/>
          </a:prstGeom>
          <a:solidFill>
            <a:srgbClr val="FAF6F0"/>
          </a:solidFill>
          <a:ln w="9525">
            <a:solidFill>
              <a:srgbClr val="B8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800" b="1" i="0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AAA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463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77724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2200" b="1" i="0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RESTYLANE®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23444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1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Hyaluronic Acid Fillers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5800" b="1" i="0">
                <a:solidFill>
                  <a:srgbClr val="2C1F15"/>
                </a:solidFill>
                <a:latin typeface="Noto Sans Hebrew"/>
                <a:cs typeface="Noto Sans Hebrew"/>
              </a:rPr>
              <a:t>ליין </a:t>
            </a:r>
            <a:r>
              <a:rPr sz="58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Restylane: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332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200" b="0" i="0">
                <a:solidFill>
                  <a:srgbClr val="8A6E4A"/>
                </a:solidFill>
                <a:latin typeface="Noto Sans Hebrew"/>
                <a:cs typeface="Noto Sans Hebrew"/>
              </a:rPr>
              <a:t>מדריך קליני מקיף לרופאים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800" b="0" i="1">
                <a:solidFill>
                  <a:srgbClr val="4A3A2A"/>
                </a:solidFill>
                <a:latin typeface="Noto Sans"/>
                <a:cs typeface="Noto Sans"/>
                <a:ea typeface="Noto Sans"/>
              </a:rPr>
              <a:t>A Complete Clinical Reference — Material, Indication, Outcome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0" y="5349240"/>
            <a:ext cx="2130552" cy="0"/>
          </a:xfrm>
          <a:prstGeom prst="line">
            <a:avLst/>
          </a:prstGeom>
          <a:ln w="2540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A88D6F"/>
                </a:solidFill>
                <a:latin typeface="Noto Sans Hebrew"/>
                <a:cs typeface="Noto Sans Hebrew"/>
              </a:rPr>
              <a:t>מצגת מקצועית · לרופאים בלבד · על בסיס מידע יצרן ומאמרים מאושרים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תוכן עניינים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Agenda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737360"/>
            <a:ext cx="502920" cy="292608"/>
          </a:xfrm>
          <a:prstGeom prst="round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28216"/>
            <a:ext cx="502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מבוא: חומצה היאלורונית באסתטיקה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808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HA in Aesthetic Medicine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21408"/>
            <a:ext cx="502920" cy="292608"/>
          </a:xfrm>
          <a:prstGeom prst="round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12264"/>
            <a:ext cx="502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75688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שתי טכנולוגיות: </a:t>
            </a:r>
            <a:r>
              <a:rPr sz="14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NASHA </a:t>
            </a: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ו-</a:t>
            </a:r>
            <a:r>
              <a:rPr sz="14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OBT/XpresHAn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76856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Two Crosslinking Technologies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05456"/>
            <a:ext cx="502920" cy="292608"/>
          </a:xfrm>
          <a:prstGeom prst="round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96312"/>
            <a:ext cx="502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459736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ריאולוגיה: </a:t>
            </a:r>
            <a:r>
              <a:rPr sz="14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G' Prime, </a:t>
            </a: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קוהזיביות, נפיחות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660904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Rheology Fundamentals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889504"/>
            <a:ext cx="502920" cy="292608"/>
          </a:xfrm>
          <a:prstGeom prst="round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880360"/>
            <a:ext cx="502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43784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משפחת </a:t>
            </a:r>
            <a:r>
              <a:rPr sz="14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NASHA – </a:t>
            </a: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מבנה ויציבות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044952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The NASHA Family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73552"/>
            <a:ext cx="502920" cy="292608"/>
          </a:xfrm>
          <a:prstGeom prst="round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264408"/>
            <a:ext cx="502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227832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משפחת </a:t>
            </a:r>
            <a:r>
              <a:rPr sz="14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OBT/XpresHAn – </a:t>
            </a: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גמישות ותנועה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429000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The OBT/XpresHAn Family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657600"/>
            <a:ext cx="502920" cy="292608"/>
          </a:xfrm>
          <a:prstGeom prst="round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648456"/>
            <a:ext cx="502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611880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פרופיל מלא לכל מוצר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813048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Per-Product Deep Dive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502920" cy="292608"/>
          </a:xfrm>
          <a:prstGeom prst="round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032504"/>
            <a:ext cx="502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3995928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מפת אזורי הזרקה ובחירת מוצר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197096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Face Map &amp; Product Picker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425696"/>
            <a:ext cx="502920" cy="292608"/>
          </a:xfrm>
          <a:prstGeom prst="round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416552"/>
            <a:ext cx="502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379976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טבלאות השוואה: </a:t>
            </a:r>
            <a:r>
              <a:rPr sz="14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Lyft vs Defyne / Volyme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4581144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Head-to-Head Comparisons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1737360"/>
            <a:ext cx="502920" cy="292608"/>
          </a:xfrm>
          <a:prstGeom prst="round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1728216"/>
            <a:ext cx="502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1691640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טכניקה: מחט מול קנולה, עומקי הזרקה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1892808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Needle vs Cannula, Planes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2121408"/>
            <a:ext cx="502920" cy="292608"/>
          </a:xfrm>
          <a:prstGeom prst="round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2112264"/>
            <a:ext cx="502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2075688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Longevity – </a:t>
            </a: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משך השפעה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2276856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Duration Table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80" y="2505456"/>
            <a:ext cx="502920" cy="292608"/>
          </a:xfrm>
          <a:prstGeom prst="round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2496312"/>
            <a:ext cx="502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2459736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פרוטוקולים משולבים – </a:t>
            </a:r>
            <a:r>
              <a:rPr sz="14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full-face plans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2660904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Combination Protocols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2889504"/>
            <a:ext cx="502920" cy="292608"/>
          </a:xfrm>
          <a:prstGeom prst="round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2880360"/>
            <a:ext cx="502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2843784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Contraindications &amp; Adverse Events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3044952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Safety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55080" y="3273552"/>
            <a:ext cx="502920" cy="292608"/>
          </a:xfrm>
          <a:prstGeom prst="round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3264408"/>
            <a:ext cx="502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3227832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Hyaluronidase – </a:t>
            </a: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פירוק וחילוץ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95160" y="3429000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Reversal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55080" y="3657600"/>
            <a:ext cx="502920" cy="292608"/>
          </a:xfrm>
          <a:prstGeom prst="round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3648456"/>
            <a:ext cx="502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5160" y="3611880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Case studies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95160" y="3813048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3 Clinical Cases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55080" y="4041648"/>
            <a:ext cx="502920" cy="292608"/>
          </a:xfrm>
          <a:prstGeom prst="round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4032504"/>
            <a:ext cx="502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95160" y="3995928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Decision tree &amp; </a:t>
            </a: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סיכום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95160" y="4197096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Summary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תוכן עניינים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חומצה היאלורונית באסתטיקה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Hyaluronic Acid (HA): The Why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9164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200" b="1" i="0">
                <a:solidFill>
                  <a:srgbClr val="8A6E4A"/>
                </a:solidFill>
                <a:latin typeface="Noto Sans Hebrew"/>
                <a:cs typeface="Noto Sans Hebrew"/>
              </a:rPr>
              <a:t>מה זה </a:t>
            </a:r>
            <a:r>
              <a:rPr sz="2200" b="1" i="0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HA?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68580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 i="0">
                <a:solidFill>
                  <a:srgbClr val="4A3A2A"/>
                </a:solidFill>
                <a:latin typeface="Noto Sans Hebrew"/>
                <a:cs typeface="Noto Sans Hebrew"/>
              </a:rPr>
              <a:t>פוליסכריד טבעי שנמצא בעור, במפרקים, בנוזל זגוגי - מסוגל לקשור עד פי </a:t>
            </a:r>
            <a:r>
              <a:rPr sz="1500" b="0" i="0">
                <a:solidFill>
                  <a:srgbClr val="4A3A2A"/>
                </a:solidFill>
                <a:latin typeface="Noto Sans"/>
                <a:cs typeface="Noto Sans"/>
                <a:ea typeface="Noto Sans"/>
              </a:rPr>
              <a:t>1000 </a:t>
            </a:r>
            <a:r>
              <a:rPr sz="1500" b="0" i="0">
                <a:solidFill>
                  <a:srgbClr val="4A3A2A"/>
                </a:solidFill>
                <a:latin typeface="Noto Sans Hebrew"/>
                <a:cs typeface="Noto Sans Hebrew"/>
              </a:rPr>
              <a:t>ממשקלו במים. עם הגיל הריכוז יורד דרמטית, ואיתו הנפח, הגמישות וההידרציה של העור.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200" b="1" i="0">
                <a:solidFill>
                  <a:srgbClr val="8A6E4A"/>
                </a:solidFill>
                <a:latin typeface="Noto Sans Hebrew"/>
                <a:cs typeface="Noto Sans Hebrew"/>
              </a:rPr>
              <a:t>למה </a:t>
            </a:r>
            <a:r>
              <a:rPr sz="2200" b="1" i="0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Crosslinking?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68580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 i="0">
                <a:solidFill>
                  <a:srgbClr val="4A3A2A"/>
                </a:solidFill>
                <a:latin typeface="Noto Sans"/>
                <a:cs typeface="Noto Sans"/>
                <a:ea typeface="Noto Sans"/>
              </a:rPr>
              <a:t>HA </a:t>
            </a:r>
            <a:r>
              <a:rPr sz="1500" b="0" i="0">
                <a:solidFill>
                  <a:srgbClr val="4A3A2A"/>
                </a:solidFill>
                <a:latin typeface="Noto Sans Hebrew"/>
                <a:cs typeface="Noto Sans Hebrew"/>
              </a:rPr>
              <a:t>חופשי מתפרק תוך </a:t>
            </a:r>
            <a:r>
              <a:rPr sz="1500" b="0" i="0">
                <a:solidFill>
                  <a:srgbClr val="4A3A2A"/>
                </a:solidFill>
                <a:latin typeface="Noto Sans"/>
                <a:cs typeface="Noto Sans"/>
                <a:ea typeface="Noto Sans"/>
              </a:rPr>
              <a:t>24-48 </a:t>
            </a:r>
            <a:r>
              <a:rPr sz="1500" b="0" i="0">
                <a:solidFill>
                  <a:srgbClr val="4A3A2A"/>
                </a:solidFill>
                <a:latin typeface="Noto Sans Hebrew"/>
                <a:cs typeface="Noto Sans Hebrew"/>
              </a:rPr>
              <a:t>שעות. קישור צולב (</a:t>
            </a:r>
            <a:r>
              <a:rPr sz="1500" b="0" i="0">
                <a:solidFill>
                  <a:srgbClr val="4A3A2A"/>
                </a:solidFill>
                <a:latin typeface="Noto Sans"/>
                <a:cs typeface="Noto Sans"/>
                <a:ea typeface="Noto Sans"/>
              </a:rPr>
              <a:t>BDDE) </a:t>
            </a:r>
            <a:r>
              <a:rPr sz="1500" b="0" i="0">
                <a:solidFill>
                  <a:srgbClr val="4A3A2A"/>
                </a:solidFill>
                <a:latin typeface="Noto Sans Hebrew"/>
                <a:cs typeface="Noto Sans Hebrew"/>
              </a:rPr>
              <a:t>הופך אותו ל-</a:t>
            </a:r>
            <a:r>
              <a:rPr sz="1500" b="0" i="0">
                <a:solidFill>
                  <a:srgbClr val="4A3A2A"/>
                </a:solidFill>
                <a:latin typeface="Noto Sans"/>
                <a:cs typeface="Noto Sans"/>
                <a:ea typeface="Noto Sans"/>
              </a:rPr>
              <a:t>Gel </a:t>
            </a:r>
            <a:r>
              <a:rPr sz="1500" b="0" i="0">
                <a:solidFill>
                  <a:srgbClr val="4A3A2A"/>
                </a:solidFill>
                <a:latin typeface="Noto Sans Hebrew"/>
                <a:cs typeface="Noto Sans Hebrew"/>
              </a:rPr>
              <a:t>יציב שמחזיק חודשים. סוג ה-</a:t>
            </a:r>
            <a:r>
              <a:rPr sz="1500" b="0" i="0">
                <a:solidFill>
                  <a:srgbClr val="4A3A2A"/>
                </a:solidFill>
                <a:latin typeface="Noto Sans"/>
                <a:cs typeface="Noto Sans"/>
                <a:ea typeface="Noto Sans"/>
              </a:rPr>
              <a:t>crosslinking </a:t>
            </a:r>
            <a:r>
              <a:rPr sz="1500" b="0" i="0">
                <a:solidFill>
                  <a:srgbClr val="4A3A2A"/>
                </a:solidFill>
                <a:latin typeface="Noto Sans Hebrew"/>
                <a:cs typeface="Noto Sans Hebrew"/>
              </a:rPr>
              <a:t>הוא מה שמבדיל בין משפחות מוצרים – וזה שורש כל ההחלטה הקלינית.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3931920" cy="1188720"/>
          </a:xfrm>
          <a:prstGeom prst="roundRect">
            <a:avLst/>
          </a:prstGeom>
          <a:solidFill>
            <a:srgbClr val="FAF6F0"/>
          </a:solidFill>
          <a:ln w="9525">
            <a:solidFill>
              <a:srgbClr val="B8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9202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3600" b="1" i="0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≈ 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468880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ירידה בריכוז </a:t>
            </a:r>
            <a:r>
              <a:rPr sz="14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743200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בעור עד גיל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154680"/>
            <a:ext cx="3931920" cy="1188720"/>
          </a:xfrm>
          <a:prstGeom prst="roundRect">
            <a:avLst/>
          </a:prstGeom>
          <a:solidFill>
            <a:srgbClr val="FAF6F0"/>
          </a:solidFill>
          <a:ln w="9525">
            <a:solidFill>
              <a:srgbClr val="B8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24612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3600" b="1" i="0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&gt; 1000×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794760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יכולת קשירת מים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069080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ביחס למשקל המולקולה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480560"/>
            <a:ext cx="3931920" cy="1188720"/>
          </a:xfrm>
          <a:prstGeom prst="roundRect">
            <a:avLst/>
          </a:prstGeom>
          <a:solidFill>
            <a:srgbClr val="FAF6F0"/>
          </a:solidFill>
          <a:ln w="9525">
            <a:solidFill>
              <a:srgbClr val="B8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57200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3600" b="1" i="0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BDDE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120640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תקן ה-</a:t>
            </a:r>
            <a:r>
              <a:rPr sz="14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crosslinking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394960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Butanediol Diglycidyl Ether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86400"/>
            <a:ext cx="11091672" cy="777240"/>
          </a:xfrm>
          <a:prstGeom prst="roundRect">
            <a:avLst/>
          </a:prstGeom>
          <a:solidFill>
            <a:srgbClr val="D9C2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8A6E4A"/>
                </a:solidFill>
                <a:latin typeface="Noto Sans Hebrew"/>
                <a:cs typeface="Noto Sans Hebrew"/>
              </a:rPr>
              <a:t>המסר הקליני המרכזי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2C1F15"/>
                </a:solidFill>
                <a:latin typeface="Noto Sans Hebrew"/>
                <a:cs typeface="Noto Sans Hebrew"/>
              </a:rPr>
              <a:t>בחירת המוצר הנכון מתחילה לא מהאזור – אלא מה-</a:t>
            </a:r>
            <a:r>
              <a:rPr sz="14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Rheology </a:t>
            </a:r>
            <a:r>
              <a:rPr sz="1400" b="0" i="0">
                <a:solidFill>
                  <a:srgbClr val="2C1F15"/>
                </a:solidFill>
                <a:latin typeface="Noto Sans Hebrew"/>
                <a:cs typeface="Noto Sans Hebrew"/>
              </a:rPr>
              <a:t>של הג'ל ומהאינדיקציה הקלינית.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מבוא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שתי טכנולוגיות במשפחה אחת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NASHA  ·  OBT / XpresHAn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691640"/>
            <a:ext cx="5486400" cy="4389120"/>
          </a:xfrm>
          <a:prstGeom prst="roundRect">
            <a:avLst/>
          </a:prstGeom>
          <a:solidFill>
            <a:srgbClr val="FAF6F0"/>
          </a:solidFill>
          <a:ln w="2540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5486400" cy="54864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2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NASHA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100" b="0" i="1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(Non-Animal Stabilized Hyaluronic Acid)</a:t>
            </a:r>
          </a:p>
        </p:txBody>
      </p:sp>
      <p:sp>
        <p:nvSpPr>
          <p:cNvPr id="10" name="Oval 9"/>
          <p:cNvSpPr/>
          <p:nvPr/>
        </p:nvSpPr>
        <p:spPr>
          <a:xfrm>
            <a:off x="2514600" y="2788920"/>
            <a:ext cx="411480" cy="411480"/>
          </a:xfrm>
          <a:prstGeom prst="ellipse">
            <a:avLst/>
          </a:prstGeom>
          <a:solidFill>
            <a:srgbClr val="6E8FC4"/>
          </a:solidFill>
          <a:ln w="9525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17520" y="2834640"/>
            <a:ext cx="365760" cy="365760"/>
          </a:xfrm>
          <a:prstGeom prst="ellipse">
            <a:avLst/>
          </a:prstGeom>
          <a:solidFill>
            <a:srgbClr val="6E8FC4"/>
          </a:solidFill>
          <a:ln w="9525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43200" y="3291840"/>
            <a:ext cx="457200" cy="457200"/>
          </a:xfrm>
          <a:prstGeom prst="ellipse">
            <a:avLst/>
          </a:prstGeom>
          <a:solidFill>
            <a:srgbClr val="6E8FC4"/>
          </a:solidFill>
          <a:ln w="9525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91840" y="3291840"/>
            <a:ext cx="320040" cy="320040"/>
          </a:xfrm>
          <a:prstGeom prst="ellipse">
            <a:avLst/>
          </a:prstGeom>
          <a:solidFill>
            <a:srgbClr val="6E8FC4"/>
          </a:solidFill>
          <a:ln w="9525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14600" y="3749040"/>
            <a:ext cx="384048" cy="384048"/>
          </a:xfrm>
          <a:prstGeom prst="ellipse">
            <a:avLst/>
          </a:prstGeom>
          <a:solidFill>
            <a:srgbClr val="6E8FC4"/>
          </a:solidFill>
          <a:ln w="9525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63240" y="3794760"/>
            <a:ext cx="411480" cy="411480"/>
          </a:xfrm>
          <a:prstGeom prst="ellipse">
            <a:avLst/>
          </a:prstGeom>
          <a:solidFill>
            <a:srgbClr val="6E8FC4"/>
          </a:solidFill>
          <a:ln w="9525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48840" y="3246120"/>
            <a:ext cx="347472" cy="347472"/>
          </a:xfrm>
          <a:prstGeom prst="ellipse">
            <a:avLst/>
          </a:prstGeom>
          <a:solidFill>
            <a:srgbClr val="6E8FC4"/>
          </a:solidFill>
          <a:ln w="9525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434840"/>
            <a:ext cx="47548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■ Crosslinking </a:t>
            </a:r>
            <a:r>
              <a:rPr sz="1300" b="0" i="0">
                <a:solidFill>
                  <a:srgbClr val="2C1F15"/>
                </a:solidFill>
                <a:latin typeface="Noto Sans Hebrew"/>
                <a:cs typeface="Noto Sans Hebrew"/>
              </a:rPr>
              <a:t>נמוך יחסית, חלקיקים גסים יותר</a:t>
            </a:r>
          </a:p>
          <a:p>
            <a:pPr algn="r" rtl="1">
              <a:lnSpc>
                <a:spcPct val="130000"/>
              </a:lnSpc>
            </a:pPr>
            <a:r>
              <a:rPr sz="13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■ G' Prime </a:t>
            </a:r>
            <a:r>
              <a:rPr sz="1300" b="0" i="0">
                <a:solidFill>
                  <a:srgbClr val="2C1F15"/>
                </a:solidFill>
                <a:latin typeface="Noto Sans Hebrew"/>
                <a:cs typeface="Noto Sans Hebrew"/>
              </a:rPr>
              <a:t>גבוה – יציב, ׳עומד׳ במקום</a:t>
            </a:r>
          </a:p>
          <a:p>
            <a:pPr algn="r" rtl="1">
              <a:lnSpc>
                <a:spcPct val="130000"/>
              </a:lnSpc>
            </a:pPr>
            <a:r>
              <a:rPr sz="13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■ </a:t>
            </a:r>
            <a:r>
              <a:rPr sz="1300" b="0" i="0">
                <a:solidFill>
                  <a:srgbClr val="2C1F15"/>
                </a:solidFill>
                <a:latin typeface="Noto Sans Hebrew"/>
                <a:cs typeface="Noto Sans Hebrew"/>
              </a:rPr>
              <a:t>דוחף את הרקמה (</a:t>
            </a:r>
            <a:r>
              <a:rPr sz="13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Bone Mimicry)</a:t>
            </a:r>
          </a:p>
          <a:p>
            <a:pPr algn="r" rtl="1">
              <a:lnSpc>
                <a:spcPct val="130000"/>
              </a:lnSpc>
            </a:pPr>
            <a:r>
              <a:rPr sz="13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■ </a:t>
            </a:r>
            <a:r>
              <a:rPr sz="1300" b="0" i="0">
                <a:solidFill>
                  <a:srgbClr val="2C1F15"/>
                </a:solidFill>
                <a:latin typeface="Noto Sans Hebrew"/>
                <a:cs typeface="Noto Sans Hebrew"/>
              </a:rPr>
              <a:t>אידיאלי להרמה, יציבות מבנית, חידוד עצם</a:t>
            </a:r>
          </a:p>
          <a:p>
            <a:pPr algn="r" rtl="1">
              <a:lnSpc>
                <a:spcPct val="130000"/>
              </a:lnSpc>
            </a:pPr>
            <a:r>
              <a:rPr sz="13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■ </a:t>
            </a:r>
            <a:r>
              <a:rPr sz="1300" b="0" i="0">
                <a:solidFill>
                  <a:srgbClr val="2C1F15"/>
                </a:solidFill>
                <a:latin typeface="Noto Sans Hebrew"/>
                <a:cs typeface="Noto Sans Hebrew"/>
              </a:rPr>
              <a:t>פחות נפיחות, פחות תזוזה</a:t>
            </a:r>
          </a:p>
          <a:p>
            <a:pPr algn="r" rtl="1">
              <a:lnSpc>
                <a:spcPct val="130000"/>
              </a:lnSpc>
            </a:pPr>
            <a:r>
              <a:rPr sz="13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■ </a:t>
            </a:r>
            <a:r>
              <a:rPr sz="1300" b="0" i="0">
                <a:solidFill>
                  <a:srgbClr val="2C1F15"/>
                </a:solidFill>
                <a:latin typeface="Noto Sans Hebrew"/>
                <a:cs typeface="Noto Sans Hebrew"/>
              </a:rPr>
              <a:t>דורש טכניקה ׳כירורגית׳ מדויקת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691640"/>
            <a:ext cx="5486400" cy="4389120"/>
          </a:xfrm>
          <a:prstGeom prst="roundRect">
            <a:avLst/>
          </a:prstGeom>
          <a:solidFill>
            <a:srgbClr val="FAF6F0"/>
          </a:solidFill>
          <a:ln w="2540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99632" y="1691640"/>
            <a:ext cx="5486400" cy="54864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1764792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2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OBT / XpresHAn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2331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100" b="0" i="1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(Optimal Balance Technology)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36992" y="2788920"/>
            <a:ext cx="2011680" cy="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36992" y="2984862"/>
            <a:ext cx="2011680" cy="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936992" y="3180805"/>
            <a:ext cx="2011680" cy="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36992" y="3376748"/>
            <a:ext cx="2011680" cy="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36992" y="3572691"/>
            <a:ext cx="2011680" cy="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36992" y="3768634"/>
            <a:ext cx="2011680" cy="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36992" y="3964577"/>
            <a:ext cx="2011680" cy="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936992" y="4160520"/>
            <a:ext cx="2011680" cy="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936992" y="2788920"/>
            <a:ext cx="0" cy="137160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19872" y="2788920"/>
            <a:ext cx="0" cy="137160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302752" y="2788920"/>
            <a:ext cx="0" cy="137160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485632" y="2788920"/>
            <a:ext cx="0" cy="137160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668512" y="2788920"/>
            <a:ext cx="0" cy="137160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851392" y="2788920"/>
            <a:ext cx="0" cy="137160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034272" y="2788920"/>
            <a:ext cx="0" cy="137160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217152" y="2788920"/>
            <a:ext cx="0" cy="137160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400032" y="2788920"/>
            <a:ext cx="0" cy="137160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582912" y="2788920"/>
            <a:ext cx="0" cy="137160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765792" y="2788920"/>
            <a:ext cx="0" cy="137160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948672" y="2788920"/>
            <a:ext cx="0" cy="1371600"/>
          </a:xfrm>
          <a:prstGeom prst="line">
            <a:avLst/>
          </a:prstGeom>
          <a:ln w="635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7936992" y="2788920"/>
            <a:ext cx="2011680" cy="1371600"/>
          </a:xfrm>
          <a:prstGeom prst="rect">
            <a:avLst/>
          </a:prstGeom>
          <a:noFill/>
          <a:ln w="1905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4434840"/>
            <a:ext cx="47548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■ Crosslinking </a:t>
            </a:r>
            <a:r>
              <a:rPr sz="1300" b="0" i="0">
                <a:solidFill>
                  <a:srgbClr val="2C1F15"/>
                </a:solidFill>
                <a:latin typeface="Noto Sans Hebrew"/>
                <a:cs typeface="Noto Sans Hebrew"/>
              </a:rPr>
              <a:t>הומוגני, ׳רשת רציפה׳</a:t>
            </a:r>
          </a:p>
          <a:p>
            <a:pPr algn="r" rtl="1">
              <a:lnSpc>
                <a:spcPct val="130000"/>
              </a:lnSpc>
            </a:pPr>
            <a:r>
              <a:rPr sz="13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■ G' Prime </a:t>
            </a:r>
            <a:r>
              <a:rPr sz="1300" b="0" i="0">
                <a:solidFill>
                  <a:srgbClr val="2C1F15"/>
                </a:solidFill>
                <a:latin typeface="Noto Sans Hebrew"/>
                <a:cs typeface="Noto Sans Hebrew"/>
              </a:rPr>
              <a:t>נמוך-בינוני – </a:t>
            </a:r>
            <a:r>
              <a:rPr sz="13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Stretch &amp; Recoil</a:t>
            </a:r>
          </a:p>
          <a:p>
            <a:pPr algn="r" rtl="1">
              <a:lnSpc>
                <a:spcPct val="130000"/>
              </a:lnSpc>
            </a:pPr>
            <a:r>
              <a:rPr sz="13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■ </a:t>
            </a:r>
            <a:r>
              <a:rPr sz="1300" b="0" i="0">
                <a:solidFill>
                  <a:srgbClr val="2C1F15"/>
                </a:solidFill>
                <a:latin typeface="Noto Sans Hebrew"/>
                <a:cs typeface="Noto Sans Hebrew"/>
              </a:rPr>
              <a:t>נע עם הרקמה (</a:t>
            </a:r>
            <a:r>
              <a:rPr sz="13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Tissue Mimicry)</a:t>
            </a:r>
          </a:p>
          <a:p>
            <a:pPr algn="r" rtl="1">
              <a:lnSpc>
                <a:spcPct val="130000"/>
              </a:lnSpc>
            </a:pPr>
            <a:r>
              <a:rPr sz="13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■ </a:t>
            </a:r>
            <a:r>
              <a:rPr sz="1300" b="0" i="0">
                <a:solidFill>
                  <a:srgbClr val="2C1F15"/>
                </a:solidFill>
                <a:latin typeface="Noto Sans Hebrew"/>
                <a:cs typeface="Noto Sans Hebrew"/>
              </a:rPr>
              <a:t>אידיאלי לאזורי תנועה ולנפח רך</a:t>
            </a:r>
          </a:p>
          <a:p>
            <a:pPr algn="r" rtl="1">
              <a:lnSpc>
                <a:spcPct val="130000"/>
              </a:lnSpc>
            </a:pPr>
            <a:r>
              <a:rPr sz="13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■ </a:t>
            </a:r>
            <a:r>
              <a:rPr sz="1300" b="0" i="0">
                <a:solidFill>
                  <a:srgbClr val="2C1F15"/>
                </a:solidFill>
                <a:latin typeface="Noto Sans Hebrew"/>
                <a:cs typeface="Noto Sans Hebrew"/>
              </a:rPr>
              <a:t>נראה טבעי בחיוך ובדיבור</a:t>
            </a:r>
          </a:p>
          <a:p>
            <a:pPr algn="r" rtl="1">
              <a:lnSpc>
                <a:spcPct val="130000"/>
              </a:lnSpc>
            </a:pPr>
            <a:r>
              <a:rPr sz="13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■ </a:t>
            </a:r>
            <a:r>
              <a:rPr sz="1300" b="0" i="0">
                <a:solidFill>
                  <a:srgbClr val="2C1F15"/>
                </a:solidFill>
                <a:latin typeface="Noto Sans Hebrew"/>
                <a:cs typeface="Noto Sans Hebrew"/>
              </a:rPr>
              <a:t>סלחני יותר טכנית, אך פחות מתאים לעצם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6172200"/>
            <a:ext cx="11183112" cy="228600"/>
          </a:xfrm>
          <a:prstGeom prst="round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199632"/>
            <a:ext cx="11183112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כלל אצבע: </a:t>
            </a: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NASHA = </a:t>
            </a: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עצם · </a:t>
            </a: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OBT = </a:t>
            </a: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רקמה רכה ותנועה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טכנולוגיה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ריאולוגיה של ג׳ל </a:t>
            </a:r>
            <a:r>
              <a:rPr sz="28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Rheology — G' Prime, Cohesivity, Swelling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0" y="1691640"/>
            <a:ext cx="4937760" cy="365760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728216"/>
            <a:ext cx="4937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G' (Elastic Modulus)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103120"/>
            <a:ext cx="49377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מדד ל׳קשיחות׳ הג'ל – כמה הוא ׳עומד׳ לעומת כמה הוא ׳זורם׳.</a:t>
            </a:r>
          </a:p>
          <a:p>
            <a:pPr algn="r" rtl="1">
              <a:lnSpc>
                <a:spcPct val="125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גבוה → תמיכה מבנית, מתאים לעצם.</a:t>
            </a:r>
          </a:p>
          <a:p>
            <a:pPr algn="r" rtl="1">
              <a:lnSpc>
                <a:spcPct val="125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נמוך → תנועה טבעית, מתאים לרקמה רכה.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743200"/>
            <a:ext cx="4937760" cy="365760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779776"/>
            <a:ext cx="4937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Cohesivity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154680"/>
            <a:ext cx="49377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כמה הג'ל ׳נצמד לעצמו׳ ולא מתפזר. חשוב למניעת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migration.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794760"/>
            <a:ext cx="4937760" cy="365760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831336"/>
            <a:ext cx="4937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Swelling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206240"/>
            <a:ext cx="49377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כמה הג'ל סופג מים אחרי הזרקה – משפיע על נפיחות מאוחרת.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4846320"/>
            <a:ext cx="4937760" cy="365760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4882896"/>
            <a:ext cx="4937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Plasticity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257800"/>
            <a:ext cx="49377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יכולת לעבור עיצוב אחרי הזרקה (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massage / molding).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417320"/>
            <a:ext cx="5943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ספקטרום </a:t>
            </a:r>
            <a:r>
              <a:rPr sz="14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G' Prime  →  </a:t>
            </a:r>
            <a:r>
              <a:rPr sz="1400" b="1" i="0">
                <a:solidFill>
                  <a:srgbClr val="2C1F15"/>
                </a:solidFill>
                <a:latin typeface="Noto Sans Hebrew"/>
                <a:cs typeface="Noto Sans Hebrew"/>
              </a:rPr>
              <a:t>קשיחות / יציבות מבנית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828800"/>
            <a:ext cx="594360" cy="640080"/>
          </a:xfrm>
          <a:prstGeom prst="rect">
            <a:avLst/>
          </a:prstGeom>
          <a:solidFill>
            <a:srgbClr val="C3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" y="1828800"/>
            <a:ext cx="594360" cy="640080"/>
          </a:xfrm>
          <a:prstGeom prst="rect">
            <a:avLst/>
          </a:prstGeom>
          <a:solidFill>
            <a:srgbClr val="B2A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37360" y="1828800"/>
            <a:ext cx="594360" cy="640080"/>
          </a:xfrm>
          <a:prstGeom prst="rect">
            <a:avLst/>
          </a:prstGeom>
          <a:solidFill>
            <a:srgbClr val="A19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31720" y="1828800"/>
            <a:ext cx="594360" cy="640080"/>
          </a:xfrm>
          <a:prstGeom prst="rect">
            <a:avLst/>
          </a:prstGeom>
          <a:solidFill>
            <a:srgbClr val="918E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0" y="1828800"/>
            <a:ext cx="594360" cy="640080"/>
          </a:xfrm>
          <a:prstGeom prst="rect">
            <a:avLst/>
          </a:prstGeom>
          <a:solidFill>
            <a:srgbClr val="808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20440" y="1828800"/>
            <a:ext cx="594360" cy="640080"/>
          </a:xfrm>
          <a:prstGeom prst="rect">
            <a:avLst/>
          </a:prstGeom>
          <a:solidFill>
            <a:srgbClr val="7079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0" y="1828800"/>
            <a:ext cx="594360" cy="640080"/>
          </a:xfrm>
          <a:prstGeom prst="rect">
            <a:avLst/>
          </a:prstGeom>
          <a:solidFill>
            <a:srgbClr val="5F6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60" y="1828800"/>
            <a:ext cx="594360" cy="640080"/>
          </a:xfrm>
          <a:prstGeom prst="rect">
            <a:avLst/>
          </a:prstGeom>
          <a:solidFill>
            <a:srgbClr val="4F6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0" y="1828800"/>
            <a:ext cx="594360" cy="640080"/>
          </a:xfrm>
          <a:prstGeom prst="rect">
            <a:avLst/>
          </a:prstGeom>
          <a:solidFill>
            <a:srgbClr val="3E5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97880" y="1828800"/>
            <a:ext cx="594360" cy="640080"/>
          </a:xfrm>
          <a:prstGeom prst="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786384" y="2468880"/>
            <a:ext cx="0" cy="182880"/>
          </a:xfrm>
          <a:prstGeom prst="line">
            <a:avLst/>
          </a:prstGeom>
          <a:ln w="19050">
            <a:solidFill>
              <a:srgbClr val="2C1F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37744" y="263347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1" i="0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Vital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618488" y="2468880"/>
            <a:ext cx="0" cy="182880"/>
          </a:xfrm>
          <a:prstGeom prst="line">
            <a:avLst/>
          </a:prstGeom>
          <a:ln w="19050">
            <a:solidFill>
              <a:srgbClr val="2C1F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69848" y="263347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1" i="0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Refyne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450592" y="2468880"/>
            <a:ext cx="0" cy="182880"/>
          </a:xfrm>
          <a:prstGeom prst="line">
            <a:avLst/>
          </a:prstGeom>
          <a:ln w="19050">
            <a:solidFill>
              <a:srgbClr val="2C1F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901952" y="263347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1" i="0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Kysse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282696" y="2468880"/>
            <a:ext cx="0" cy="182880"/>
          </a:xfrm>
          <a:prstGeom prst="line">
            <a:avLst/>
          </a:prstGeom>
          <a:ln w="19050">
            <a:solidFill>
              <a:srgbClr val="2C1F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734056" y="263347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1" i="0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Classic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817620" y="2468880"/>
            <a:ext cx="0" cy="182880"/>
          </a:xfrm>
          <a:prstGeom prst="line">
            <a:avLst/>
          </a:prstGeom>
          <a:ln w="19050">
            <a:solidFill>
              <a:srgbClr val="2C1F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268980" y="263347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1" i="0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Defyne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411980" y="2468880"/>
            <a:ext cx="0" cy="182880"/>
          </a:xfrm>
          <a:prstGeom prst="line">
            <a:avLst/>
          </a:prstGeom>
          <a:ln w="19050">
            <a:solidFill>
              <a:srgbClr val="2C1F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863340" y="263347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1" i="0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Volyme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16752" y="2468880"/>
            <a:ext cx="0" cy="182880"/>
          </a:xfrm>
          <a:prstGeom prst="line">
            <a:avLst/>
          </a:prstGeom>
          <a:ln w="19050">
            <a:solidFill>
              <a:srgbClr val="2C1F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68112" y="263347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1" i="0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Lyft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301752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← </a:t>
            </a:r>
            <a:r>
              <a:rPr sz="1100" b="0" i="0">
                <a:solidFill>
                  <a:srgbClr val="7A5A99"/>
                </a:solidFill>
                <a:latin typeface="Noto Sans Hebrew"/>
                <a:cs typeface="Noto Sans Hebrew"/>
              </a:rPr>
              <a:t>רך, גמיש (</a:t>
            </a:r>
            <a:r>
              <a:rPr sz="1100" b="0" i="0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Soft)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301752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2E4F8A"/>
                </a:solidFill>
                <a:latin typeface="Noto Sans Hebrew"/>
                <a:cs typeface="Noto Sans Hebrew"/>
              </a:rPr>
              <a:t>(</a:t>
            </a:r>
            <a:r>
              <a:rPr sz="1100" b="0" i="0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Firm) </a:t>
            </a:r>
            <a:r>
              <a:rPr sz="1100" b="0" i="0">
                <a:solidFill>
                  <a:srgbClr val="2E4F8A"/>
                </a:solidFill>
                <a:latin typeface="Noto Sans Hebrew"/>
                <a:cs typeface="Noto Sans Hebrew"/>
              </a:rPr>
              <a:t>קשיח, מבני 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206240"/>
            <a:ext cx="6035040" cy="2103120"/>
          </a:xfrm>
          <a:prstGeom prst="roundRect">
            <a:avLst/>
          </a:prstGeom>
          <a:solidFill>
            <a:srgbClr val="FAF6F0"/>
          </a:solidFill>
          <a:ln w="952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29768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8A6E4A"/>
                </a:solidFill>
                <a:latin typeface="Noto Sans Hebrew"/>
                <a:cs typeface="Noto Sans Hebrew"/>
              </a:rPr>
              <a:t>כלל אצבע קליני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4617720"/>
            <a:ext cx="5669280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G'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גבוה  →  עצם,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lift, contouring (Lyft)</a:t>
            </a:r>
          </a:p>
          <a:p>
            <a:pPr algn="r" rtl="1">
              <a:lnSpc>
                <a:spcPct val="14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G'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בינוני  → 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midface volume,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סנטר עמוק (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Volyme, Defyne)</a:t>
            </a:r>
          </a:p>
          <a:p>
            <a:pPr algn="r" rtl="1">
              <a:lnSpc>
                <a:spcPct val="14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G'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נמוך   →  שפתיים,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NLF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שטחי, אזורי תנועה (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Refyne, Kysse)</a:t>
            </a:r>
          </a:p>
          <a:p>
            <a:pPr algn="r" rtl="1">
              <a:lnSpc>
                <a:spcPct val="14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G'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מינימלי  →  סקין-בוסטר /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hydration (Vital, Vital Light)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ריאולוגיה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5EDE3"/>
            </a:gs>
            <a:gs pos="100000">
              <a:srgbClr val="E8D9C5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182880" cy="6858000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338328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80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38328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722376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5000" b="1" i="0">
                <a:solidFill>
                  <a:srgbClr val="2C1F15"/>
                </a:solidFill>
                <a:latin typeface="Noto Sans Hebrew"/>
                <a:cs typeface="Noto Sans Hebrew"/>
              </a:rPr>
              <a:t>משפחת </a:t>
            </a:r>
            <a:r>
              <a:rPr sz="50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NASHA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383280"/>
            <a:ext cx="7223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2200" b="0" i="1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Firm · Structural · Bone Mimicry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0" y="4023360"/>
            <a:ext cx="1280160" cy="0"/>
          </a:xfrm>
          <a:prstGeom prst="line">
            <a:avLst/>
          </a:prstGeom>
          <a:ln w="3810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0" y="4297680"/>
            <a:ext cx="722376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500" b="0" i="0">
                <a:solidFill>
                  <a:srgbClr val="4A3A2A"/>
                </a:solidFill>
                <a:latin typeface="Noto Sans Hebrew"/>
                <a:cs typeface="Noto Sans Hebrew"/>
              </a:rPr>
              <a:t>ג'ל יציב עם </a:t>
            </a:r>
            <a:r>
              <a:rPr sz="1500" b="0" i="0">
                <a:solidFill>
                  <a:srgbClr val="4A3A2A"/>
                </a:solidFill>
                <a:latin typeface="Noto Sans"/>
                <a:cs typeface="Noto Sans"/>
                <a:ea typeface="Noto Sans"/>
              </a:rPr>
              <a:t>G' Prime </a:t>
            </a:r>
            <a:r>
              <a:rPr sz="1500" b="0" i="0">
                <a:solidFill>
                  <a:srgbClr val="4A3A2A"/>
                </a:solidFill>
                <a:latin typeface="Noto Sans Hebrew"/>
                <a:cs typeface="Noto Sans Hebrew"/>
              </a:rPr>
              <a:t>גבוה, פעולה מבנית.</a:t>
            </a:r>
          </a:p>
          <a:p>
            <a:pPr algn="r" rtl="1">
              <a:lnSpc>
                <a:spcPct val="140000"/>
              </a:lnSpc>
            </a:pPr>
            <a:r>
              <a:rPr sz="1500" b="0" i="0">
                <a:solidFill>
                  <a:srgbClr val="4A3A2A"/>
                </a:solidFill>
                <a:latin typeface="Noto Sans Hebrew"/>
                <a:cs typeface="Noto Sans Hebrew"/>
              </a:rPr>
              <a:t>אידיאלי להרמה, חידוד עצם, ולמיקום עמוק.</a:t>
            </a:r>
          </a:p>
          <a:p>
            <a:pPr algn="r" rtl="1">
              <a:lnSpc>
                <a:spcPct val="140000"/>
              </a:lnSpc>
            </a:pPr>
            <a:r>
              <a:rPr sz="1500" b="0" i="0">
                <a:solidFill>
                  <a:srgbClr val="4A3A2A"/>
                </a:solidFill>
                <a:latin typeface="Noto Sans Hebrew"/>
                <a:cs typeface="Noto Sans Hebrew"/>
              </a:rPr>
              <a:t>ארבעה מוצרים בליין: </a:t>
            </a:r>
            <a:r>
              <a:rPr sz="1500" b="0" i="0">
                <a:solidFill>
                  <a:srgbClr val="4A3A2A"/>
                </a:solidFill>
                <a:latin typeface="Noto Sans"/>
                <a:cs typeface="Noto Sans"/>
                <a:ea typeface="Noto Sans"/>
              </a:rPr>
              <a:t>Classic, Lyft, Eyelight, Vital.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משפחת </a:t>
            </a: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NASHA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רסטילן קלאסי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Restylane (Classic)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457200"/>
            <a:ext cx="1554480" cy="41148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NASHA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1">
                <a:solidFill>
                  <a:srgbClr val="2E4F8A"/>
                </a:solidFill>
                <a:latin typeface="Noto Sans Hebrew"/>
                <a:cs typeface="Noto Sans Hebrew"/>
              </a:rPr>
              <a:t>הקלאסיקה - יציבות וקווי מתאר עדינים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03520" cy="411480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6E8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91640" y="2377440"/>
            <a:ext cx="2926080" cy="2926080"/>
          </a:xfrm>
          <a:prstGeom prst="ellipse">
            <a:avLst/>
          </a:prstGeom>
          <a:solidFill>
            <a:srgbClr val="F5EDE3"/>
          </a:solidFill>
          <a:ln w="12700">
            <a:solidFill>
              <a:srgbClr val="6E8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2194560"/>
            <a:ext cx="3291840" cy="3291840"/>
          </a:xfrm>
          <a:prstGeom prst="ellipse">
            <a:avLst/>
          </a:prstGeom>
          <a:noFill/>
          <a:ln w="6350">
            <a:solidFill>
              <a:srgbClr val="6E8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965960" y="3429000"/>
            <a:ext cx="2377440" cy="137160"/>
          </a:xfrm>
          <a:prstGeom prst="line">
            <a:avLst/>
          </a:prstGeom>
          <a:ln w="25400">
            <a:solidFill>
              <a:srgbClr val="2E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965960" y="3840480"/>
            <a:ext cx="2377440" cy="91440"/>
          </a:xfrm>
          <a:prstGeom prst="line">
            <a:avLst/>
          </a:prstGeom>
          <a:ln w="25400">
            <a:solidFill>
              <a:srgbClr val="2E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65960" y="4251960"/>
            <a:ext cx="2377440" cy="45720"/>
          </a:xfrm>
          <a:prstGeom prst="line">
            <a:avLst/>
          </a:prstGeom>
          <a:ln w="25400">
            <a:solidFill>
              <a:srgbClr val="2E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65960" y="4663440"/>
            <a:ext cx="2377440" cy="0"/>
          </a:xfrm>
          <a:prstGeom prst="line">
            <a:avLst/>
          </a:prstGeom>
          <a:ln w="50800">
            <a:solidFill>
              <a:srgbClr val="6E8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55778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1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Dynamic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965960"/>
            <a:ext cx="5669280" cy="4114800"/>
          </a:xfrm>
          <a:prstGeom prst="roundRect">
            <a:avLst/>
          </a:prstGeom>
          <a:solidFill>
            <a:srgbClr val="FAF6F0"/>
          </a:solidFill>
          <a:ln w="952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32720" y="214884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221284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מטרה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488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הקלאסיקה - יציבות וקווי מתאר עדינים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278892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285292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אינדיקציה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78892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קמטים שטחיים עד בינוניים, שפתיים עדינות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342900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0" y="349300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עומק הזרקה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42900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דרמה בינונית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406908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413308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טכניקה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06908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מחט / קנולה דקה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470916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0" y="477316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G' Prime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70916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בינוני-גבוה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534924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0" y="541324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Longevity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3492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6–9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רסטילן קלאסי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רסטילן ליפט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Restylane Lyft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457200"/>
            <a:ext cx="1554480" cy="41148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NASHA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1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Bone Mimicry – </a:t>
            </a:r>
            <a:r>
              <a:rPr sz="1800" b="0" i="1">
                <a:solidFill>
                  <a:srgbClr val="2E4F8A"/>
                </a:solidFill>
                <a:latin typeface="Noto Sans Hebrew"/>
                <a:cs typeface="Noto Sans Hebrew"/>
              </a:rPr>
              <a:t>הרמה והגדרה מבנית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03520" cy="411480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6E8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91640" y="2377440"/>
            <a:ext cx="2926080" cy="2926080"/>
          </a:xfrm>
          <a:prstGeom prst="ellipse">
            <a:avLst/>
          </a:prstGeom>
          <a:solidFill>
            <a:srgbClr val="F5EDE3"/>
          </a:solidFill>
          <a:ln w="12700">
            <a:solidFill>
              <a:srgbClr val="6E8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2194560"/>
            <a:ext cx="3291840" cy="3291840"/>
          </a:xfrm>
          <a:prstGeom prst="ellipse">
            <a:avLst/>
          </a:prstGeom>
          <a:noFill/>
          <a:ln w="6350">
            <a:solidFill>
              <a:srgbClr val="6E8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20100000">
            <a:off x="2148840" y="2926080"/>
            <a:ext cx="2011680" cy="1828800"/>
          </a:xfrm>
          <a:prstGeom prst="triangle">
            <a:avLst/>
          </a:prstGeom>
          <a:noFill/>
          <a:ln w="5080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20100000">
            <a:off x="2514600" y="3291840"/>
            <a:ext cx="1280160" cy="1188720"/>
          </a:xfrm>
          <a:prstGeom prst="triangle">
            <a:avLst/>
          </a:prstGeom>
          <a:noFill/>
          <a:ln w="25400">
            <a:solidFill>
              <a:srgbClr val="6E8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5778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1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Bone Mimicry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965960"/>
            <a:ext cx="5669280" cy="4114800"/>
          </a:xfrm>
          <a:prstGeom prst="roundRect">
            <a:avLst/>
          </a:prstGeom>
          <a:solidFill>
            <a:srgbClr val="FAF6F0"/>
          </a:solidFill>
          <a:ln w="952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32720" y="214884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0" y="221284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מטרה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488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Bone Mimicry –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הרמה והגדרה מבנית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278892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0" y="285292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אינדיקציה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8892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עצמות לחיים, זווית לסת, חידוד סנטר, גב כפות ידיים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20" y="342900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0" y="349300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עומק הזרקה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42900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סופרא-פריאוסטאלי (עמוק על העצם)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32720" y="406908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0" y="413308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טכניקה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06908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Bolus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עמוק, מחט/קנולה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32720" y="470916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477316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G' Prime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70916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גבוה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32720" y="534924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541324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Longevity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3492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12–18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רסטילן ליפט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רסטילן אייליט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Restylane Eyelight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457200"/>
            <a:ext cx="1554480" cy="41148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NASHA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1">
                <a:solidFill>
                  <a:srgbClr val="2E4F8A"/>
                </a:solidFill>
                <a:latin typeface="Noto Sans Hebrew"/>
                <a:cs typeface="Noto Sans Hebrew"/>
              </a:rPr>
              <a:t>פתרון ייעודי לאזור התת-עיני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03520" cy="411480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6E8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91640" y="2377440"/>
            <a:ext cx="2926080" cy="2926080"/>
          </a:xfrm>
          <a:prstGeom prst="ellipse">
            <a:avLst/>
          </a:prstGeom>
          <a:solidFill>
            <a:srgbClr val="F5EDE3"/>
          </a:solidFill>
          <a:ln w="12700">
            <a:solidFill>
              <a:srgbClr val="6E8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2194560"/>
            <a:ext cx="3291840" cy="3291840"/>
          </a:xfrm>
          <a:prstGeom prst="ellipse">
            <a:avLst/>
          </a:prstGeom>
          <a:noFill/>
          <a:ln w="6350">
            <a:solidFill>
              <a:srgbClr val="6E8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23160" y="3383280"/>
            <a:ext cx="1463040" cy="640080"/>
          </a:xfrm>
          <a:prstGeom prst="ellipse">
            <a:avLst/>
          </a:prstGeom>
          <a:solidFill>
            <a:srgbClr val="FAF6F0"/>
          </a:solidFill>
          <a:ln w="1905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03220" y="3474720"/>
            <a:ext cx="502920" cy="50292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40280" y="4206240"/>
            <a:ext cx="1828800" cy="548640"/>
          </a:xfrm>
          <a:prstGeom prst="ellipse">
            <a:avLst/>
          </a:prstGeom>
          <a:solidFill>
            <a:srgbClr val="6E8FC4"/>
          </a:solidFill>
          <a:ln w="1270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377440" y="4160520"/>
            <a:ext cx="1554480" cy="0"/>
          </a:xfrm>
          <a:prstGeom prst="line">
            <a:avLst/>
          </a:prstGeom>
          <a:ln w="12700">
            <a:solidFill>
              <a:srgbClr val="2E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55778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1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Tear-Trough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965960"/>
            <a:ext cx="5669280" cy="4114800"/>
          </a:xfrm>
          <a:prstGeom prst="roundRect">
            <a:avLst/>
          </a:prstGeom>
          <a:solidFill>
            <a:srgbClr val="FAF6F0"/>
          </a:solidFill>
          <a:ln w="952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32720" y="214884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221284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מטרה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488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פתרון ייעודי לאזור התת-עיני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278892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285292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אינדיקציה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78892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Tear-Trough (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שקע מתחת לעין) – אזור עדין במיוחד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342900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0" y="349300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עומק הזרקה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42900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פריאוסטאלי / עמוק מעל העצם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406908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413308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טכניקה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06908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קנולה בלבד,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Aliquots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קטנים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470916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0" y="477316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G' Prime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70916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בינוני-גבוה (נמוך-נפיחות)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534924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0" y="541324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Longevity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3492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9–12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רסטילן אייליט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רסטילן ויטל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Restylane Skinboosters Vital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457200"/>
            <a:ext cx="1554480" cy="41148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NASHA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1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Biorevitalization – </a:t>
            </a:r>
            <a:r>
              <a:rPr sz="1800" b="0" i="1">
                <a:solidFill>
                  <a:srgbClr val="2E4F8A"/>
                </a:solidFill>
                <a:latin typeface="Noto Sans Hebrew"/>
                <a:cs typeface="Noto Sans Hebrew"/>
              </a:rPr>
              <a:t>איכות עור מבפנים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03520" cy="411480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6E8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91640" y="2377440"/>
            <a:ext cx="2926080" cy="2926080"/>
          </a:xfrm>
          <a:prstGeom prst="ellipse">
            <a:avLst/>
          </a:prstGeom>
          <a:solidFill>
            <a:srgbClr val="F5EDE3"/>
          </a:solidFill>
          <a:ln w="12700">
            <a:solidFill>
              <a:srgbClr val="6E8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2194560"/>
            <a:ext cx="3291840" cy="3291840"/>
          </a:xfrm>
          <a:prstGeom prst="ellipse">
            <a:avLst/>
          </a:prstGeom>
          <a:noFill/>
          <a:ln w="6350">
            <a:solidFill>
              <a:srgbClr val="6E8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794760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51031" y="4223704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86877" y="4329644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14653" y="4032805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14653" y="3556715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86877" y="3259876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51031" y="3365816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23360" y="3794760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00853" y="4251959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66160" y="4586653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108960" y="4709160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51761" y="4586653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17067" y="4251959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94560" y="3794760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317067" y="3337561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51760" y="3002867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108960" y="2880360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66160" y="3002867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00853" y="3337560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89120" y="3794760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291673" y="4284656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014169" y="4699969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98856" y="4977473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08960" y="5074920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619064" y="4977473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03751" y="4699969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926247" y="4284656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3794760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926247" y="3304864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203751" y="2889551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619064" y="2612047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08960" y="2514600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598856" y="2612047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014169" y="2889551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291673" y="3304864"/>
            <a:ext cx="91440" cy="9144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17520" y="3703320"/>
            <a:ext cx="274320" cy="274320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5778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1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Biorevitalization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26480" y="1965960"/>
            <a:ext cx="5669280" cy="4114800"/>
          </a:xfrm>
          <a:prstGeom prst="roundRect">
            <a:avLst/>
          </a:prstGeom>
          <a:solidFill>
            <a:srgbClr val="FAF6F0"/>
          </a:solidFill>
          <a:ln w="952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332720" y="214884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32720" y="221284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מטרה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21488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Biorevitalization –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איכות עור מבפנים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32720" y="278892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32720" y="285292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אינדיקציה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278892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שיפור טקסטורה, הידרציה, גמישות עור – פנים, צוואר, מחשוף, ידיים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332720" y="342900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32720" y="349300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עומק הזרקה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342900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דרמיס שטחי-בינוני,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micro-droplets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332720" y="406908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332720" y="413308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טכניקה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0" y="406908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Multi-puncture /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מחט מיקרו /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NCTF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332720" y="470916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32720" y="477316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G' Prime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470916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נמוך (מיועד לסקין-בוסטר)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332720" y="5349240"/>
            <a:ext cx="13258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32720" y="541324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Longevity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9360" y="53492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פרוטוקול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3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טיפולים + תחזוקה כל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6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חודשים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רסטילן ויטל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5EDE3"/>
            </a:gs>
            <a:gs pos="100000">
              <a:srgbClr val="E8D9C5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182880" cy="6858000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338328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80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38328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722376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5000" b="1" i="0">
                <a:solidFill>
                  <a:srgbClr val="2C1F15"/>
                </a:solidFill>
                <a:latin typeface="Noto Sans Hebrew"/>
                <a:cs typeface="Noto Sans Hebrew"/>
              </a:rPr>
              <a:t>משפחת </a:t>
            </a:r>
            <a:r>
              <a:rPr sz="50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OBT / XpresHAn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383280"/>
            <a:ext cx="7223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2200" b="0" i="1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Flexible · Dynamic · Tissue Mimicry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0" y="4023360"/>
            <a:ext cx="1280160" cy="0"/>
          </a:xfrm>
          <a:prstGeom prst="line">
            <a:avLst/>
          </a:prstGeom>
          <a:ln w="3810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0" y="4297680"/>
            <a:ext cx="722376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500" b="0" i="0">
                <a:solidFill>
                  <a:srgbClr val="4A3A2A"/>
                </a:solidFill>
                <a:latin typeface="Noto Sans Hebrew"/>
                <a:cs typeface="Noto Sans Hebrew"/>
              </a:rPr>
              <a:t>ג'ל הומוגני עם </a:t>
            </a:r>
            <a:r>
              <a:rPr sz="1500" b="0" i="0">
                <a:solidFill>
                  <a:srgbClr val="4A3A2A"/>
                </a:solidFill>
                <a:latin typeface="Noto Sans"/>
                <a:cs typeface="Noto Sans"/>
                <a:ea typeface="Noto Sans"/>
              </a:rPr>
              <a:t>Stretch &amp; Recoil.</a:t>
            </a:r>
          </a:p>
          <a:p>
            <a:pPr algn="r" rtl="1">
              <a:lnSpc>
                <a:spcPct val="140000"/>
              </a:lnSpc>
            </a:pPr>
            <a:r>
              <a:rPr sz="1500" b="0" i="0">
                <a:solidFill>
                  <a:srgbClr val="4A3A2A"/>
                </a:solidFill>
                <a:latin typeface="Noto Sans Hebrew"/>
                <a:cs typeface="Noto Sans Hebrew"/>
              </a:rPr>
              <a:t>אידיאלי לאזורי תנועה ולנפח רך.</a:t>
            </a:r>
          </a:p>
          <a:p>
            <a:pPr algn="r" rtl="1">
              <a:lnSpc>
                <a:spcPct val="140000"/>
              </a:lnSpc>
            </a:pPr>
            <a:r>
              <a:rPr sz="1500" b="0" i="0">
                <a:solidFill>
                  <a:srgbClr val="4A3A2A"/>
                </a:solidFill>
                <a:latin typeface="Noto Sans Hebrew"/>
                <a:cs typeface="Noto Sans Hebrew"/>
              </a:rPr>
              <a:t>חמישה מוצרים בליין: </a:t>
            </a:r>
            <a:r>
              <a:rPr sz="1500" b="0" i="0">
                <a:solidFill>
                  <a:srgbClr val="4A3A2A"/>
                </a:solidFill>
                <a:latin typeface="Noto Sans"/>
                <a:cs typeface="Noto Sans"/>
                <a:ea typeface="Noto Sans"/>
              </a:rPr>
              <a:t>Refyne, Defyne, Volyme, Kysse, Vital Light.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משפחת </a:t>
            </a: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OBT / XpresHAn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רסטילן ריפיין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Restylane Refyne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457200"/>
            <a:ext cx="1554480" cy="41148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OBT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1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Soft &amp; Flexible – </a:t>
            </a:r>
            <a:r>
              <a:rPr sz="1800" b="0" i="1">
                <a:solidFill>
                  <a:srgbClr val="7A5A99"/>
                </a:solidFill>
                <a:latin typeface="Noto Sans Hebrew"/>
                <a:cs typeface="Noto Sans Hebrew"/>
              </a:rPr>
              <a:t>טבעיות בתנועה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03520" cy="411480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C3A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91640" y="2377440"/>
            <a:ext cx="2926080" cy="2926080"/>
          </a:xfrm>
          <a:prstGeom prst="ellipse">
            <a:avLst/>
          </a:prstGeom>
          <a:solidFill>
            <a:srgbClr val="F5EDE3"/>
          </a:solidFill>
          <a:ln w="12700">
            <a:solidFill>
              <a:srgbClr val="C3A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2194560"/>
            <a:ext cx="3291840" cy="3291840"/>
          </a:xfrm>
          <a:prstGeom prst="ellipse">
            <a:avLst/>
          </a:prstGeom>
          <a:noFill/>
          <a:ln w="6350">
            <a:solidFill>
              <a:srgbClr val="C3A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965960" y="3429000"/>
            <a:ext cx="2377440" cy="137160"/>
          </a:xfrm>
          <a:prstGeom prst="line">
            <a:avLst/>
          </a:prstGeom>
          <a:ln w="25400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965960" y="3840480"/>
            <a:ext cx="2377440" cy="91440"/>
          </a:xfrm>
          <a:prstGeom prst="line">
            <a:avLst/>
          </a:prstGeom>
          <a:ln w="25400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65960" y="4251960"/>
            <a:ext cx="2377440" cy="45720"/>
          </a:xfrm>
          <a:prstGeom prst="line">
            <a:avLst/>
          </a:prstGeom>
          <a:ln w="25400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65960" y="4663440"/>
            <a:ext cx="2377440" cy="0"/>
          </a:xfrm>
          <a:prstGeom prst="line">
            <a:avLst/>
          </a:prstGeom>
          <a:ln w="50800">
            <a:solidFill>
              <a:srgbClr val="C3A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55778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1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Dynamic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965960"/>
            <a:ext cx="5669280" cy="4114800"/>
          </a:xfrm>
          <a:prstGeom prst="roundRect">
            <a:avLst/>
          </a:prstGeom>
          <a:solidFill>
            <a:srgbClr val="FAF6F0"/>
          </a:solidFill>
          <a:ln w="952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32720" y="214884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221284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מטרה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488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Soft &amp; Flexible –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טבעיות בתנועה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278892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285292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אינדיקציה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78892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קמטים דינמיים עדינים,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NLF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שטחי, פרי-אורלי,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marionette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עדין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342900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0" y="349300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עומק הזרקה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42900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דרמה בינונית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406908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413308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טכניקה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06908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Linear threading / fanning,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מחט/קנולה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470916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0" y="477316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G' Prime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70916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נמוך-בינוני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534924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0" y="541324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Longevity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3492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6–12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רסטילן ריפיין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רסטילן דיפיין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Restylane Defyne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457200"/>
            <a:ext cx="1554480" cy="41148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OBT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1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Tissue Mimicry – </a:t>
            </a:r>
            <a:r>
              <a:rPr sz="1800" b="0" i="1">
                <a:solidFill>
                  <a:srgbClr val="7A5A99"/>
                </a:solidFill>
                <a:latin typeface="Noto Sans Hebrew"/>
                <a:cs typeface="Noto Sans Hebrew"/>
              </a:rPr>
              <a:t>תמיכה דינמית באזורי תנועה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03520" cy="411480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C3A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91640" y="2377440"/>
            <a:ext cx="2926080" cy="2926080"/>
          </a:xfrm>
          <a:prstGeom prst="ellipse">
            <a:avLst/>
          </a:prstGeom>
          <a:solidFill>
            <a:srgbClr val="F5EDE3"/>
          </a:solidFill>
          <a:ln w="12700">
            <a:solidFill>
              <a:srgbClr val="C3A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2194560"/>
            <a:ext cx="3291840" cy="3291840"/>
          </a:xfrm>
          <a:prstGeom prst="ellipse">
            <a:avLst/>
          </a:prstGeom>
          <a:noFill/>
          <a:ln w="6350">
            <a:solidFill>
              <a:srgbClr val="C3A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83080" y="2834640"/>
            <a:ext cx="2743200" cy="2194560"/>
          </a:xfrm>
          <a:prstGeom prst="ellipse">
            <a:avLst/>
          </a:prstGeom>
          <a:solidFill>
            <a:srgbClr val="C3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965960" y="3017520"/>
            <a:ext cx="2377440" cy="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65960" y="3246120"/>
            <a:ext cx="2377440" cy="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65960" y="3474720"/>
            <a:ext cx="2377440" cy="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965960" y="3703320"/>
            <a:ext cx="2377440" cy="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965960" y="3931920"/>
            <a:ext cx="2377440" cy="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965960" y="4160520"/>
            <a:ext cx="2377440" cy="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965960" y="4389120"/>
            <a:ext cx="2377440" cy="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65960" y="4617720"/>
            <a:ext cx="2377440" cy="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965960" y="4846320"/>
            <a:ext cx="2377440" cy="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965960" y="3017520"/>
            <a:ext cx="0" cy="182880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64080" y="3017520"/>
            <a:ext cx="0" cy="182880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62200" y="3017520"/>
            <a:ext cx="0" cy="182880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0320" y="3017520"/>
            <a:ext cx="0" cy="182880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758440" y="3017520"/>
            <a:ext cx="0" cy="182880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56560" y="3017520"/>
            <a:ext cx="0" cy="182880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154680" y="3017520"/>
            <a:ext cx="0" cy="182880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52800" y="3017520"/>
            <a:ext cx="0" cy="182880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550920" y="3017520"/>
            <a:ext cx="0" cy="182880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49040" y="3017520"/>
            <a:ext cx="0" cy="182880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947160" y="3017520"/>
            <a:ext cx="0" cy="182880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145280" y="3017520"/>
            <a:ext cx="0" cy="182880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343400" y="3017520"/>
            <a:ext cx="0" cy="182880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55778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1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Tissue Mimicry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1965960"/>
            <a:ext cx="5669280" cy="4114800"/>
          </a:xfrm>
          <a:prstGeom prst="roundRect">
            <a:avLst/>
          </a:prstGeom>
          <a:solidFill>
            <a:srgbClr val="FAF6F0"/>
          </a:solidFill>
          <a:ln w="952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332720" y="214884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0" y="221284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מטרה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21488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Tissue Mimicry –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תמיכה דינמית באזורי תנועה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32720" y="278892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20" y="285292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אינדיקציה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278892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קמטי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NLF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עמוקים יותר,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Marionette,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עיצוב סנטר,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Pre-jowl sulcus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332720" y="342900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32720" y="349300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עומק הזרקה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42900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דרמה עמוקה / תת-עורי שטחי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32720" y="406908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2720" y="413308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טכניקה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406908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Bolus + linear,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קנולה מומלצת בסנטר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332720" y="470916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0" y="477316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G' Prime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470916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בינוני-גבוה (גמיש)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32720" y="534924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32720" y="541324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Longevity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53492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12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חודשים בממוצע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רסטילן דיפיין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רסטילן וולים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Restylane Volyme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457200"/>
            <a:ext cx="1554480" cy="41148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OBT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1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Soft Volume – </a:t>
            </a:r>
            <a:r>
              <a:rPr sz="1800" b="0" i="1">
                <a:solidFill>
                  <a:srgbClr val="7A5A99"/>
                </a:solidFill>
                <a:latin typeface="Noto Sans Hebrew"/>
                <a:cs typeface="Noto Sans Hebrew"/>
              </a:rPr>
              <a:t>נפח טבעי, תנועה הרמונית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03520" cy="411480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C3A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91640" y="2377440"/>
            <a:ext cx="2926080" cy="2926080"/>
          </a:xfrm>
          <a:prstGeom prst="ellipse">
            <a:avLst/>
          </a:prstGeom>
          <a:solidFill>
            <a:srgbClr val="F5EDE3"/>
          </a:solidFill>
          <a:ln w="12700">
            <a:solidFill>
              <a:srgbClr val="C3A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2194560"/>
            <a:ext cx="3291840" cy="3291840"/>
          </a:xfrm>
          <a:prstGeom prst="ellipse">
            <a:avLst/>
          </a:prstGeom>
          <a:noFill/>
          <a:ln w="6350">
            <a:solidFill>
              <a:srgbClr val="C3A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57400" y="2743200"/>
            <a:ext cx="2194560" cy="2194560"/>
          </a:xfrm>
          <a:prstGeom prst="ellipse">
            <a:avLst/>
          </a:prstGeom>
          <a:solidFill>
            <a:srgbClr val="C3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77440" y="3063240"/>
            <a:ext cx="1554480" cy="1554480"/>
          </a:xfrm>
          <a:prstGeom prst="ellipse">
            <a:avLst/>
          </a:prstGeom>
          <a:solidFill>
            <a:srgbClr val="C3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97480" y="3383280"/>
            <a:ext cx="914400" cy="91440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5778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1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Soft Volume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965960"/>
            <a:ext cx="5669280" cy="4114800"/>
          </a:xfrm>
          <a:prstGeom prst="roundRect">
            <a:avLst/>
          </a:prstGeom>
          <a:solidFill>
            <a:srgbClr val="FAF6F0"/>
          </a:solidFill>
          <a:ln w="952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32720" y="214884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221284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מטרה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1488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Soft Volume –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נפח טבעי, תנועה הרמונית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278892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285292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אינדיקציה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78892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החזרת נפח רך באזור הלחי, פיזור הרמוני, מראה ׳בוטן׳ בלחי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20" y="342900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349300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עומק הזרקה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42900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תת-עורי /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interfascial (Sub-SMAS)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32720" y="406908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0" y="413308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טכניקה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06908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Fan/Interfascial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עם קנולה ארוכה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32720" y="470916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477316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G' Prime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70916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בינוני-גבוה, גמיש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32720" y="534924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0" y="541324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Longevity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3492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12–18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רסטילן וולים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רסטילן קיס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Restylane Kysse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457200"/>
            <a:ext cx="1554480" cy="41148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OBT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1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Kissable Lips – </a:t>
            </a:r>
            <a:r>
              <a:rPr sz="1800" b="0" i="1">
                <a:solidFill>
                  <a:srgbClr val="7A5A99"/>
                </a:solidFill>
                <a:latin typeface="Noto Sans Hebrew"/>
                <a:cs typeface="Noto Sans Hebrew"/>
              </a:rPr>
              <a:t>נוחות, צבע ותנועה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03520" cy="411480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C3A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91640" y="2377440"/>
            <a:ext cx="2926080" cy="2926080"/>
          </a:xfrm>
          <a:prstGeom prst="ellipse">
            <a:avLst/>
          </a:prstGeom>
          <a:solidFill>
            <a:srgbClr val="F5EDE3"/>
          </a:solidFill>
          <a:ln w="12700">
            <a:solidFill>
              <a:srgbClr val="C3A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2194560"/>
            <a:ext cx="3291840" cy="3291840"/>
          </a:xfrm>
          <a:prstGeom prst="ellipse">
            <a:avLst/>
          </a:prstGeom>
          <a:noFill/>
          <a:ln w="6350">
            <a:solidFill>
              <a:srgbClr val="C3A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65960" y="3429000"/>
            <a:ext cx="2377440" cy="50292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65960" y="3886200"/>
            <a:ext cx="2377440" cy="640080"/>
          </a:xfrm>
          <a:prstGeom prst="ellipse">
            <a:avLst/>
          </a:prstGeom>
          <a:solidFill>
            <a:srgbClr val="C3AED6"/>
          </a:solidFill>
          <a:ln w="1270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48940" y="3337560"/>
            <a:ext cx="411480" cy="228600"/>
          </a:xfrm>
          <a:prstGeom prst="ellipse">
            <a:avLst/>
          </a:prstGeom>
          <a:solidFill>
            <a:srgbClr val="F5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5778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1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Lip Dynamics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965960"/>
            <a:ext cx="5669280" cy="4114800"/>
          </a:xfrm>
          <a:prstGeom prst="roundRect">
            <a:avLst/>
          </a:prstGeom>
          <a:solidFill>
            <a:srgbClr val="FAF6F0"/>
          </a:solidFill>
          <a:ln w="952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32720" y="214884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221284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מטרה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1488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Kissable Lips –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נוחות, צבע ותנועה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278892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285292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אינדיקציה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78892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מילוי שפתיים דינמי, הגדרת קווי שפה,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lip-flip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20" y="342900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349300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עומק הזרקה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42900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Submucosal / vermillion border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32720" y="406908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0" y="413308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טכניקה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06908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Linear retrograde + tenting,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מחט עדינה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32720" y="470916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477316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G' Prime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70916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בינוני, גמיש מאוד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32720" y="534924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0" y="541324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Longevity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3492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עד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12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חודשים (צבע עד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8)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רסטילן קיס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רסטילן ויטל לייט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Restylane Vital Light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457200"/>
            <a:ext cx="1554480" cy="41148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OBT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1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Lightweight Hydration – </a:t>
            </a:r>
            <a:r>
              <a:rPr sz="1800" b="0" i="1">
                <a:solidFill>
                  <a:srgbClr val="7A5A99"/>
                </a:solidFill>
                <a:latin typeface="Noto Sans Hebrew"/>
                <a:cs typeface="Noto Sans Hebrew"/>
              </a:rPr>
              <a:t>לעור עדין במיוחד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03520" cy="411480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C3A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91640" y="2377440"/>
            <a:ext cx="2926080" cy="2926080"/>
          </a:xfrm>
          <a:prstGeom prst="ellipse">
            <a:avLst/>
          </a:prstGeom>
          <a:solidFill>
            <a:srgbClr val="F5EDE3"/>
          </a:solidFill>
          <a:ln w="12700">
            <a:solidFill>
              <a:srgbClr val="C3A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2194560"/>
            <a:ext cx="3291840" cy="3291840"/>
          </a:xfrm>
          <a:prstGeom prst="ellipse">
            <a:avLst/>
          </a:prstGeom>
          <a:noFill/>
          <a:ln w="6350">
            <a:solidFill>
              <a:srgbClr val="C3A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3794760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51031" y="4223704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86877" y="4329644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14653" y="4032805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14653" y="3556715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86877" y="3259876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51031" y="3365816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23360" y="3794760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00853" y="4251959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66160" y="4586653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108960" y="4709160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51761" y="4586653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17067" y="4251959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94560" y="3794760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317067" y="3337561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51760" y="3002867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108960" y="2880360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66160" y="3002867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00853" y="3337560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89120" y="3794760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291673" y="4284656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014169" y="4699969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98856" y="4977473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08960" y="5074920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619064" y="4977473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03751" y="4699969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926247" y="4284656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3794760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926247" y="3304864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203751" y="2889551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619064" y="2612047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08960" y="2514600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598856" y="2612047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014169" y="2889551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291673" y="3304864"/>
            <a:ext cx="91440" cy="9144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17520" y="3703320"/>
            <a:ext cx="274320" cy="274320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5778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400" b="1" i="1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Biorevitalization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26480" y="1965960"/>
            <a:ext cx="5669280" cy="4114800"/>
          </a:xfrm>
          <a:prstGeom prst="roundRect">
            <a:avLst/>
          </a:prstGeom>
          <a:solidFill>
            <a:srgbClr val="FAF6F0"/>
          </a:solidFill>
          <a:ln w="952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332720" y="214884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32720" y="221284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מטרה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21488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Lightweight Hydration –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לעור עדין במיוחד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32720" y="278892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32720" y="285292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אינדיקציה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278892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עור דק, גוון בהיר, צוואר עדין, אזור פרי-אוקולרי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332720" y="342900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32720" y="349300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עומק הזרקה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342900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דרמיס שטחי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332720" y="406908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332720" y="413308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טכניקה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0" y="406908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Micro-droplets,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מחט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30G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332720" y="470916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32720" y="477316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G' Prime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470916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נמוך מאוד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332720" y="5349240"/>
            <a:ext cx="132588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32720" y="5413248"/>
            <a:ext cx="13258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Longevity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9360" y="534924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פרוטוקול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3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טיפולים + תחזוקה כל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6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חודשים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רסטילן ויטל לייט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16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מפת אזורי הזרקה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Face Map — Product Picker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718304" y="2103120"/>
            <a:ext cx="2743200" cy="3474720"/>
          </a:xfrm>
          <a:prstGeom prst="ellipse">
            <a:avLst/>
          </a:prstGeom>
          <a:solidFill>
            <a:srgbClr val="F1DCC4"/>
          </a:solidFill>
          <a:ln w="12700">
            <a:solidFill>
              <a:srgbClr val="A88D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26864" y="1920240"/>
            <a:ext cx="2926080" cy="1280160"/>
          </a:xfrm>
          <a:prstGeom prst="ellipse">
            <a:avLst/>
          </a:prstGeom>
          <a:solidFill>
            <a:srgbClr val="6B4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18304" y="2606040"/>
            <a:ext cx="2743200" cy="3108960"/>
          </a:xfrm>
          <a:prstGeom prst="ellipse">
            <a:avLst/>
          </a:prstGeom>
          <a:solidFill>
            <a:srgbClr val="F1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58384" y="3383280"/>
            <a:ext cx="457200" cy="73152"/>
          </a:xfrm>
          <a:prstGeom prst="roundRect">
            <a:avLst/>
          </a:prstGeom>
          <a:solidFill>
            <a:srgbClr val="4A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64224" y="3383280"/>
            <a:ext cx="457200" cy="73152"/>
          </a:xfrm>
          <a:prstGeom prst="roundRect">
            <a:avLst/>
          </a:prstGeom>
          <a:solidFill>
            <a:srgbClr val="4A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40680" y="3566160"/>
            <a:ext cx="292608" cy="164592"/>
          </a:xfrm>
          <a:prstGeom prst="ellipse">
            <a:avLst/>
          </a:prstGeom>
          <a:solidFill>
            <a:srgbClr val="FFFFFF"/>
          </a:solidFill>
          <a:ln w="6350">
            <a:solidFill>
              <a:srgbClr val="4A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32120" y="3593592"/>
            <a:ext cx="109728" cy="109728"/>
          </a:xfrm>
          <a:prstGeom prst="ellipse">
            <a:avLst/>
          </a:prstGeom>
          <a:solidFill>
            <a:srgbClr val="2C1F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292608" cy="164592"/>
          </a:xfrm>
          <a:prstGeom prst="ellipse">
            <a:avLst/>
          </a:prstGeom>
          <a:solidFill>
            <a:srgbClr val="FFFFFF"/>
          </a:solidFill>
          <a:ln w="6350">
            <a:solidFill>
              <a:srgbClr val="4A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60" y="3593592"/>
            <a:ext cx="109728" cy="109728"/>
          </a:xfrm>
          <a:prstGeom prst="ellipse">
            <a:avLst/>
          </a:prstGeom>
          <a:solidFill>
            <a:srgbClr val="2C1F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089904" y="3749040"/>
            <a:ext cx="0" cy="411480"/>
          </a:xfrm>
          <a:prstGeom prst="line">
            <a:avLst/>
          </a:prstGeom>
          <a:ln w="12700">
            <a:solidFill>
              <a:srgbClr val="A88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15584" y="4389120"/>
            <a:ext cx="548640" cy="109728"/>
          </a:xfrm>
          <a:prstGeom prst="ellipse">
            <a:avLst/>
          </a:prstGeom>
          <a:solidFill>
            <a:srgbClr val="C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32704" y="5394960"/>
            <a:ext cx="914400" cy="731520"/>
          </a:xfrm>
          <a:prstGeom prst="ellipse">
            <a:avLst/>
          </a:prstGeom>
          <a:solidFill>
            <a:srgbClr val="F1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37176" y="3090672"/>
            <a:ext cx="219456" cy="219456"/>
          </a:xfrm>
          <a:prstGeom prst="ellipse">
            <a:avLst/>
          </a:prstGeom>
          <a:solidFill>
            <a:srgbClr val="2E4F8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23176" y="3090672"/>
            <a:ext cx="219456" cy="219456"/>
          </a:xfrm>
          <a:prstGeom prst="ellipse">
            <a:avLst/>
          </a:prstGeom>
          <a:solidFill>
            <a:srgbClr val="2E4F8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77256" y="3639312"/>
            <a:ext cx="219456" cy="219456"/>
          </a:xfrm>
          <a:prstGeom prst="ellipse">
            <a:avLst/>
          </a:prstGeom>
          <a:solidFill>
            <a:srgbClr val="2E4F8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83096" y="3639312"/>
            <a:ext cx="219456" cy="219456"/>
          </a:xfrm>
          <a:prstGeom prst="ellipse">
            <a:avLst/>
          </a:prstGeom>
          <a:solidFill>
            <a:srgbClr val="2E4F8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0056" y="3776472"/>
            <a:ext cx="219456" cy="219456"/>
          </a:xfrm>
          <a:prstGeom prst="ellipse">
            <a:avLst/>
          </a:prstGeom>
          <a:solidFill>
            <a:srgbClr val="7A5A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0296" y="3776472"/>
            <a:ext cx="219456" cy="219456"/>
          </a:xfrm>
          <a:prstGeom prst="ellipse">
            <a:avLst/>
          </a:prstGeom>
          <a:solidFill>
            <a:srgbClr val="7A5A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477256" y="4096512"/>
            <a:ext cx="219456" cy="219456"/>
          </a:xfrm>
          <a:prstGeom prst="ellipse">
            <a:avLst/>
          </a:prstGeom>
          <a:solidFill>
            <a:srgbClr val="7A5A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83096" y="4096512"/>
            <a:ext cx="219456" cy="219456"/>
          </a:xfrm>
          <a:prstGeom prst="ellipse">
            <a:avLst/>
          </a:prstGeom>
          <a:solidFill>
            <a:srgbClr val="7A5A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568696" y="4599432"/>
            <a:ext cx="219456" cy="219456"/>
          </a:xfrm>
          <a:prstGeom prst="ellipse">
            <a:avLst/>
          </a:prstGeom>
          <a:solidFill>
            <a:srgbClr val="7A5A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4599432"/>
            <a:ext cx="219456" cy="219456"/>
          </a:xfrm>
          <a:prstGeom prst="ellipse">
            <a:avLst/>
          </a:prstGeom>
          <a:solidFill>
            <a:srgbClr val="7A5A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91456" y="4645152"/>
            <a:ext cx="219456" cy="219456"/>
          </a:xfrm>
          <a:prstGeom prst="ellipse">
            <a:avLst/>
          </a:prstGeom>
          <a:solidFill>
            <a:srgbClr val="2E4F8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68896" y="4645152"/>
            <a:ext cx="219456" cy="219456"/>
          </a:xfrm>
          <a:prstGeom prst="ellipse">
            <a:avLst/>
          </a:prstGeom>
          <a:solidFill>
            <a:srgbClr val="2E4F8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80176" y="4873752"/>
            <a:ext cx="219456" cy="219456"/>
          </a:xfrm>
          <a:prstGeom prst="ellipse">
            <a:avLst/>
          </a:prstGeom>
          <a:solidFill>
            <a:srgbClr val="2E4F8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80176" y="4325112"/>
            <a:ext cx="219456" cy="219456"/>
          </a:xfrm>
          <a:prstGeom prst="ellipse">
            <a:avLst/>
          </a:prstGeom>
          <a:solidFill>
            <a:srgbClr val="7A5A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2926080" y="1165860"/>
            <a:ext cx="2020824" cy="2034540"/>
          </a:xfrm>
          <a:prstGeom prst="line">
            <a:avLst/>
          </a:prstGeom>
          <a:ln w="9525">
            <a:solidFill>
              <a:srgbClr val="2E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65760" y="914400"/>
            <a:ext cx="2560320" cy="502920"/>
          </a:xfrm>
          <a:prstGeom prst="roundRect">
            <a:avLst/>
          </a:prstGeom>
          <a:solidFill>
            <a:srgbClr val="FAF6F0"/>
          </a:solidFill>
          <a:ln w="762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932688"/>
            <a:ext cx="2560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1" i="0">
                <a:solidFill>
                  <a:srgbClr val="2C1F15"/>
                </a:solidFill>
                <a:latin typeface="Noto Sans Hebrew"/>
                <a:cs typeface="Noto Sans Hebrew"/>
              </a:rPr>
              <a:t>רקה  ·  </a:t>
            </a:r>
            <a:r>
              <a:rPr sz="10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Temple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1161288"/>
            <a:ext cx="2560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0" i="1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Lyft / Volyme</a:t>
            </a: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2926080" y="1943100"/>
            <a:ext cx="2660904" cy="1805940"/>
          </a:xfrm>
          <a:prstGeom prst="line">
            <a:avLst/>
          </a:prstGeom>
          <a:ln w="9525">
            <a:solidFill>
              <a:srgbClr val="2E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65760" y="1691640"/>
            <a:ext cx="2560320" cy="502920"/>
          </a:xfrm>
          <a:prstGeom prst="roundRect">
            <a:avLst/>
          </a:prstGeom>
          <a:solidFill>
            <a:srgbClr val="FAF6F0"/>
          </a:solidFill>
          <a:ln w="762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1709928"/>
            <a:ext cx="2560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1" i="0">
                <a:solidFill>
                  <a:srgbClr val="2C1F15"/>
                </a:solidFill>
                <a:latin typeface="Noto Sans Hebrew"/>
                <a:cs typeface="Noto Sans Hebrew"/>
              </a:rPr>
              <a:t>שקע תת-עיני  ·  </a:t>
            </a:r>
            <a:r>
              <a:rPr sz="10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Tear-Trough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1938528"/>
            <a:ext cx="2560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0" i="1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Eyelight</a:t>
            </a:r>
          </a:p>
        </p:txBody>
      </p:sp>
      <p:cxnSp>
        <p:nvCxnSpPr>
          <p:cNvPr id="40" name="Connector 39"/>
          <p:cNvCxnSpPr/>
          <p:nvPr/>
        </p:nvCxnSpPr>
        <p:spPr>
          <a:xfrm flipH="1" flipV="1">
            <a:off x="2926080" y="2720340"/>
            <a:ext cx="2203704" cy="116586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65760" y="2468880"/>
            <a:ext cx="2560320" cy="502920"/>
          </a:xfrm>
          <a:prstGeom prst="roundRect">
            <a:avLst/>
          </a:prstGeom>
          <a:solidFill>
            <a:srgbClr val="FAF6F0"/>
          </a:solidFill>
          <a:ln w="762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2487168"/>
            <a:ext cx="2560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1" i="0">
                <a:solidFill>
                  <a:srgbClr val="2C1F15"/>
                </a:solidFill>
                <a:latin typeface="Noto Sans Hebrew"/>
                <a:cs typeface="Noto Sans Hebrew"/>
              </a:rPr>
              <a:t>לחי  ·  </a:t>
            </a:r>
            <a:r>
              <a:rPr sz="10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Midface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2715768"/>
            <a:ext cx="2560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0" i="1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Volyme / Lyft</a:t>
            </a:r>
          </a:p>
        </p:txBody>
      </p:sp>
      <p:cxnSp>
        <p:nvCxnSpPr>
          <p:cNvPr id="44" name="Connector 43"/>
          <p:cNvCxnSpPr/>
          <p:nvPr/>
        </p:nvCxnSpPr>
        <p:spPr>
          <a:xfrm flipH="1" flipV="1">
            <a:off x="2926080" y="3497580"/>
            <a:ext cx="2660904" cy="70866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65760" y="3246120"/>
            <a:ext cx="2560320" cy="502920"/>
          </a:xfrm>
          <a:prstGeom prst="roundRect">
            <a:avLst/>
          </a:prstGeom>
          <a:solidFill>
            <a:srgbClr val="FAF6F0"/>
          </a:solidFill>
          <a:ln w="762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264408"/>
            <a:ext cx="2560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1" i="0">
                <a:solidFill>
                  <a:srgbClr val="2C1F15"/>
                </a:solidFill>
                <a:latin typeface="Noto Sans Hebrew"/>
                <a:cs typeface="Noto Sans Hebrew"/>
              </a:rPr>
              <a:t>קפל אף-שפתי  ·  </a:t>
            </a:r>
            <a:r>
              <a:rPr sz="10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NLF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3493008"/>
            <a:ext cx="2560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0" i="1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Defyne / Refyne</a:t>
            </a:r>
          </a:p>
        </p:txBody>
      </p:sp>
      <p:cxnSp>
        <p:nvCxnSpPr>
          <p:cNvPr id="48" name="Connector 47"/>
          <p:cNvCxnSpPr/>
          <p:nvPr/>
        </p:nvCxnSpPr>
        <p:spPr>
          <a:xfrm flipH="1" flipV="1">
            <a:off x="2926080" y="4274820"/>
            <a:ext cx="2752344" cy="43434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365760" y="4023360"/>
            <a:ext cx="2560320" cy="502920"/>
          </a:xfrm>
          <a:prstGeom prst="roundRect">
            <a:avLst/>
          </a:prstGeom>
          <a:solidFill>
            <a:srgbClr val="FAF6F0"/>
          </a:solidFill>
          <a:ln w="762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4041648"/>
            <a:ext cx="2560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Marionette  ·  Marionette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4270248"/>
            <a:ext cx="2560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0" i="1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Defyne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2926080" y="4754880"/>
            <a:ext cx="1975104" cy="297180"/>
          </a:xfrm>
          <a:prstGeom prst="line">
            <a:avLst/>
          </a:prstGeom>
          <a:ln w="9525">
            <a:solidFill>
              <a:srgbClr val="2E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365760" y="4800600"/>
            <a:ext cx="2560320" cy="502920"/>
          </a:xfrm>
          <a:prstGeom prst="roundRect">
            <a:avLst/>
          </a:prstGeom>
          <a:solidFill>
            <a:srgbClr val="FAF6F0"/>
          </a:solidFill>
          <a:ln w="762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2560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1" i="0">
                <a:solidFill>
                  <a:srgbClr val="2C1F15"/>
                </a:solidFill>
                <a:latin typeface="Noto Sans Hebrew"/>
                <a:cs typeface="Noto Sans Hebrew"/>
              </a:rPr>
              <a:t>זווית לסת  ·  </a:t>
            </a:r>
            <a:r>
              <a:rPr sz="10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Jaw angle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5047488"/>
            <a:ext cx="2560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0" i="1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Lyft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6089904" y="4091940"/>
            <a:ext cx="3511296" cy="342900"/>
          </a:xfrm>
          <a:prstGeom prst="line">
            <a:avLst/>
          </a:prstGeom>
          <a:ln w="9525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9601200" y="3840480"/>
            <a:ext cx="2560320" cy="502920"/>
          </a:xfrm>
          <a:prstGeom prst="roundRect">
            <a:avLst/>
          </a:prstGeom>
          <a:solidFill>
            <a:srgbClr val="FAF6F0"/>
          </a:solidFill>
          <a:ln w="762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0" y="3858768"/>
            <a:ext cx="2560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1" i="0">
                <a:solidFill>
                  <a:srgbClr val="2C1F15"/>
                </a:solidFill>
                <a:latin typeface="Noto Sans Hebrew"/>
                <a:cs typeface="Noto Sans Hebrew"/>
              </a:rPr>
              <a:t>שפתיים  ·  </a:t>
            </a:r>
            <a:r>
              <a:rPr sz="10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Lips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4087368"/>
            <a:ext cx="2560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0" i="1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Kysse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6089904" y="4869180"/>
            <a:ext cx="3511296" cy="114300"/>
          </a:xfrm>
          <a:prstGeom prst="line">
            <a:avLst/>
          </a:prstGeom>
          <a:ln w="9525">
            <a:solidFill>
              <a:srgbClr val="2E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601200" y="4617720"/>
            <a:ext cx="2560320" cy="502920"/>
          </a:xfrm>
          <a:prstGeom prst="roundRect">
            <a:avLst/>
          </a:prstGeom>
          <a:solidFill>
            <a:srgbClr val="FAF6F0"/>
          </a:solidFill>
          <a:ln w="762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01200" y="4636008"/>
            <a:ext cx="2560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1" i="0">
                <a:solidFill>
                  <a:srgbClr val="2C1F15"/>
                </a:solidFill>
                <a:latin typeface="Noto Sans Hebrew"/>
                <a:cs typeface="Noto Sans Hebrew"/>
              </a:rPr>
              <a:t>סנטר  ·  </a:t>
            </a:r>
            <a:r>
              <a:rPr sz="10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Chin/Pre-jowl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4864608"/>
            <a:ext cx="2560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0" i="1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Lyft + Defyne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0" y="5852160"/>
            <a:ext cx="1371600" cy="36576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0" y="5888736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NASHA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89320" y="5916168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4A3A2A"/>
                </a:solidFill>
                <a:latin typeface="Noto Sans Hebrew"/>
                <a:cs typeface="Noto Sans Hebrew"/>
              </a:rPr>
              <a:t>— מבני / עצם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955279" y="5852160"/>
            <a:ext cx="1371600" cy="36576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55279" y="5888736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OBT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72599" y="5916168"/>
            <a:ext cx="2286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4A3A2A"/>
                </a:solidFill>
                <a:latin typeface="Noto Sans Hebrew"/>
                <a:cs typeface="Noto Sans Hebrew"/>
              </a:rPr>
              <a:t>— רקמה רכה / תנועה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מפת אזורים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חידוד ופיסול: </a:t>
            </a:r>
            <a:r>
              <a:rPr sz="28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Lyft vs Defyne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Jawline &amp; Chin — Lyft vs Defyne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766560" y="1691640"/>
            <a:ext cx="5029200" cy="109728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1" i="0">
                <a:solidFill>
                  <a:srgbClr val="FAF6F0"/>
                </a:solidFill>
                <a:latin typeface="Noto Sans Hebrew"/>
                <a:cs typeface="Noto Sans Hebrew"/>
              </a:rPr>
              <a:t>רסטילן ליפט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2860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0" i="1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Restylane Lyft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91640"/>
            <a:ext cx="5029200" cy="109728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1" i="0">
                <a:solidFill>
                  <a:srgbClr val="FAF6F0"/>
                </a:solidFill>
                <a:latin typeface="Noto Sans Hebrew"/>
                <a:cs typeface="Noto Sans Hebrew"/>
              </a:rPr>
              <a:t>רסטילן דיפיין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0" i="1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Restylane Defyne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11430000" cy="502920"/>
          </a:xfrm>
          <a:prstGeom prst="rect">
            <a:avLst/>
          </a:prstGeom>
          <a:solidFill>
            <a:srgbClr val="FAF6F0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94960" y="307238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1089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משפחה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6324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NASHA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OBT/XpresHAn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20440"/>
            <a:ext cx="11430000" cy="502920"/>
          </a:xfrm>
          <a:prstGeom prst="rect">
            <a:avLst/>
          </a:prstGeom>
          <a:solidFill>
            <a:srgbClr val="E8D9C5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94960" y="357530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361188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G' Prime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56616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גבוה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בינוני-גבוה (גמיש)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23360"/>
            <a:ext cx="11430000" cy="502920"/>
          </a:xfrm>
          <a:prstGeom prst="rect">
            <a:avLst/>
          </a:prstGeom>
          <a:solidFill>
            <a:srgbClr val="FAF6F0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94960" y="407822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411480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מטרה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06908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יצירת קו עצם וחידוד מבני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6908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תמיכה דינמית באזורי תנועה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26280"/>
            <a:ext cx="11430000" cy="502920"/>
          </a:xfrm>
          <a:prstGeom prst="rect">
            <a:avLst/>
          </a:prstGeom>
          <a:solidFill>
            <a:srgbClr val="E8D9C5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94960" y="458114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461772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עומק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57200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סופרא-פריאוסטאלי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דרמה עמוקה /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SubQ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029200"/>
            <a:ext cx="11430000" cy="502920"/>
          </a:xfrm>
          <a:prstGeom prst="rect">
            <a:avLst/>
          </a:prstGeom>
          <a:solidFill>
            <a:srgbClr val="FAF6F0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94960" y="508406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512064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אינדיקציה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07492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זווית לסת, חידוד סנטר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07492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סנטר,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Pre-jowl, Marionette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532120"/>
            <a:ext cx="11430000" cy="502920"/>
          </a:xfrm>
          <a:prstGeom prst="rect">
            <a:avLst/>
          </a:prstGeom>
          <a:solidFill>
            <a:srgbClr val="E8D9C5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394960" y="558698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0" y="56235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טכניקה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57784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Bolus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עמוק מחט/קנולה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57784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Linear + bolus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קנולה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FAF6F0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394960" y="608990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0" y="612648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Longevity (</a:t>
            </a: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חודשים)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608076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12–18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08076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≈ 12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חידוד ופיסול: </a:t>
            </a: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Lyft vs Defyne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עיצוב הלחי: </a:t>
            </a:r>
            <a:r>
              <a:rPr sz="28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Lyft vs Volyme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Midface — Lyft vs Volyme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766560" y="1691640"/>
            <a:ext cx="5029200" cy="109728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1" i="0">
                <a:solidFill>
                  <a:srgbClr val="FAF6F0"/>
                </a:solidFill>
                <a:latin typeface="Noto Sans Hebrew"/>
                <a:cs typeface="Noto Sans Hebrew"/>
              </a:rPr>
              <a:t>רסטילן ליפט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2860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0" i="1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Restylane Lyft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91640"/>
            <a:ext cx="5029200" cy="109728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1" i="0">
                <a:solidFill>
                  <a:srgbClr val="FAF6F0"/>
                </a:solidFill>
                <a:latin typeface="Noto Sans Hebrew"/>
                <a:cs typeface="Noto Sans Hebrew"/>
              </a:rPr>
              <a:t>רסטילן וולים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0" i="1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Restylane Volyme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11430000" cy="502920"/>
          </a:xfrm>
          <a:prstGeom prst="rect">
            <a:avLst/>
          </a:prstGeom>
          <a:solidFill>
            <a:srgbClr val="FAF6F0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94960" y="307238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1089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משפחה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6324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NASHA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OBT/XpresHAn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20440"/>
            <a:ext cx="11430000" cy="502920"/>
          </a:xfrm>
          <a:prstGeom prst="rect">
            <a:avLst/>
          </a:prstGeom>
          <a:solidFill>
            <a:srgbClr val="E8D9C5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94960" y="357530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361188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G' Prime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56616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גבוה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בינוני-גבוה, גמיש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23360"/>
            <a:ext cx="11430000" cy="502920"/>
          </a:xfrm>
          <a:prstGeom prst="rect">
            <a:avLst/>
          </a:prstGeom>
          <a:solidFill>
            <a:srgbClr val="FAF6F0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94960" y="407822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411480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מטרה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06908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הרמה מבנית מעצם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6908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נפח רך, פיזור הרמוני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26280"/>
            <a:ext cx="11430000" cy="502920"/>
          </a:xfrm>
          <a:prstGeom prst="rect">
            <a:avLst/>
          </a:prstGeom>
          <a:solidFill>
            <a:srgbClr val="E8D9C5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94960" y="458114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461772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עומק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57200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סופרא-פריאוסטאלי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Interfascial / Sub-SMAS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029200"/>
            <a:ext cx="11430000" cy="502920"/>
          </a:xfrm>
          <a:prstGeom prst="rect">
            <a:avLst/>
          </a:prstGeom>
          <a:solidFill>
            <a:srgbClr val="FAF6F0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94960" y="508406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512064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טכניקה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07492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Bolus 'Gunshot'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עמוק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07492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Fan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עם קנולה ארוכה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532120"/>
            <a:ext cx="11430000" cy="502920"/>
          </a:xfrm>
          <a:prstGeom prst="rect">
            <a:avLst/>
          </a:prstGeom>
          <a:solidFill>
            <a:srgbClr val="E8D9C5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394960" y="558698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0" y="56235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התווייה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57784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ירידה עמוקה, צורך בהרמה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57784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ירידת נפח רכה, מראה 'בוטן'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FAF6F0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394960" y="608990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0" y="612648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Longevity (</a:t>
            </a: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חודשים)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608076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12–18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08076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12–18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עיצוב הלחי: </a:t>
            </a: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Lyft vs Volyme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קמטים דינמיים: </a:t>
            </a:r>
            <a:r>
              <a:rPr sz="28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Refyne vs Defyne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Dynamic Wrinkles — Refyne vs Defyne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766560" y="1691640"/>
            <a:ext cx="5029200" cy="109728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1" i="0">
                <a:solidFill>
                  <a:srgbClr val="FAF6F0"/>
                </a:solidFill>
                <a:latin typeface="Noto Sans Hebrew"/>
                <a:cs typeface="Noto Sans Hebrew"/>
              </a:rPr>
              <a:t>רסטילן ריפיין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2860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0" i="1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Restylane Refyne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91640"/>
            <a:ext cx="5029200" cy="109728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1" i="0">
                <a:solidFill>
                  <a:srgbClr val="FAF6F0"/>
                </a:solidFill>
                <a:latin typeface="Noto Sans Hebrew"/>
                <a:cs typeface="Noto Sans Hebrew"/>
              </a:rPr>
              <a:t>רסטילן דיפיין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0" i="1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Restylane Defyne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11430000" cy="502920"/>
          </a:xfrm>
          <a:prstGeom prst="rect">
            <a:avLst/>
          </a:prstGeom>
          <a:solidFill>
            <a:srgbClr val="FAF6F0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94960" y="307238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1089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משפחה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6324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OBT/XpresHAn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OBT/XpresHAn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20440"/>
            <a:ext cx="11430000" cy="502920"/>
          </a:xfrm>
          <a:prstGeom prst="rect">
            <a:avLst/>
          </a:prstGeom>
          <a:solidFill>
            <a:srgbClr val="E8D9C5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94960" y="357530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361188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G' Prime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56616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נמוך-בינוני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בינוני-גבוה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23360"/>
            <a:ext cx="11430000" cy="502920"/>
          </a:xfrm>
          <a:prstGeom prst="rect">
            <a:avLst/>
          </a:prstGeom>
          <a:solidFill>
            <a:srgbClr val="FAF6F0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94960" y="407822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411480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עומק קמט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06908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קמטים שטחיים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6908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קמטים בינוניים-עמוקים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26280"/>
            <a:ext cx="11430000" cy="502920"/>
          </a:xfrm>
          <a:prstGeom prst="rect">
            <a:avLst/>
          </a:prstGeom>
          <a:solidFill>
            <a:srgbClr val="E8D9C5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94960" y="458114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461772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אינדיקציה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57200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NLF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שטחי, פרי-אורלי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NLF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עמוק,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Marionette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029200"/>
            <a:ext cx="11430000" cy="502920"/>
          </a:xfrm>
          <a:prstGeom prst="rect">
            <a:avLst/>
          </a:prstGeom>
          <a:solidFill>
            <a:srgbClr val="FAF6F0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94960" y="508406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512064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עומק הזרקה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07492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דרמה בינונית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07492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דרמה עמוקה /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SubQ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532120"/>
            <a:ext cx="11430000" cy="502920"/>
          </a:xfrm>
          <a:prstGeom prst="rect">
            <a:avLst/>
          </a:prstGeom>
          <a:solidFill>
            <a:srgbClr val="E8D9C5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394960" y="558698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0" y="56235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מטרה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57784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טבעיות בתנועה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57784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תמיכה דינמית מתקדמת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FAF6F0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394960" y="608990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0" y="612648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Longevity (</a:t>
            </a: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חודשים)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608076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6–12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08076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≈ 12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קמטים דינמיים: </a:t>
            </a: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Refyne vs Defyne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שפתיים: </a:t>
            </a:r>
            <a:r>
              <a:rPr sz="28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Kysse vs Classic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Lips — Kysse vs Classic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766560" y="1691640"/>
            <a:ext cx="5029200" cy="109728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1" i="0">
                <a:solidFill>
                  <a:srgbClr val="FAF6F0"/>
                </a:solidFill>
                <a:latin typeface="Noto Sans Hebrew"/>
                <a:cs typeface="Noto Sans Hebrew"/>
              </a:rPr>
              <a:t>רסטילן קיס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2860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0" i="1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Restylane Kysse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91640"/>
            <a:ext cx="5029200" cy="109728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1" i="0">
                <a:solidFill>
                  <a:srgbClr val="FAF6F0"/>
                </a:solidFill>
                <a:latin typeface="Noto Sans Hebrew"/>
                <a:cs typeface="Noto Sans Hebrew"/>
              </a:rPr>
              <a:t>רסטילן קלאסי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0" i="1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Restylane (Classic)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11430000" cy="502920"/>
          </a:xfrm>
          <a:prstGeom prst="rect">
            <a:avLst/>
          </a:prstGeom>
          <a:solidFill>
            <a:srgbClr val="FAF6F0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94960" y="307238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1089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משפחה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6324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OBT/XpresHAn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NASHA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20440"/>
            <a:ext cx="11430000" cy="502920"/>
          </a:xfrm>
          <a:prstGeom prst="rect">
            <a:avLst/>
          </a:prstGeom>
          <a:solidFill>
            <a:srgbClr val="E8D9C5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94960" y="357530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361188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G' Prime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56616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בינוני, גמיש מאוד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בינוני-גבוה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23360"/>
            <a:ext cx="11430000" cy="502920"/>
          </a:xfrm>
          <a:prstGeom prst="rect">
            <a:avLst/>
          </a:prstGeom>
          <a:solidFill>
            <a:srgbClr val="FAF6F0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94960" y="407822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411480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תנועה / חיוך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06908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טבעי, רך בחיוך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6908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יותר מורגש בחיוך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26280"/>
            <a:ext cx="11430000" cy="502920"/>
          </a:xfrm>
          <a:prstGeom prst="rect">
            <a:avLst/>
          </a:prstGeom>
          <a:solidFill>
            <a:srgbClr val="E8D9C5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94960" y="458114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461772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צבע ולחות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57200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Color retention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עד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8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חודשים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מילוי קלאסי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029200"/>
            <a:ext cx="11430000" cy="502920"/>
          </a:xfrm>
          <a:prstGeom prst="rect">
            <a:avLst/>
          </a:prstGeom>
          <a:solidFill>
            <a:srgbClr val="FAF6F0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94960" y="508406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512064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עומק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07492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Submucosal / vermillion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07492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דרמה /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submucosal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שטחי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532120"/>
            <a:ext cx="11430000" cy="502920"/>
          </a:xfrm>
          <a:prstGeom prst="rect">
            <a:avLst/>
          </a:prstGeom>
          <a:solidFill>
            <a:srgbClr val="E8D9C5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394960" y="558698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0" y="56235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טכניקה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57784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Linear retrograde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עם מחט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57784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Linear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עם מחט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FAF6F0"/>
          </a:solidFill>
          <a:ln w="3175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394960" y="6089904"/>
            <a:ext cx="1371600" cy="393192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0" y="612648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Longevity (</a:t>
            </a:r>
            <a:r>
              <a:rPr sz="1100" b="1" i="0">
                <a:solidFill>
                  <a:srgbClr val="FAF6F0"/>
                </a:solidFill>
                <a:latin typeface="Noto Sans Hebrew"/>
                <a:cs typeface="Noto Sans Hebrew"/>
              </a:rPr>
              <a:t>חודשים)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608076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עד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08076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6–9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שפתיים: </a:t>
            </a: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Kysse vs Classic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טכניקה ועומקי הזרקה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Needle vs Cannula  ·  Injection Planes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691640"/>
            <a:ext cx="5669280" cy="256032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5669280" cy="4572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i="0">
                <a:solidFill>
                  <a:srgbClr val="FAF6F0"/>
                </a:solidFill>
                <a:latin typeface="Noto Sans Hebrew"/>
                <a:cs typeface="Noto Sans Hebrew"/>
              </a:rPr>
              <a:t>מחט  ·  </a:t>
            </a:r>
            <a:r>
              <a:rPr sz="18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Needle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120640" cy="1874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+ דיוק מקסימלי במיקום הג'ל</a:t>
            </a:r>
          </a:p>
          <a:p>
            <a:pPr algn="r" rtl="1">
              <a:lnSpc>
                <a:spcPct val="14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+ אידיאלי לבולוס עמוק על העצם (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Lyft)</a:t>
            </a:r>
          </a:p>
          <a:p>
            <a:pPr algn="r" rtl="1">
              <a:lnSpc>
                <a:spcPct val="14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+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Threading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עדין בקמטים שטחיים</a:t>
            </a:r>
          </a:p>
          <a:p>
            <a:pPr algn="r" rtl="1">
              <a:lnSpc>
                <a:spcPct val="14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−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סיכון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Vascular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גבוה יותר</a:t>
            </a:r>
          </a:p>
          <a:p>
            <a:pPr algn="r" rtl="1">
              <a:lnSpc>
                <a:spcPct val="14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−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יותר חבלה /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hematoma</a:t>
            </a:r>
          </a:p>
          <a:p>
            <a:pPr algn="r" rtl="1">
              <a:lnSpc>
                <a:spcPct val="14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−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דורש לימוד אנטומיה מעמיק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691640"/>
            <a:ext cx="5577840" cy="256032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5352" y="1691640"/>
            <a:ext cx="5577840" cy="4572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1737360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i="0">
                <a:solidFill>
                  <a:srgbClr val="FAF6F0"/>
                </a:solidFill>
                <a:latin typeface="Noto Sans Hebrew"/>
                <a:cs typeface="Noto Sans Hebrew"/>
              </a:rPr>
              <a:t>קנולה  ·  </a:t>
            </a:r>
            <a:r>
              <a:rPr sz="18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Cannula (Blunt-tip)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286000"/>
            <a:ext cx="5029200" cy="1874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+ סיכון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Vascular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נמוך משמעותית</a:t>
            </a:r>
          </a:p>
          <a:p>
            <a:pPr algn="r" rtl="1">
              <a:lnSpc>
                <a:spcPct val="14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+ פחות חבלה, יותר נוחות למטופל</a:t>
            </a:r>
          </a:p>
          <a:p>
            <a:pPr algn="r" rtl="1">
              <a:lnSpc>
                <a:spcPct val="14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+ אידיאלי לאזורים מסוכנים: שקע תת-עיני,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NLF,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רקות</a:t>
            </a:r>
          </a:p>
          <a:p>
            <a:pPr algn="r" rtl="1">
              <a:lnSpc>
                <a:spcPct val="140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+ פיזור נפח גדול עם פחות חורי כניסה</a:t>
            </a:r>
          </a:p>
          <a:p>
            <a:pPr algn="r" rtl="1">
              <a:lnSpc>
                <a:spcPct val="14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−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פחות דיוק (לא מתאים לבולוס עצם)</a:t>
            </a:r>
          </a:p>
          <a:p>
            <a:pPr algn="r" rtl="1">
              <a:lnSpc>
                <a:spcPct val="140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−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דורש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point of entry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מתוכנן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526280"/>
            <a:ext cx="11430000" cy="1828800"/>
          </a:xfrm>
          <a:prstGeom prst="roundRect">
            <a:avLst/>
          </a:prstGeom>
          <a:solidFill>
            <a:srgbClr val="FAF6F0"/>
          </a:solidFill>
          <a:ln w="6350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57200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8A6E4A"/>
                </a:solidFill>
                <a:latin typeface="Noto Sans Hebrew"/>
                <a:cs typeface="Noto Sans Hebrew"/>
              </a:rPr>
              <a:t>עומקי הזרקה (</a:t>
            </a:r>
            <a:r>
              <a:rPr sz="1400" b="1" i="0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Injection Planes) — </a:t>
            </a:r>
            <a:r>
              <a:rPr sz="1400" b="1" i="0">
                <a:solidFill>
                  <a:srgbClr val="8A6E4A"/>
                </a:solidFill>
                <a:latin typeface="Noto Sans Hebrew"/>
                <a:cs typeface="Noto Sans Hebrew"/>
              </a:rPr>
              <a:t>מהשטח לעומק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4983480"/>
            <a:ext cx="3200400" cy="201168"/>
          </a:xfrm>
          <a:prstGeom prst="rect">
            <a:avLst/>
          </a:prstGeom>
          <a:solidFill>
            <a:srgbClr val="E8CFB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965192"/>
            <a:ext cx="224028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0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Epidermis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5184648"/>
            <a:ext cx="3200400" cy="201168"/>
          </a:xfrm>
          <a:prstGeom prst="rect">
            <a:avLst/>
          </a:prstGeom>
          <a:solidFill>
            <a:srgbClr val="D3A97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66360"/>
            <a:ext cx="224028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0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Dermis (superficial)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5385816"/>
            <a:ext cx="3200400" cy="201168"/>
          </a:xfrm>
          <a:prstGeom prst="rect">
            <a:avLst/>
          </a:prstGeom>
          <a:solidFill>
            <a:srgbClr val="B8805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367528"/>
            <a:ext cx="224028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0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Dermis (deep)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5586984"/>
            <a:ext cx="3200400" cy="201168"/>
          </a:xfrm>
          <a:prstGeom prst="rect">
            <a:avLst/>
          </a:prstGeom>
          <a:solidFill>
            <a:srgbClr val="F8E5C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568696"/>
            <a:ext cx="224028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0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Subcutaneous (Fat)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788152"/>
            <a:ext cx="3200400" cy="201168"/>
          </a:xfrm>
          <a:prstGeom prst="rect">
            <a:avLst/>
          </a:prstGeom>
          <a:solidFill>
            <a:srgbClr val="C2A07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69864"/>
            <a:ext cx="224028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0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Sub-SMAS / Interfascial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5989320"/>
            <a:ext cx="3200400" cy="201168"/>
          </a:xfrm>
          <a:prstGeom prst="rect">
            <a:avLst/>
          </a:prstGeom>
          <a:solidFill>
            <a:srgbClr val="E0D5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971032"/>
            <a:ext cx="224028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0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Supraperiosteal (Bone)</a:t>
            </a:r>
          </a:p>
        </p:txBody>
      </p:sp>
      <p:sp>
        <p:nvSpPr>
          <p:cNvPr id="28" name="Oval 27"/>
          <p:cNvSpPr/>
          <p:nvPr/>
        </p:nvSpPr>
        <p:spPr>
          <a:xfrm>
            <a:off x="6675120" y="4983480"/>
            <a:ext cx="109728" cy="109728"/>
          </a:xfrm>
          <a:prstGeom prst="ellipse">
            <a:avLst/>
          </a:prstGeom>
          <a:solidFill>
            <a:srgbClr val="6B4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4910328"/>
            <a:ext cx="41148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2C1F15"/>
                </a:solidFill>
                <a:latin typeface="Noto Sans Hebrew"/>
                <a:cs typeface="Noto Sans Hebrew"/>
              </a:rPr>
              <a:t>דרמה שטחית: </a:t>
            </a:r>
            <a:r>
              <a:rPr sz="10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Vital Light, Vital</a:t>
            </a:r>
          </a:p>
        </p:txBody>
      </p:sp>
      <p:sp>
        <p:nvSpPr>
          <p:cNvPr id="30" name="Oval 29"/>
          <p:cNvSpPr/>
          <p:nvPr/>
        </p:nvSpPr>
        <p:spPr>
          <a:xfrm>
            <a:off x="6675120" y="5184648"/>
            <a:ext cx="109728" cy="109728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5111496"/>
            <a:ext cx="41148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2C1F15"/>
                </a:solidFill>
                <a:latin typeface="Noto Sans Hebrew"/>
                <a:cs typeface="Noto Sans Hebrew"/>
              </a:rPr>
              <a:t>דרמה בינונית: </a:t>
            </a:r>
            <a:r>
              <a:rPr sz="10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Classic, Refyne</a:t>
            </a:r>
          </a:p>
        </p:txBody>
      </p:sp>
      <p:sp>
        <p:nvSpPr>
          <p:cNvPr id="32" name="Oval 31"/>
          <p:cNvSpPr/>
          <p:nvPr/>
        </p:nvSpPr>
        <p:spPr>
          <a:xfrm>
            <a:off x="6675120" y="5385816"/>
            <a:ext cx="109728" cy="109728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5312664"/>
            <a:ext cx="41148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2C1F15"/>
                </a:solidFill>
                <a:latin typeface="Noto Sans Hebrew"/>
                <a:cs typeface="Noto Sans Hebrew"/>
              </a:rPr>
              <a:t>דרמה עמוקה / </a:t>
            </a:r>
            <a:r>
              <a:rPr sz="10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SubQ </a:t>
            </a:r>
            <a:r>
              <a:rPr sz="1000" b="0" i="0">
                <a:solidFill>
                  <a:srgbClr val="2C1F15"/>
                </a:solidFill>
                <a:latin typeface="Noto Sans Hebrew"/>
                <a:cs typeface="Noto Sans Hebrew"/>
              </a:rPr>
              <a:t>שטחי: </a:t>
            </a:r>
            <a:r>
              <a:rPr sz="10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Defyne</a:t>
            </a:r>
          </a:p>
        </p:txBody>
      </p:sp>
      <p:sp>
        <p:nvSpPr>
          <p:cNvPr id="34" name="Oval 33"/>
          <p:cNvSpPr/>
          <p:nvPr/>
        </p:nvSpPr>
        <p:spPr>
          <a:xfrm>
            <a:off x="6675120" y="5586984"/>
            <a:ext cx="109728" cy="109728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5513832"/>
            <a:ext cx="41148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0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Sub-SMAS / Interfascial: Volyme</a:t>
            </a:r>
          </a:p>
        </p:txBody>
      </p:sp>
      <p:sp>
        <p:nvSpPr>
          <p:cNvPr id="36" name="Oval 35"/>
          <p:cNvSpPr/>
          <p:nvPr/>
        </p:nvSpPr>
        <p:spPr>
          <a:xfrm>
            <a:off x="6675120" y="5788152"/>
            <a:ext cx="109728" cy="109728"/>
          </a:xfrm>
          <a:prstGeom prst="ellipse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41148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0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Supraperiosteal: Lyft, Eyelight</a:t>
            </a:r>
          </a:p>
        </p:txBody>
      </p:sp>
      <p:sp>
        <p:nvSpPr>
          <p:cNvPr id="38" name="Oval 37"/>
          <p:cNvSpPr/>
          <p:nvPr/>
        </p:nvSpPr>
        <p:spPr>
          <a:xfrm>
            <a:off x="6675120" y="5989320"/>
            <a:ext cx="109728" cy="109728"/>
          </a:xfrm>
          <a:prstGeom prst="ellipse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5916168"/>
            <a:ext cx="41148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Submucosal (</a:t>
            </a:r>
            <a:r>
              <a:rPr sz="1000" b="0" i="0">
                <a:solidFill>
                  <a:srgbClr val="2C1F15"/>
                </a:solidFill>
                <a:latin typeface="Noto Sans Hebrew"/>
                <a:cs typeface="Noto Sans Hebrew"/>
              </a:rPr>
              <a:t>שפתיים): </a:t>
            </a:r>
            <a:r>
              <a:rPr sz="10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Kysse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טכניקה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Longevity — </a:t>
            </a: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משך השפעה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Average Duration by Product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14630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 i="0">
                <a:solidFill>
                  <a:srgbClr val="8A6E4A"/>
                </a:solidFill>
                <a:latin typeface="Noto Sans Hebrew"/>
                <a:cs typeface="Noto Sans Hebrew"/>
              </a:rPr>
              <a:t>מוצר  ·  </a:t>
            </a:r>
            <a:r>
              <a:rPr sz="1200" b="1" i="0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63040"/>
            <a:ext cx="7132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100" b="0" i="0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0 ────────── 6 ──────────── 12 ─────────── 18 חודשים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92240" y="1828800"/>
            <a:ext cx="0" cy="420624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69680" y="1828800"/>
            <a:ext cx="0" cy="420624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247120" y="1828800"/>
            <a:ext cx="0" cy="420624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5760" y="1828800"/>
            <a:ext cx="11430000" cy="50292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9280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2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Vital / Vital 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103120"/>
            <a:ext cx="2743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OBT/NASHA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1040" y="1947672"/>
            <a:ext cx="1188720" cy="265176"/>
          </a:xfrm>
          <a:prstGeom prst="roundRect">
            <a:avLst/>
          </a:prstGeom>
          <a:solidFill>
            <a:srgbClr val="A8B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1040" y="1938528"/>
            <a:ext cx="118872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1" i="0">
                <a:solidFill>
                  <a:srgbClr val="2C1F15"/>
                </a:solidFill>
                <a:latin typeface="Noto Sans Hebrew"/>
                <a:cs typeface="Noto Sans Hebrew"/>
              </a:rPr>
              <a:t>פרוטוקול × </a:t>
            </a:r>
            <a:r>
              <a:rPr sz="10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31720"/>
            <a:ext cx="11430000" cy="502920"/>
          </a:xfrm>
          <a:prstGeom prst="rect">
            <a:avLst/>
          </a:prstGeom>
          <a:solidFill>
            <a:srgbClr val="E8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39572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2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Restylane Classic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606040"/>
            <a:ext cx="2743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NASHA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450592"/>
            <a:ext cx="1188720" cy="265176"/>
          </a:xfrm>
          <a:prstGeom prst="roundRect">
            <a:avLst/>
          </a:prstGeom>
          <a:solidFill>
            <a:srgbClr val="6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441448"/>
            <a:ext cx="118872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6–9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34640"/>
            <a:ext cx="11430000" cy="50292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89864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2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Restylane Refyne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108960"/>
            <a:ext cx="2743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OBT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953512"/>
            <a:ext cx="2377440" cy="265176"/>
          </a:xfrm>
          <a:prstGeom prst="roundRect">
            <a:avLst/>
          </a:prstGeom>
          <a:solidFill>
            <a:srgbClr val="C3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944368"/>
            <a:ext cx="237744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6–12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337560"/>
            <a:ext cx="11430000" cy="502920"/>
          </a:xfrm>
          <a:prstGeom prst="rect">
            <a:avLst/>
          </a:prstGeom>
          <a:solidFill>
            <a:srgbClr val="E8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40156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2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Restylane Kysse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611880"/>
            <a:ext cx="2743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OBT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84720" y="3456432"/>
            <a:ext cx="1584960" cy="265176"/>
          </a:xfrm>
          <a:prstGeom prst="roundRect">
            <a:avLst/>
          </a:prstGeom>
          <a:solidFill>
            <a:srgbClr val="C3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84720" y="3447288"/>
            <a:ext cx="158496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8–12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840480"/>
            <a:ext cx="11430000" cy="50292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90448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2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Restylane Eyelight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114800"/>
            <a:ext cx="2743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NASHA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3959352"/>
            <a:ext cx="1188720" cy="265176"/>
          </a:xfrm>
          <a:prstGeom prst="roundRect">
            <a:avLst/>
          </a:prstGeom>
          <a:solidFill>
            <a:srgbClr val="6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3950208"/>
            <a:ext cx="118872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9–12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43400"/>
            <a:ext cx="11430000" cy="502920"/>
          </a:xfrm>
          <a:prstGeom prst="rect">
            <a:avLst/>
          </a:prstGeom>
          <a:solidFill>
            <a:srgbClr val="E8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40740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2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Restylane Defyne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617720"/>
            <a:ext cx="2743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OBT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77200" y="4462272"/>
            <a:ext cx="792480" cy="265176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77200" y="4453128"/>
            <a:ext cx="79248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10–12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846320"/>
            <a:ext cx="11430000" cy="50292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91032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2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Restylane Volyme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120640"/>
            <a:ext cx="2743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OBT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9680" y="4965192"/>
            <a:ext cx="2377440" cy="265176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0" y="4956048"/>
            <a:ext cx="237744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12–18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349240"/>
            <a:ext cx="11430000" cy="502920"/>
          </a:xfrm>
          <a:prstGeom prst="rect">
            <a:avLst/>
          </a:prstGeom>
          <a:solidFill>
            <a:srgbClr val="E8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541324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2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Restylane Lyft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623560"/>
            <a:ext cx="2743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NASHA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69680" y="5468112"/>
            <a:ext cx="2377440" cy="265176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0" y="5458968"/>
            <a:ext cx="237744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0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12–18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* </a:t>
            </a:r>
            <a:r>
              <a:rPr sz="1000" b="0" i="1">
                <a:solidFill>
                  <a:srgbClr val="A88D6F"/>
                </a:solidFill>
                <a:latin typeface="Noto Sans Hebrew"/>
                <a:cs typeface="Noto Sans Hebrew"/>
              </a:rPr>
              <a:t>טווחים מתבססים על מידע יצרן ומחקרים קליניים. משך השפעה תלוי באזור, בכמות, במטבוליזם של המטופל ובטכניקה.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Longevity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פרוטוקולים משולבים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Full-Face Combination Protocols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691640"/>
            <a:ext cx="3794760" cy="452628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3794760" cy="91440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429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FAF6F0"/>
                </a:solidFill>
                <a:latin typeface="Noto Sans Hebrew"/>
                <a:cs typeface="Noto Sans Hebrew"/>
              </a:rPr>
              <a:t>אישה </a:t>
            </a:r>
            <a:r>
              <a:rPr sz="13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40–50, </a:t>
            </a:r>
            <a:r>
              <a:rPr sz="1300" b="1" i="0">
                <a:solidFill>
                  <a:srgbClr val="FAF6F0"/>
                </a:solidFill>
                <a:latin typeface="Noto Sans Hebrew"/>
                <a:cs typeface="Noto Sans Hebrew"/>
              </a:rPr>
              <a:t>פנים יבשות וירידת נפח קלה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3429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000" b="0" i="1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Mid-aging skin quality + early volume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34290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1) Skinboosters Vital × 3 (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חודש בין טיפול) — איכות עור כללית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34290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2) Volyme 1ml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בכל לחי — החזרת נפח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midface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34290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3) Defyne 0.5ml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ב-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NLF + Marionette —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תמיכה דינמית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20"/>
            <a:ext cx="34290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4) Kysse 0.5–1ml —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מילוי שפתיים עדין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691640"/>
            <a:ext cx="3794760" cy="452628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60" y="1691640"/>
            <a:ext cx="3794760" cy="91440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783080"/>
            <a:ext cx="3429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FAF6F0"/>
                </a:solidFill>
                <a:latin typeface="Noto Sans Hebrew"/>
                <a:cs typeface="Noto Sans Hebrew"/>
              </a:rPr>
              <a:t>אישה </a:t>
            </a:r>
            <a:r>
              <a:rPr sz="13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55+, </a:t>
            </a:r>
            <a:r>
              <a:rPr sz="1300" b="1" i="0">
                <a:solidFill>
                  <a:srgbClr val="FAF6F0"/>
                </a:solidFill>
                <a:latin typeface="Noto Sans Hebrew"/>
                <a:cs typeface="Noto Sans Hebrew"/>
              </a:rPr>
              <a:t>ירידת נפח בולטת ו-</a:t>
            </a:r>
            <a:r>
              <a:rPr sz="13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jowls </a:t>
            </a:r>
            <a:r>
              <a:rPr sz="1300" b="1" i="0">
                <a:solidFill>
                  <a:srgbClr val="FAF6F0"/>
                </a:solidFill>
                <a:latin typeface="Noto Sans Hebrew"/>
                <a:cs typeface="Noto Sans Hebrew"/>
              </a:rPr>
              <a:t>מתפתחים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286000"/>
            <a:ext cx="3429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000" b="0" i="1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Mature face — structural lift + soft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743200"/>
            <a:ext cx="34290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1) Lyft 1ml zygoma + temple —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הרמה מבנית עמוקה (סופרא-פריאוסטאלי)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520440"/>
            <a:ext cx="34290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2) Volyme 1ml interfascial —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נפח לחי הרמוני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297680"/>
            <a:ext cx="34290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3) Lyft 0.5ml zone C (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זווית לסת) — חידוד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jawline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074920"/>
            <a:ext cx="34290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4) Defyne 0.5–1ml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סנטר +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pre-jowl —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גישור על ה-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sulcus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691640"/>
            <a:ext cx="3794760" cy="452628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8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38160" y="1691640"/>
            <a:ext cx="3794760" cy="914400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783080"/>
            <a:ext cx="3429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FAF6F0"/>
                </a:solidFill>
                <a:latin typeface="Noto Sans Hebrew"/>
                <a:cs typeface="Noto Sans Hebrew"/>
              </a:rPr>
              <a:t>גבר </a:t>
            </a:r>
            <a:r>
              <a:rPr sz="13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35–50, </a:t>
            </a:r>
            <a:r>
              <a:rPr sz="1300" b="1" i="0">
                <a:solidFill>
                  <a:srgbClr val="FAF6F0"/>
                </a:solidFill>
                <a:latin typeface="Noto Sans Hebrew"/>
                <a:cs typeface="Noto Sans Hebrew"/>
              </a:rPr>
              <a:t>חיזוק קווי מתאר וסנטר חזק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286000"/>
            <a:ext cx="3429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000" b="0" i="1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Male contouring — chin &amp; jawline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743200"/>
            <a:ext cx="34290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1) Lyft 1–2ml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סנטר — הקרנה קדמית ויציבות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520440"/>
            <a:ext cx="34290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2) Lyft 0.5–1ml × 2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זווית לסת — חידוד קווי מתאר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297680"/>
            <a:ext cx="34290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3) Defyne 0.5ml pre-jowl sulcus —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גישור והחלקה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074920"/>
            <a:ext cx="34290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4) Vital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בעור — תיקון איכות עור פוסט-גילוח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פרוטוקולים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הערכה לפני טיפול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Pre-Treatment Consultation Checklist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691640"/>
            <a:ext cx="3794760" cy="452628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3794760" cy="50292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64792"/>
            <a:ext cx="3794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 i="0">
                <a:solidFill>
                  <a:srgbClr val="FAF6F0"/>
                </a:solidFill>
                <a:latin typeface="Noto Sans Hebrew"/>
                <a:cs typeface="Noto Sans Hebrew"/>
              </a:rPr>
              <a:t>היסטוריה רפואית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31546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אלרגיות (כולל ל-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Lidocaine,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ל-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HA,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לחלבון תרנגולת לסטרפטוקוקוס)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1752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71800"/>
            <a:ext cx="31546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מחלות אוטואימוניות פעילות / טיפול ביולוגי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31546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הריון או הנקה (אבסולוטי)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9768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31546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טיפולי נוגדי קרישה — מינון ועיתוי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31546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טיפולים אסתטיים קודמים (מוצר, אזור, תאריך, תוצאה)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7784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31546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Cold sores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פעיל / היסטוריה (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Herpes labialis)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691640"/>
            <a:ext cx="3794760" cy="452628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51960" y="1691640"/>
            <a:ext cx="3794760" cy="50292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1764792"/>
            <a:ext cx="3794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 i="0">
                <a:solidFill>
                  <a:srgbClr val="FAF6F0"/>
                </a:solidFill>
                <a:latin typeface="Noto Sans Hebrew"/>
                <a:cs typeface="Noto Sans Hebrew"/>
              </a:rPr>
              <a:t>הערכה אסתטית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237744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2331720"/>
            <a:ext cx="31546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ניתוח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MD Codes /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חלוקה לאזורים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01752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2971800"/>
            <a:ext cx="31546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סימטריה ופרופורציות (חוקי שליש, פי הזהב)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65760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3611880"/>
            <a:ext cx="31546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איכות עור (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Glogau, Fitzpatrick)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34840" y="429768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4251960"/>
            <a:ext cx="31546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הערכה דינמית — חיוך, דיבור, ביטוי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493776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4892040"/>
            <a:ext cx="31546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צילום סטנדרטי (קדמי, פרופיל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45°,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פרופיל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90°)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557784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5532120"/>
            <a:ext cx="31546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ציפיות מטופל מול אפשרי קלינית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1691640"/>
            <a:ext cx="3794760" cy="452628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8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38160" y="1691640"/>
            <a:ext cx="3794760" cy="502920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1764792"/>
            <a:ext cx="3794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6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Informed Consent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237744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2331720"/>
            <a:ext cx="31546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הסבר על המוצר, מקור החומר, תוקף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301752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2971800"/>
            <a:ext cx="31546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סיכונים: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hematoma, nodules, infection, vascular event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365760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3611880"/>
            <a:ext cx="31546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תוצאות צפויות וזמן ל-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onset (24–72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שעות עד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2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שבועות)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1040" y="429768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4251960"/>
            <a:ext cx="31546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Plan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ל-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Touch up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וזמן (כ-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2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שבועות)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21040" y="493776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4892040"/>
            <a:ext cx="31546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עלות, פולואפ, אחריות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5577840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95360" y="5532120"/>
            <a:ext cx="31546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חתימה דיגיטלית / פיזית בתיק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Consultation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התוויות נגד ובטיחות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Contraindications &amp; Safety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691640"/>
            <a:ext cx="5577840" cy="3200400"/>
          </a:xfrm>
          <a:prstGeom prst="roundRect">
            <a:avLst/>
          </a:prstGeom>
          <a:solidFill>
            <a:srgbClr val="FAF6F0"/>
          </a:solidFill>
          <a:ln w="25400">
            <a:solidFill>
              <a:srgbClr val="B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5577840" cy="502920"/>
          </a:xfrm>
          <a:prstGeom prst="roundRect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64792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i="0">
                <a:solidFill>
                  <a:srgbClr val="FAF6F0"/>
                </a:solidFill>
                <a:latin typeface="Noto Sans Hebrew"/>
                <a:cs typeface="Noto Sans Hebrew"/>
              </a:rPr>
              <a:t>אבסולוטי  ·  </a:t>
            </a:r>
            <a:r>
              <a:rPr sz="18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Absolute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68880"/>
            <a:ext cx="109728" cy="109728"/>
          </a:xfrm>
          <a:prstGeom prst="ellipse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אלרגיה ידועה ל-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HA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או ל-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BDDE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852928"/>
            <a:ext cx="109728" cy="109728"/>
          </a:xfrm>
          <a:prstGeom prst="ellipse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61488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הריון, הנקה (חוסר מידע)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236976"/>
            <a:ext cx="109728" cy="109728"/>
          </a:xfrm>
          <a:prstGeom prst="ellipse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45536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זיהום עורי פעיל באזור ההזרקה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21024"/>
            <a:ext cx="109728" cy="109728"/>
          </a:xfrm>
          <a:prstGeom prst="ellipse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29584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Cellulitis / Abscess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פעיל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005072"/>
            <a:ext cx="109728" cy="109728"/>
          </a:xfrm>
          <a:prstGeom prst="ellipse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13632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Anaphylaxis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היסטורי לטיפול דומה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389120"/>
            <a:ext cx="109728" cy="109728"/>
          </a:xfrm>
          <a:prstGeom prst="ellipse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מחלות אוטואימוניות לא מאוזנות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691640"/>
            <a:ext cx="5577840" cy="3200400"/>
          </a:xfrm>
          <a:prstGeom prst="roundRect">
            <a:avLst/>
          </a:prstGeom>
          <a:solidFill>
            <a:srgbClr val="FAF6F0"/>
          </a:solidFill>
          <a:ln w="25400">
            <a:solidFill>
              <a:srgbClr val="C48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0" y="1691640"/>
            <a:ext cx="5577840" cy="502920"/>
          </a:xfrm>
          <a:prstGeom prst="roundRect">
            <a:avLst/>
          </a:prstGeom>
          <a:solidFill>
            <a:srgbClr val="C48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764792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i="0">
                <a:solidFill>
                  <a:srgbClr val="FAF6F0"/>
                </a:solidFill>
                <a:latin typeface="Noto Sans Hebrew"/>
                <a:cs typeface="Noto Sans Hebrew"/>
              </a:rPr>
              <a:t>יחסי  ·  </a:t>
            </a:r>
            <a:r>
              <a:rPr sz="18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Relative</a:t>
            </a:r>
          </a:p>
        </p:txBody>
      </p:sp>
      <p:sp>
        <p:nvSpPr>
          <p:cNvPr id="24" name="Oval 23"/>
          <p:cNvSpPr/>
          <p:nvPr/>
        </p:nvSpPr>
        <p:spPr>
          <a:xfrm>
            <a:off x="6309360" y="2468880"/>
            <a:ext cx="109728" cy="109728"/>
          </a:xfrm>
          <a:prstGeom prst="ellipse">
            <a:avLst/>
          </a:prstGeom>
          <a:solidFill>
            <a:srgbClr val="C48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37744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טיפול נוגדי קרישה /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NSAIDs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בשבוע האחרון</a:t>
            </a:r>
          </a:p>
        </p:txBody>
      </p:sp>
      <p:sp>
        <p:nvSpPr>
          <p:cNvPr id="26" name="Oval 25"/>
          <p:cNvSpPr/>
          <p:nvPr/>
        </p:nvSpPr>
        <p:spPr>
          <a:xfrm>
            <a:off x="6309360" y="2852928"/>
            <a:ext cx="109728" cy="109728"/>
          </a:xfrm>
          <a:prstGeom prst="ellipse">
            <a:avLst/>
          </a:prstGeom>
          <a:solidFill>
            <a:srgbClr val="C48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761488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Herpes labialis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פעיל / היסטוריה (פרופ׳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Acyclovir)</a:t>
            </a:r>
          </a:p>
        </p:txBody>
      </p:sp>
      <p:sp>
        <p:nvSpPr>
          <p:cNvPr id="28" name="Oval 27"/>
          <p:cNvSpPr/>
          <p:nvPr/>
        </p:nvSpPr>
        <p:spPr>
          <a:xfrm>
            <a:off x="6309360" y="3236976"/>
            <a:ext cx="109728" cy="109728"/>
          </a:xfrm>
          <a:prstGeom prst="ellipse">
            <a:avLst/>
          </a:prstGeom>
          <a:solidFill>
            <a:srgbClr val="C48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145536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פרוצדורות לייזר /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Peelings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טריים (פחות מ-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2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שבועות)</a:t>
            </a:r>
          </a:p>
        </p:txBody>
      </p:sp>
      <p:sp>
        <p:nvSpPr>
          <p:cNvPr id="30" name="Oval 29"/>
          <p:cNvSpPr/>
          <p:nvPr/>
        </p:nvSpPr>
        <p:spPr>
          <a:xfrm>
            <a:off x="6309360" y="3621024"/>
            <a:ext cx="109728" cy="109728"/>
          </a:xfrm>
          <a:prstGeom prst="ellipse">
            <a:avLst/>
          </a:prstGeom>
          <a:solidFill>
            <a:srgbClr val="C48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529584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Fillers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שאינם 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HA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באותו אזור (</a:t>
            </a: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Sculptra, PMMA)</a:t>
            </a:r>
          </a:p>
        </p:txBody>
      </p:sp>
      <p:sp>
        <p:nvSpPr>
          <p:cNvPr id="32" name="Oval 31"/>
          <p:cNvSpPr/>
          <p:nvPr/>
        </p:nvSpPr>
        <p:spPr>
          <a:xfrm>
            <a:off x="6309360" y="4005072"/>
            <a:ext cx="109728" cy="109728"/>
          </a:xfrm>
          <a:prstGeom prst="ellipse">
            <a:avLst/>
          </a:prstGeom>
          <a:solidFill>
            <a:srgbClr val="C48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913632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מטופל לא משתף פעולה / ציפיות בלתי-ריאליות</a:t>
            </a:r>
          </a:p>
        </p:txBody>
      </p:sp>
      <p:sp>
        <p:nvSpPr>
          <p:cNvPr id="34" name="Oval 33"/>
          <p:cNvSpPr/>
          <p:nvPr/>
        </p:nvSpPr>
        <p:spPr>
          <a:xfrm>
            <a:off x="6309360" y="4389120"/>
            <a:ext cx="109728" cy="109728"/>
          </a:xfrm>
          <a:prstGeom prst="ellipse">
            <a:avLst/>
          </a:prstGeom>
          <a:solidFill>
            <a:srgbClr val="C48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29768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מצב חיסוני מוחלש זמני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074920"/>
            <a:ext cx="11430000" cy="128016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B8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138928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Adverse Events — </a:t>
            </a:r>
            <a:r>
              <a:rPr sz="1400" b="1" i="0">
                <a:solidFill>
                  <a:srgbClr val="8A6E4A"/>
                </a:solidFill>
                <a:latin typeface="Noto Sans Hebrew"/>
                <a:cs typeface="Noto Sans Hebrew"/>
              </a:rPr>
              <a:t>מוקדמים ומאוחרים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86400"/>
            <a:ext cx="53035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מוקדמים: אריתמה, בצקת,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hematoma,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רגישות, כאב.</a:t>
            </a:r>
          </a:p>
          <a:p>
            <a:pPr algn="r" rtl="1">
              <a:lnSpc>
                <a:spcPct val="14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ניהול: קרח, ראש מורם,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Arnica, NSAID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לפי הצורך.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486400"/>
            <a:ext cx="54864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מאוחרים: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nodules, granuloma, biofilm, Tyndall effect, occlusion vascular (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חירום!).</a:t>
            </a:r>
          </a:p>
          <a:p>
            <a:pPr algn="r" rtl="1">
              <a:lnSpc>
                <a:spcPct val="140000"/>
              </a:lnSpc>
            </a:pP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ניהול: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Hyaluronidase,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אנטיביוטיקה, פניה דחופה.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Safety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Hyaluronidase — </a:t>
            </a: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חילוץ ופירוק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Reversal Protocol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691640"/>
            <a:ext cx="11430000" cy="640080"/>
          </a:xfrm>
          <a:prstGeom prst="roundRect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Vascular Occlusion = </a:t>
            </a:r>
            <a:r>
              <a:rPr sz="1600" b="1" i="0">
                <a:solidFill>
                  <a:srgbClr val="FAF6F0"/>
                </a:solidFill>
                <a:latin typeface="Noto Sans Hebrew"/>
                <a:cs typeface="Noto Sans Hebrew"/>
              </a:rPr>
              <a:t>חירום! התחלת </a:t>
            </a:r>
            <a:r>
              <a:rPr sz="16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Hyaluronidase </a:t>
            </a:r>
            <a:r>
              <a:rPr sz="1600" b="1" i="0">
                <a:solidFill>
                  <a:srgbClr val="FAF6F0"/>
                </a:solidFill>
                <a:latin typeface="Noto Sans Hebrew"/>
                <a:cs typeface="Noto Sans Hebrew"/>
              </a:rPr>
              <a:t>מיידית, ללא המתנה לאישור.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06040"/>
            <a:ext cx="5669280" cy="3383280"/>
          </a:xfrm>
          <a:prstGeom prst="roundRect">
            <a:avLst/>
          </a:prstGeom>
          <a:solidFill>
            <a:srgbClr val="FAF6F0"/>
          </a:solidFill>
          <a:ln w="6350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8A6E4A"/>
                </a:solidFill>
                <a:latin typeface="Noto Sans Hebrew"/>
                <a:cs typeface="Noto Sans Hebrew"/>
              </a:rPr>
              <a:t>מינון מומלץ (</a:t>
            </a:r>
            <a:r>
              <a:rPr sz="1400" b="1" i="0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Hylenex, Hyalase)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54680"/>
            <a:ext cx="5669280" cy="457200"/>
          </a:xfrm>
          <a:prstGeom prst="rect">
            <a:avLst/>
          </a:prstGeom>
          <a:solidFill>
            <a:srgbClr val="E8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Nodule </a:t>
            </a: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קטן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 i="0">
                <a:solidFill>
                  <a:srgbClr val="B23B3B"/>
                </a:solidFill>
                <a:latin typeface="Noto Sans"/>
                <a:cs typeface="Noto Sans"/>
                <a:ea typeface="Noto Sans"/>
              </a:rPr>
              <a:t>50–150 IU </a:t>
            </a:r>
            <a:r>
              <a:rPr sz="1200" b="1" i="0">
                <a:solidFill>
                  <a:srgbClr val="B23B3B"/>
                </a:solidFill>
                <a:latin typeface="Noto Sans Hebrew"/>
                <a:cs typeface="Noto Sans Hebrew"/>
              </a:rPr>
              <a:t>מקומית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5669280" cy="4572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Asymmetry / overcorrection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70332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200" b="1" i="0">
                <a:solidFill>
                  <a:srgbClr val="B23B3B"/>
                </a:solidFill>
                <a:latin typeface="Noto Sans"/>
                <a:cs typeface="Noto Sans"/>
                <a:ea typeface="Noto Sans"/>
              </a:rPr>
              <a:t>100–300 IU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60520"/>
            <a:ext cx="5669280" cy="457200"/>
          </a:xfrm>
          <a:prstGeom prst="rect">
            <a:avLst/>
          </a:prstGeom>
          <a:solidFill>
            <a:srgbClr val="E8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Vascular occlusion (DANGER!)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20624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 i="0">
                <a:solidFill>
                  <a:srgbClr val="B23B3B"/>
                </a:solidFill>
                <a:latin typeface="Noto Sans"/>
                <a:cs typeface="Noto Sans"/>
                <a:ea typeface="Noto Sans"/>
              </a:rPr>
              <a:t>500–1500 IU + flooding </a:t>
            </a:r>
            <a:r>
              <a:rPr sz="1200" b="1" i="0">
                <a:solidFill>
                  <a:srgbClr val="B23B3B"/>
                </a:solidFill>
                <a:latin typeface="Noto Sans Hebrew"/>
                <a:cs typeface="Noto Sans Hebrew"/>
              </a:rPr>
              <a:t>כל שעה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63440"/>
            <a:ext cx="5669280" cy="4572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 Hebrew"/>
                <a:cs typeface="Noto Sans Hebrew"/>
              </a:rPr>
              <a:t>בליטה לימפטית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7091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 i="0">
                <a:solidFill>
                  <a:srgbClr val="B23B3B"/>
                </a:solidFill>
                <a:latin typeface="Noto Sans"/>
                <a:cs typeface="Noto Sans"/>
                <a:ea typeface="Noto Sans"/>
              </a:rPr>
              <a:t>75–150 IU </a:t>
            </a:r>
            <a:r>
              <a:rPr sz="1200" b="1" i="0">
                <a:solidFill>
                  <a:srgbClr val="B23B3B"/>
                </a:solidFill>
                <a:latin typeface="Noto Sans Hebrew"/>
                <a:cs typeface="Noto Sans Hebrew"/>
              </a:rPr>
              <a:t>מקומית, חזרה לפי הצורך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66360"/>
            <a:ext cx="5669280" cy="457200"/>
          </a:xfrm>
          <a:prstGeom prst="rect">
            <a:avLst/>
          </a:prstGeom>
          <a:solidFill>
            <a:srgbClr val="E8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2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Tear-trough Tyndall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21208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 i="0">
                <a:solidFill>
                  <a:srgbClr val="B23B3B"/>
                </a:solidFill>
                <a:latin typeface="Noto Sans"/>
                <a:cs typeface="Noto Sans"/>
                <a:ea typeface="Noto Sans"/>
              </a:rPr>
              <a:t>5–10 IU </a:t>
            </a:r>
            <a:r>
              <a:rPr sz="1200" b="1" i="0">
                <a:solidFill>
                  <a:srgbClr val="B23B3B"/>
                </a:solidFill>
                <a:latin typeface="Noto Sans Hebrew"/>
                <a:cs typeface="Noto Sans Hebrew"/>
              </a:rPr>
              <a:t>בלבד, מינון נמוך מאוד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606040"/>
            <a:ext cx="5577840" cy="3383280"/>
          </a:xfrm>
          <a:prstGeom prst="roundRect">
            <a:avLst/>
          </a:prstGeom>
          <a:solidFill>
            <a:srgbClr val="FAF6F0"/>
          </a:solidFill>
          <a:ln w="6350">
            <a:solidFill>
              <a:srgbClr val="C9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697480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B23B3B"/>
                </a:solidFill>
                <a:latin typeface="Noto Sans Hebrew"/>
                <a:cs typeface="Noto Sans Hebrew"/>
              </a:rPr>
              <a:t>פרוטוקול חירום — </a:t>
            </a:r>
            <a:r>
              <a:rPr sz="1400" b="1" i="0">
                <a:solidFill>
                  <a:srgbClr val="B23B3B"/>
                </a:solidFill>
                <a:latin typeface="Noto Sans"/>
                <a:cs typeface="Noto Sans"/>
                <a:ea typeface="Noto Sans"/>
              </a:rPr>
              <a:t>Vascular Event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0632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1)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זיהוי: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blanching,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כאב חד,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livedo,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אובדן ראייה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47472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2)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הפסקת הזרקה מיידית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88620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3) Hyaluronidase 500–1500 IU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מיידית באזור החסום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976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4) Massage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חזק, חום מקומי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70916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5) Aspirin 325 mg, Nitroglycerin paste (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לפי הפרוטוקול)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206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6)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חזרה על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Hyaluronidase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כל שעה עד שיפור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perfusion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3212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7)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במעורבות עינית — דחוף לבית חולים תוך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90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דק׳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* </a:t>
            </a:r>
            <a:r>
              <a:rPr sz="1000" b="0" i="1">
                <a:solidFill>
                  <a:srgbClr val="A88D6F"/>
                </a:solidFill>
                <a:latin typeface="Noto Sans Hebrew"/>
                <a:cs typeface="Noto Sans Hebrew"/>
              </a:rPr>
              <a:t>רכוש </a:t>
            </a:r>
            <a:r>
              <a:rPr sz="10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Hyaluronidase </a:t>
            </a:r>
            <a:r>
              <a:rPr sz="1000" b="0" i="1">
                <a:solidFill>
                  <a:srgbClr val="A88D6F"/>
                </a:solidFill>
                <a:latin typeface="Noto Sans Hebrew"/>
                <a:cs typeface="Noto Sans Hebrew"/>
              </a:rPr>
              <a:t>ושמור בקליניקה תמיד. ערוך </a:t>
            </a:r>
            <a:r>
              <a:rPr sz="10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skin test </a:t>
            </a:r>
            <a:r>
              <a:rPr sz="1000" b="0" i="1">
                <a:solidFill>
                  <a:srgbClr val="A88D6F"/>
                </a:solidFill>
                <a:latin typeface="Noto Sans Hebrew"/>
                <a:cs typeface="Noto Sans Hebrew"/>
              </a:rPr>
              <a:t>ב-</a:t>
            </a:r>
            <a:r>
              <a:rPr sz="10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15IU </a:t>
            </a:r>
            <a:r>
              <a:rPr sz="1000" b="0" i="1">
                <a:solidFill>
                  <a:srgbClr val="A88D6F"/>
                </a:solidFill>
                <a:latin typeface="Noto Sans Hebrew"/>
                <a:cs typeface="Noto Sans Hebrew"/>
              </a:rPr>
              <a:t>תת-עורי לפני שימוש ראשון במטופל אלרגן.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Reversal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Case 1: </a:t>
            </a: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ירידת נפח </a:t>
            </a:r>
            <a:r>
              <a:rPr sz="28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midface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Case Study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691640"/>
            <a:ext cx="11430000" cy="54864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1430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 Hebrew"/>
                <a:cs typeface="Noto Sans Hebrew"/>
              </a:rPr>
              <a:t>אישה, גיל </a:t>
            </a: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45, Fitzpatrick III, </a:t>
            </a:r>
            <a:r>
              <a:rPr sz="1400" b="1" i="0">
                <a:solidFill>
                  <a:srgbClr val="FAF6F0"/>
                </a:solidFill>
                <a:latin typeface="Noto Sans Hebrew"/>
                <a:cs typeface="Noto Sans Hebrew"/>
              </a:rPr>
              <a:t>ללא טיפולים קודמים. תלונה: 'עייפות' במרכז הפנים.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423160"/>
            <a:ext cx="3749039" cy="365760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2423160"/>
            <a:ext cx="3749039" cy="50292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96312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Findings  ·  </a:t>
            </a:r>
            <a:r>
              <a:rPr sz="1400" b="1" i="0">
                <a:solidFill>
                  <a:srgbClr val="FAF6F0"/>
                </a:solidFill>
                <a:latin typeface="Noto Sans Hebrew"/>
                <a:cs typeface="Noto Sans Hebrew"/>
              </a:rPr>
              <a:t>ממצאים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ירידת נפח לחי דו-צדדית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6616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NLF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בולט בעיקר בשמאל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6908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tear-trough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עדין מתחיל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7200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איכות עור טובה, ללא צלקות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33671" y="2423160"/>
            <a:ext cx="3749039" cy="365760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8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33671" y="2423160"/>
            <a:ext cx="3749039" cy="502920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3671" y="2496312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Treatment Plan  ·  </a:t>
            </a:r>
            <a:r>
              <a:rPr sz="1400" b="1" i="0">
                <a:solidFill>
                  <a:srgbClr val="FAF6F0"/>
                </a:solidFill>
                <a:latin typeface="Noto Sans Hebrew"/>
                <a:cs typeface="Noto Sans Hebrew"/>
              </a:rPr>
              <a:t>תוכנית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1" y="306324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Volyme 1ml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בכל לחי (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interfascial,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קנולה)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1" y="356616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Defyne 0.3ml NLF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עמוק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1" y="406908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Eyelight 0.2ml tear-trough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בקנולה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1" y="457200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המלצה: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Vital × 3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לאחר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4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שבועות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2" y="2423160"/>
            <a:ext cx="3749039" cy="365760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3F8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01582" y="2423160"/>
            <a:ext cx="3749039" cy="502920"/>
          </a:xfrm>
          <a:prstGeom prst="roundRect">
            <a:avLst/>
          </a:prstGeom>
          <a:solidFill>
            <a:srgbClr val="3F8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01582" y="2496312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Outcome  ·  </a:t>
            </a:r>
            <a:r>
              <a:rPr sz="1400" b="1" i="0">
                <a:solidFill>
                  <a:srgbClr val="FAF6F0"/>
                </a:solidFill>
                <a:latin typeface="Noto Sans Hebrew"/>
                <a:cs typeface="Noto Sans Hebrew"/>
              </a:rPr>
              <a:t>תוצאה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2" y="306324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החזרת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midface volume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טבעית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2" y="356616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מילוי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NLF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עם תנועה טבעית בחיוך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2" y="406908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ללא 'בוטן' או חוסר סימטריה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2" y="457200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מטופלת מרוצה, חוזרת לתחזוקה בעוד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12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חודשים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Case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28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Case 2: </a:t>
            </a: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חידוד לסת וסנטר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Case Study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691640"/>
            <a:ext cx="11430000" cy="54864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1430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 Hebrew"/>
                <a:cs typeface="Noto Sans Hebrew"/>
              </a:rPr>
              <a:t>גבר, גיל </a:t>
            </a: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52, Fitzpatrick II, </a:t>
            </a:r>
            <a:r>
              <a:rPr sz="1400" b="1" i="0">
                <a:solidFill>
                  <a:srgbClr val="FAF6F0"/>
                </a:solidFill>
                <a:latin typeface="Noto Sans Hebrew"/>
                <a:cs typeface="Noto Sans Hebrew"/>
              </a:rPr>
              <a:t>מבקש 'קו לסת חד' לאחר ירידה במשקל.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423160"/>
            <a:ext cx="3749039" cy="365760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2423160"/>
            <a:ext cx="3749039" cy="50292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96312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Findings  ·  </a:t>
            </a:r>
            <a:r>
              <a:rPr sz="1400" b="1" i="0">
                <a:solidFill>
                  <a:srgbClr val="FAF6F0"/>
                </a:solidFill>
                <a:latin typeface="Noto Sans Hebrew"/>
                <a:cs typeface="Noto Sans Hebrew"/>
              </a:rPr>
              <a:t>ממצאים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Pre-jowl sulcus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דו-צדדי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6616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זווית לסת קהה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6908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סנטר ללא הקרנה קדמית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7200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ללא ירידת נפח שמשמעותית בלחי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33671" y="2423160"/>
            <a:ext cx="3749039" cy="365760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8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33671" y="2423160"/>
            <a:ext cx="3749039" cy="502920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3671" y="2496312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Treatment Plan  ·  </a:t>
            </a:r>
            <a:r>
              <a:rPr sz="1400" b="1" i="0">
                <a:solidFill>
                  <a:srgbClr val="FAF6F0"/>
                </a:solidFill>
                <a:latin typeface="Noto Sans Hebrew"/>
                <a:cs typeface="Noto Sans Hebrew"/>
              </a:rPr>
              <a:t>תוכנית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1" y="306324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Lyft 1ml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בסנטר (סופרא-פריאוסטאלי, בולוס)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1" y="356616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Lyft 0.7ml × 2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בזווית לסת (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Zone 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1" y="406908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Defyne 0.5ml × 2 pre-jowl sulcus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1" y="457200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המלצה: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Touch-up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אחרי שבועיים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2" y="2423160"/>
            <a:ext cx="3749039" cy="365760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3F8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01582" y="2423160"/>
            <a:ext cx="3749039" cy="502920"/>
          </a:xfrm>
          <a:prstGeom prst="roundRect">
            <a:avLst/>
          </a:prstGeom>
          <a:solidFill>
            <a:srgbClr val="3F8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01582" y="2496312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Outcome  ·  </a:t>
            </a:r>
            <a:r>
              <a:rPr sz="1400" b="1" i="0">
                <a:solidFill>
                  <a:srgbClr val="FAF6F0"/>
                </a:solidFill>
                <a:latin typeface="Noto Sans Hebrew"/>
                <a:cs typeface="Noto Sans Hebrew"/>
              </a:rPr>
              <a:t>תוצאה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2" y="306324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קו לסת חד וברור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2" y="356616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סנטר מקבל הקרנה גברית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2" y="406908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Pre-jowl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נסגר ללא חוסר תנועה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2" y="457200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Longevity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צפוי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12–15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חודשים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Case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29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Case 3: </a:t>
            </a: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מילוי שפתיים ראשוני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Case Study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691640"/>
            <a:ext cx="11430000" cy="54864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1430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 Hebrew"/>
                <a:cs typeface="Noto Sans Hebrew"/>
              </a:rPr>
              <a:t>אישה, גיל </a:t>
            </a: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28, </a:t>
            </a:r>
            <a:r>
              <a:rPr sz="1400" b="1" i="0">
                <a:solidFill>
                  <a:srgbClr val="FAF6F0"/>
                </a:solidFill>
                <a:latin typeface="Noto Sans Hebrew"/>
                <a:cs typeface="Noto Sans Hebrew"/>
              </a:rPr>
              <a:t>ללא ניסיון קודם בפילר, מבקשת מילוי שפתיים 'טבעי'.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423160"/>
            <a:ext cx="3749039" cy="365760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2423160"/>
            <a:ext cx="3749039" cy="50292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96312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Findings  ·  </a:t>
            </a:r>
            <a:r>
              <a:rPr sz="1400" b="1" i="0">
                <a:solidFill>
                  <a:srgbClr val="FAF6F0"/>
                </a:solidFill>
                <a:latin typeface="Noto Sans Hebrew"/>
                <a:cs typeface="Noto Sans Hebrew"/>
              </a:rPr>
              <a:t>ממצאים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שפתיים דקות פיזיולוגית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6616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אובדן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vermillion border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בעדינות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6908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א-סימטריה מינורית בקשת קופידון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7200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ציפיות 'אסתטיות, לא מוגזמות'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33671" y="2423160"/>
            <a:ext cx="3749039" cy="365760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8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33671" y="2423160"/>
            <a:ext cx="3749039" cy="502920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3671" y="2496312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Treatment Plan  ·  </a:t>
            </a:r>
            <a:r>
              <a:rPr sz="1400" b="1" i="0">
                <a:solidFill>
                  <a:srgbClr val="FAF6F0"/>
                </a:solidFill>
                <a:latin typeface="Noto Sans Hebrew"/>
                <a:cs typeface="Noto Sans Hebrew"/>
              </a:rPr>
              <a:t>תוכנית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1" y="306324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Kysse 0.5ml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בלבד בטיפול ראשון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1" y="356616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טכניקה: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linear retrograde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לאורך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vermillion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1" y="406908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Tenting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נקודתי בקשת קופידון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1" y="457200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מסר: 'פחות זה יותר' —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touch-up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בעוד שבועיים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2" y="2423160"/>
            <a:ext cx="3749039" cy="365760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3F8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01582" y="2423160"/>
            <a:ext cx="3749039" cy="502920"/>
          </a:xfrm>
          <a:prstGeom prst="roundRect">
            <a:avLst/>
          </a:prstGeom>
          <a:solidFill>
            <a:srgbClr val="3F8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01582" y="2496312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Outcome  ·  </a:t>
            </a:r>
            <a:r>
              <a:rPr sz="1400" b="1" i="0">
                <a:solidFill>
                  <a:srgbClr val="FAF6F0"/>
                </a:solidFill>
                <a:latin typeface="Noto Sans Hebrew"/>
                <a:cs typeface="Noto Sans Hebrew"/>
              </a:rPr>
              <a:t>תוצאה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2" y="306324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שיפור 'מורגש אך לא נראה'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2" y="356616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תנועה טבעית, ללא 'בית מהפך' (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lip flip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מינורי)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2" y="406908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מטופלת מבקשת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touch-up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של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0.3ml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נוסף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2" y="4572000"/>
            <a:ext cx="329183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תוצאה סופית: יציבה לכ-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12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חודשים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Case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Decision Tree — </a:t>
            </a: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איזה מוצר מתי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Quick-Reference Decision Aid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0" y="1691640"/>
            <a:ext cx="3044952" cy="640080"/>
          </a:xfrm>
          <a:prstGeom prst="roundRect">
            <a:avLst/>
          </a:prstGeom>
          <a:solidFill>
            <a:srgbClr val="8A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30449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Noto Sans Hebrew"/>
                <a:cs typeface="Noto Sans Hebrew"/>
              </a:rPr>
              <a:t>מה האינדיקציה הראשית?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737360.0" y="2331720"/>
            <a:ext cx="4352544.0" cy="502920"/>
          </a:xfrm>
          <a:prstGeom prst="line">
            <a:avLst/>
          </a:prstGeom>
          <a:ln w="19050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" y="2834640"/>
            <a:ext cx="2743200" cy="50292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907792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איכות עור / </a:t>
            </a: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hydration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474720"/>
            <a:ext cx="2743200" cy="50292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547872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Vital · Vital Light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4709160.0" y="2331720"/>
            <a:ext cx="1380744.0" cy="502920"/>
          </a:xfrm>
          <a:prstGeom prst="line">
            <a:avLst/>
          </a:prstGeom>
          <a:ln w="19050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37560" y="2834640"/>
            <a:ext cx="2743200" cy="50292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907792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שפתיים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474720"/>
            <a:ext cx="2743200" cy="50292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3547872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Kysse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9904" y="2331720"/>
            <a:ext cx="1591056.0" cy="502920"/>
          </a:xfrm>
          <a:prstGeom prst="line">
            <a:avLst/>
          </a:prstGeom>
          <a:ln w="19050">
            <a:solidFill>
              <a:srgbClr val="2E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9360" y="2834640"/>
            <a:ext cx="2743200" cy="502920"/>
          </a:xfrm>
          <a:prstGeom prst="roundRect">
            <a:avLst/>
          </a:prstGeom>
          <a:solidFill>
            <a:srgbClr val="2E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907792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נפח / </a:t>
            </a:r>
            <a:r>
              <a:rPr sz="1200" b="1" i="0">
                <a:solidFill>
                  <a:srgbClr val="FAF6F0"/>
                </a:solidFill>
                <a:latin typeface="Noto Sans"/>
                <a:cs typeface="Noto Sans"/>
                <a:ea typeface="Noto Sans"/>
              </a:rPr>
              <a:t>contouring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474720"/>
            <a:ext cx="2743200" cy="50292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547872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→ ראה ענף נפח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9904" y="2331720"/>
            <a:ext cx="4562856.0" cy="502920"/>
          </a:xfrm>
          <a:prstGeom prst="line">
            <a:avLst/>
          </a:prstGeom>
          <a:ln w="19050">
            <a:solidFill>
              <a:srgbClr val="7A5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81160" y="2834640"/>
            <a:ext cx="2743200" cy="502920"/>
          </a:xfrm>
          <a:prstGeom prst="roundRect">
            <a:avLst/>
          </a:prstGeom>
          <a:solidFill>
            <a:srgbClr val="7A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2907792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AF6F0"/>
                </a:solidFill>
                <a:latin typeface="Noto Sans Hebrew"/>
                <a:cs typeface="Noto Sans Hebrew"/>
              </a:rPr>
              <a:t>קמטים דינמיים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474720"/>
            <a:ext cx="2743200" cy="50292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3547872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1" i="0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→ ראה ענף קמטים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251960"/>
            <a:ext cx="5577840" cy="196596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297680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1" i="0">
                <a:solidFill>
                  <a:srgbClr val="2E4F8A"/>
                </a:solidFill>
                <a:latin typeface="Noto Sans Hebrew"/>
                <a:cs typeface="Noto Sans Hebrew"/>
              </a:rPr>
              <a:t>ענף נפח: שיקול עומק ומטרה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09160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עצם /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contouring (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לסת, סנטר, רקה)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7091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100" b="1" i="0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Lyft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056632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 Midface volume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רך, אינטרפסיאלי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05663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100" b="1" i="0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Volyme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404104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חידוד עצם + תמיכת רקמה (מתקדם)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5404104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100" b="1" i="0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Lyft + Defyne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751576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 Tear-trough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תת-עיני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751576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100" b="1" i="0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Eyelight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5352" y="4251960"/>
            <a:ext cx="5577840" cy="1965960"/>
          </a:xfrm>
          <a:prstGeom prst="roundRect">
            <a:avLst/>
          </a:prstGeom>
          <a:solidFill>
            <a:srgbClr val="FAF6F0"/>
          </a:solidFill>
          <a:ln w="1270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5352" y="4297680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1" i="0">
                <a:solidFill>
                  <a:srgbClr val="7A5A99"/>
                </a:solidFill>
                <a:latin typeface="Noto Sans Hebrew"/>
                <a:cs typeface="Noto Sans Hebrew"/>
              </a:rPr>
              <a:t>ענף קמטים: עומק ודינמיות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8232" y="4709160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קמטים שטחיים, סטטיים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0152" y="47091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100" b="1" i="0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Classic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2" y="5056632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קמטים שטחיים בתנועה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60152" y="505663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100" b="1" i="0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Refyne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8232" y="5404104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 NLF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עמוק + </a:t>
            </a: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Marionette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0152" y="5404104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100" b="1" i="0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Defyne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28232" y="5751576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•  </a:t>
            </a:r>
            <a:r>
              <a:rPr sz="1100" b="0" i="0">
                <a:solidFill>
                  <a:srgbClr val="2C1F15"/>
                </a:solidFill>
                <a:latin typeface="Noto Sans Hebrew"/>
                <a:cs typeface="Noto Sans Hebrew"/>
              </a:rPr>
              <a:t>עור דק / פרי-אוקולרי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60152" y="5751576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100" b="1" i="0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Vital Light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Decision Tree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31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20040"/>
            <a:ext cx="6035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 i="0">
                <a:solidFill>
                  <a:srgbClr val="2C1F15"/>
                </a:solidFill>
                <a:latin typeface="Noto Sans Hebrew"/>
                <a:cs typeface="Noto Sans Hebrew"/>
              </a:rPr>
              <a:t>סיכום — ארבעת המסרים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6012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1400" b="0" i="1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Key Take-Aways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9525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691640"/>
            <a:ext cx="5577840" cy="210312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8A6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2801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6400" b="1" i="0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20240"/>
            <a:ext cx="4023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i="0">
                <a:solidFill>
                  <a:srgbClr val="2C1F15"/>
                </a:solidFill>
                <a:latin typeface="Noto Sans Hebrew"/>
                <a:cs typeface="Noto Sans Hebrew"/>
              </a:rPr>
              <a:t>תחילת ההחלטה היא ב-</a:t>
            </a:r>
            <a:r>
              <a:rPr sz="18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Rheology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560320"/>
            <a:ext cx="402336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 i="0">
                <a:solidFill>
                  <a:srgbClr val="4A3A2A"/>
                </a:solidFill>
                <a:latin typeface="Noto Sans Hebrew"/>
                <a:cs typeface="Noto Sans Hebrew"/>
              </a:rPr>
              <a:t>בחר משפחה (</a:t>
            </a:r>
            <a:r>
              <a:rPr sz="1200" b="0" i="0">
                <a:solidFill>
                  <a:srgbClr val="4A3A2A"/>
                </a:solidFill>
                <a:latin typeface="Noto Sans"/>
                <a:cs typeface="Noto Sans"/>
                <a:ea typeface="Noto Sans"/>
              </a:rPr>
              <a:t>NASHA/OBT) </a:t>
            </a:r>
            <a:r>
              <a:rPr sz="1200" b="0" i="0">
                <a:solidFill>
                  <a:srgbClr val="4A3A2A"/>
                </a:solidFill>
                <a:latin typeface="Noto Sans Hebrew"/>
                <a:cs typeface="Noto Sans Hebrew"/>
              </a:rPr>
              <a:t>לפי איכות הג'ל הנדרשת באזור — לא לפי שם המוצר.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5577840" cy="210312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2E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12801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6400" b="1" i="0">
                <a:solidFill>
                  <a:srgbClr val="2E4F8A"/>
                </a:solidFill>
                <a:latin typeface="Noto Sans"/>
                <a:cs typeface="Noto Sans"/>
                <a:ea typeface="Noto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920240"/>
            <a:ext cx="4023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NASHA = </a:t>
            </a:r>
            <a:r>
              <a:rPr sz="1800" b="1" i="0">
                <a:solidFill>
                  <a:srgbClr val="2C1F15"/>
                </a:solidFill>
                <a:latin typeface="Noto Sans Hebrew"/>
                <a:cs typeface="Noto Sans Hebrew"/>
              </a:rPr>
              <a:t>עצם · </a:t>
            </a:r>
            <a:r>
              <a:rPr sz="1800" b="1" i="0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OBT = </a:t>
            </a:r>
            <a:r>
              <a:rPr sz="1800" b="1" i="0">
                <a:solidFill>
                  <a:srgbClr val="2C1F15"/>
                </a:solidFill>
                <a:latin typeface="Noto Sans Hebrew"/>
                <a:cs typeface="Noto Sans Hebrew"/>
              </a:rPr>
              <a:t>רקמה רכה ותנועה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560320"/>
            <a:ext cx="402336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 i="0">
                <a:solidFill>
                  <a:srgbClr val="4A3A2A"/>
                </a:solidFill>
                <a:latin typeface="Noto Sans"/>
                <a:cs typeface="Noto Sans"/>
                <a:ea typeface="Noto Sans"/>
              </a:rPr>
              <a:t>Bone Mimicry </a:t>
            </a:r>
            <a:r>
              <a:rPr sz="1200" b="0" i="0">
                <a:solidFill>
                  <a:srgbClr val="4A3A2A"/>
                </a:solidFill>
                <a:latin typeface="Noto Sans Hebrew"/>
                <a:cs typeface="Noto Sans Hebrew"/>
              </a:rPr>
              <a:t>להרמה ולחידוד מבני; </a:t>
            </a:r>
            <a:r>
              <a:rPr sz="1200" b="0" i="0">
                <a:solidFill>
                  <a:srgbClr val="4A3A2A"/>
                </a:solidFill>
                <a:latin typeface="Noto Sans"/>
                <a:cs typeface="Noto Sans"/>
                <a:ea typeface="Noto Sans"/>
              </a:rPr>
              <a:t>Tissue Mimicry </a:t>
            </a:r>
            <a:r>
              <a:rPr sz="1200" b="0" i="0">
                <a:solidFill>
                  <a:srgbClr val="4A3A2A"/>
                </a:solidFill>
                <a:latin typeface="Noto Sans Hebrew"/>
                <a:cs typeface="Noto Sans Hebrew"/>
              </a:rPr>
              <a:t>לאזורי תנועה ולנפח רך.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931920"/>
            <a:ext cx="5577840" cy="210312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7A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69080"/>
            <a:ext cx="12801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6400" b="1" i="0">
                <a:solidFill>
                  <a:srgbClr val="7A5A99"/>
                </a:solidFill>
                <a:latin typeface="Noto Sans"/>
                <a:cs typeface="Noto Sans"/>
                <a:ea typeface="Noto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160520"/>
            <a:ext cx="4023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i="0">
                <a:solidFill>
                  <a:srgbClr val="2C1F15"/>
                </a:solidFill>
                <a:latin typeface="Noto Sans Hebrew"/>
                <a:cs typeface="Noto Sans Hebrew"/>
              </a:rPr>
              <a:t>שלב טכניקה עם אנטומיה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800600"/>
            <a:ext cx="402336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 i="0">
                <a:solidFill>
                  <a:srgbClr val="4A3A2A"/>
                </a:solidFill>
                <a:latin typeface="Noto Sans Hebrew"/>
                <a:cs typeface="Noto Sans Hebrew"/>
              </a:rPr>
              <a:t>קנולה באזורים סכנתיים (</a:t>
            </a:r>
            <a:r>
              <a:rPr sz="1200" b="0" i="0">
                <a:solidFill>
                  <a:srgbClr val="4A3A2A"/>
                </a:solidFill>
                <a:latin typeface="Noto Sans"/>
                <a:cs typeface="Noto Sans"/>
                <a:ea typeface="Noto Sans"/>
              </a:rPr>
              <a:t>NLF, tear-trough, </a:t>
            </a:r>
            <a:r>
              <a:rPr sz="1200" b="0" i="0">
                <a:solidFill>
                  <a:srgbClr val="4A3A2A"/>
                </a:solidFill>
                <a:latin typeface="Noto Sans Hebrew"/>
                <a:cs typeface="Noto Sans Hebrew"/>
              </a:rPr>
              <a:t>רקות). מחט לבולוס עצם מדויק.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931920"/>
            <a:ext cx="5577840" cy="2103120"/>
          </a:xfrm>
          <a:prstGeom prst="roundRect">
            <a:avLst/>
          </a:prstGeom>
          <a:solidFill>
            <a:srgbClr val="FAF6F0"/>
          </a:solidFill>
          <a:ln w="19050">
            <a:solidFill>
              <a:srgbClr val="B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069080"/>
            <a:ext cx="12801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6400" b="1" i="0">
                <a:solidFill>
                  <a:srgbClr val="B23B3B"/>
                </a:solidFill>
                <a:latin typeface="Noto Sans"/>
                <a:cs typeface="Noto Sans"/>
                <a:ea typeface="Noto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160520"/>
            <a:ext cx="4023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i="0">
                <a:solidFill>
                  <a:srgbClr val="2C1F15"/>
                </a:solidFill>
                <a:latin typeface="Noto Sans Hebrew"/>
                <a:cs typeface="Noto Sans Hebrew"/>
              </a:rPr>
              <a:t>בטיחות מעל הכל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800600"/>
            <a:ext cx="402336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 i="0">
                <a:solidFill>
                  <a:srgbClr val="4A3A2A"/>
                </a:solidFill>
                <a:latin typeface="Noto Sans"/>
                <a:cs typeface="Noto Sans"/>
                <a:ea typeface="Noto Sans"/>
              </a:rPr>
              <a:t>Hyaluronidase </a:t>
            </a:r>
            <a:r>
              <a:rPr sz="1200" b="0" i="0">
                <a:solidFill>
                  <a:srgbClr val="4A3A2A"/>
                </a:solidFill>
                <a:latin typeface="Noto Sans Hebrew"/>
                <a:cs typeface="Noto Sans Hebrew"/>
              </a:rPr>
              <a:t>תמיד במלאי. הכר </a:t>
            </a:r>
            <a:r>
              <a:rPr sz="1200" b="0" i="0">
                <a:solidFill>
                  <a:srgbClr val="4A3A2A"/>
                </a:solidFill>
                <a:latin typeface="Noto Sans"/>
                <a:cs typeface="Noto Sans"/>
                <a:ea typeface="Noto Sans"/>
              </a:rPr>
              <a:t>vascular events. </a:t>
            </a:r>
            <a:r>
              <a:rPr sz="1200" b="0" i="0">
                <a:solidFill>
                  <a:srgbClr val="4A3A2A"/>
                </a:solidFill>
                <a:latin typeface="Noto Sans Hebrew"/>
                <a:cs typeface="Noto Sans Hebrew"/>
              </a:rPr>
              <a:t>תעד ותתעד את הציפיות.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6350">
            <a:solidFill>
              <a:srgbClr val="C9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5760" y="64922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 ·  Restylane Clinical 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649224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 Hebrew"/>
                <a:cs typeface="Noto Sans Hebrew"/>
              </a:rPr>
              <a:t>סיכום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3075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sz="900" b="0" i="0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32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8D9C5"/>
            </a:gs>
            <a:gs pos="100000">
              <a:srgbClr val="F5EDE3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0" b="1" i="0">
                <a:solidFill>
                  <a:srgbClr val="8A6E4A"/>
                </a:solidFill>
                <a:latin typeface="Noto Sans Hebrew"/>
                <a:cs typeface="Noto Sans Hebrew"/>
              </a:rPr>
              <a:t>תודה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2800" b="0" i="1">
                <a:solidFill>
                  <a:srgbClr val="2C1F15"/>
                </a:solidFill>
                <a:latin typeface="Noto Sans"/>
                <a:cs typeface="Noto Sans"/>
                <a:ea typeface="Noto Sans"/>
              </a:rPr>
              <a:t>Q&amp;A  ·  Discussion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0" y="4297680"/>
            <a:ext cx="2130552" cy="0"/>
          </a:xfrm>
          <a:prstGeom prst="line">
            <a:avLst/>
          </a:prstGeom>
          <a:ln w="31750">
            <a:solidFill>
              <a:srgbClr val="B8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1">
                <a:solidFill>
                  <a:srgbClr val="4A3A2A"/>
                </a:solidFill>
                <a:latin typeface="Noto Sans Hebrew"/>
                <a:cs typeface="Noto Sans Hebrew"/>
              </a:rPr>
              <a:t>תזכורת קלינית: לכל החלטה — </a:t>
            </a:r>
            <a:r>
              <a:rPr sz="1800" b="0" i="1">
                <a:solidFill>
                  <a:srgbClr val="4A3A2A"/>
                </a:solidFill>
                <a:latin typeface="Noto Sans"/>
                <a:cs typeface="Noto Sans"/>
                <a:ea typeface="Noto Sans"/>
              </a:rPr>
              <a:t>Rheology, Indication, Outcome.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58384" y="5577840"/>
            <a:ext cx="1463040" cy="640080"/>
          </a:xfrm>
          <a:prstGeom prst="roundRect">
            <a:avLst/>
          </a:prstGeom>
          <a:solidFill>
            <a:srgbClr val="FAF6F0"/>
          </a:solidFill>
          <a:ln w="9525">
            <a:solidFill>
              <a:srgbClr val="B895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384" y="5632704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800" b="1" i="0">
                <a:solidFill>
                  <a:srgbClr val="8A6E4A"/>
                </a:solidFill>
                <a:latin typeface="Noto Sans"/>
                <a:cs typeface="Noto Sans"/>
                <a:ea typeface="Noto Sans"/>
              </a:rPr>
              <a:t>AAA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58384" y="5907024"/>
            <a:ext cx="1463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9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sz="1200" b="0" i="1">
                <a:solidFill>
                  <a:srgbClr val="A88D6F"/>
                </a:solidFill>
                <a:latin typeface="Noto Sans"/>
                <a:cs typeface="Noto Sans"/>
                <a:ea typeface="Noto Sans"/>
              </a:rPr>
              <a:t>AAA Academy · Advanced Aesthetic Anatomy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