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A3866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120640"/>
            <a:ext cx="3108960" cy="3108960"/>
          </a:xfrm>
          <a:prstGeom prst="ellipse">
            <a:avLst/>
          </a:prstGeom>
          <a:solidFill>
            <a:srgbClr val="A3866A">
              <a:alpha val="8000"/>
            </a:srgbClr>
          </a:solidFill>
          <a:ln/>
        </p:spPr>
      </p:sp>
      <p:pic>
        <p:nvPicPr>
          <p:cNvPr id="4" name="Image 0" descr="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937760" y="31546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600" kern="0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937760" y="4343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BB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AESTHETIC ACADEMY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הסיפור שלי – ואיך הוא הופך לנכס העסקי הכי חשוב שלי?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המעבר מרופא מקצועי לבעל קליניקה מצליח מתחיל בהיכרות עמוקה עם עצמך!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לא רק מה אתה יודע – אלא איך אתה מציג את זה לעולם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השלב הראשון: להבין מה אני מביא לשולחן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 חוזקות שמאפיינות אותי כאדם וכרופא, ולצידן נקודות בהן יש לי הזדמנות לצמוח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החוזקות שלי הן לא רק מיומנויות – הן הכלי השיווקי הכי חזק שלי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כשאני מדגיש אותן, אני יוצר בידול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בראיונות עבודה, בשיחה עם מטופלת חדשה, או בשיתוף פעולה עם גורמים מסחריים</a:t>
            </a:r>
            <a:endParaRPr lang="he-IL" sz="160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האותנטיות מנצחת.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4983480"/>
            <a:ext cx="10268712" cy="1234440"/>
          </a:xfrm>
          <a:prstGeom prst="roundRect">
            <a:avLst>
              <a:gd name="adj" fmla="val 7407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5920" y="5120640"/>
            <a:ext cx="9720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שתהיו מחוברים יותר לסיפור שלכם, כך תצליחו לשדר ביטחון, מקצועיות ואמון – ולהפוך את עצמכם למותג אישי שמטופלות זוכרות ובוחרות</a:t>
            </a:r>
            <a:endParaRPr lang="he-IL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מתאים לי כרופא/ה חדש/ה?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1078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השתלבות בעבודה ברשת או בקליניקה קיימת 💼</a:t>
            </a:r>
            <a:endParaRPr lang="he-IL" sz="17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239512" cy="4160520"/>
          </a:xfrm>
          <a:prstGeom prst="roundRect">
            <a:avLst>
              <a:gd name="adj" fmla="val 219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19202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יתרונות</a:t>
            </a:r>
            <a:endParaRPr lang="he-IL" sz="1800" dirty="0"/>
          </a:p>
        </p:txBody>
      </p:sp>
      <p:sp>
        <p:nvSpPr>
          <p:cNvPr id="9" name="Text 6"/>
          <p:cNvSpPr/>
          <p:nvPr/>
        </p:nvSpPr>
        <p:spPr>
          <a:xfrm>
            <a:off x="6720840" y="2423160"/>
            <a:ext cx="4617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מאפשרת לי “לרוץ על אוטומט” – בלי לעסוק באדמיניסטרציה, שיווק, מכירות, ניהול מלאי או ניהול עסקי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יכול/ה להתמקד בטיפולים בלבד – בלי דאגות של ניהול שוטף</a:t>
            </a:r>
            <a:endParaRPr lang="he-IL" sz="14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צבירת ניסיון מעשי בסביבה קיימת וממוסדת</a:t>
            </a:r>
            <a:endParaRPr lang="he-IL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5577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חסרונות</a:t>
            </a:r>
            <a:endParaRPr lang="he-IL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42316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הרשתות דורשות התחייבות ארוכת טווח – מה שעלול להגביל אותי ביציאה לדרך עצמאית בעתיד הקרוב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למרות שאני הסמכות הרפואית – ההחלטות מתקבלות מעליי, ולעיתים בניגוד לגישה או לערכים שלי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העבודה אינה בבעלותי – אני בונה עסק עבור מישהו אחר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קיימת אפשרות שיתבקש ממני לבצע טיפולים או החלטות שאני פחות מתחבר/ת אליהן מקצועית או אתית</a:t>
            </a:r>
            <a:endParaRPr lang="he-IL" sz="1350" dirty="0"/>
          </a:p>
          <a:p>
            <a:pPr rtl="1" algn="r" marL="342900" indent="-342900">
              <a:lnSpc>
                <a:spcPct val="110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התמורה הכספית מוגבלת יחסית לערך שאני מייצר בפועל</a:t>
            </a:r>
            <a:endParaRPr lang="he-IL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קליניקה קיימת מול יציאה לעצמאות מלאה</a:t>
            </a:r>
            <a:endParaRPr lang="he-IL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44165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יציאה לעצמאות מלאה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עבודה בקליניקה קיימת / רשת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היבט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E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מלאה – כל החלטה בידיים שלך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מוגבלת – ההחלטות מתקבלות ע״י מנהלים או הבעלים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שליטה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את/ה בוחר/ת את קווי השירות, סוג הטיפולים וסגנון העבודה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כפוף לפרוטוקולים ומדיניות הקליניקה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חופש מקצועי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נדרש/ת לנהל: מלאי, שיווק, שירות לקוחות, כספים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התעסקות – הכול מנוהל עבורך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אדמיניסטרציה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פוטנציאל הכנסה גבוה – תלוי בך בלבד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קבוע, לרוב נמוך ביחס לפוטנציאל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תזרים והכנסה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 יותר – נדרש זמן לבנייה והתבססות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נמוך – יציבות תעסוקתית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סיכון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גבוהה – בניית מותג אישי וצמיחה עסקית אמיתית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מוגבלת – התפתחות בתוך מסגרת קיימת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צמיחה אישית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מלאה – אתה הבעלים, המנהל והפנים של הקליניקה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– אתה עובד בעסק של מישהו אחר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622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תחושת בעלות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1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ההתחלה של כל טיפול – היא ההבנה שהמטופלת מולכם לא מחפשת רק שינוי, אלא תחושת ערך עצמי מחודשת.</a:t>
            </a:r>
            <a:endParaRPr lang="he-IL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לפעמים היא מגיעה עם רצון לשפר אזור מסוים</a:t>
            </a:r>
            <a:endParaRPr lang="he-IL" sz="16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אבל מאחורי הבקשה מסתתרות גם חוויות, רגישויות ולעיתים אפילו סבל רגשי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ברפואה אסתטית אין מטרה שהיא רק “קוסמטית”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חיצוני טומן בתוכו השפעה עמוקה – על הדימוי העצמי, על הביטחון, ועל איכות החיים.</a:t>
            </a:r>
            <a:endParaRPr lang="he-IL" sz="1600" dirty="0"/>
          </a:p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לכן חשוב לזכור: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הטיפול האמיתי מתחיל הרבה לפני המזרק.</a:t>
            </a:r>
            <a:endParaRPr lang="he-IL" sz="160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מתחיל בהקשבה. ביכולת לזהות את הגבול בין מה שהיא רוצה – למה שהיא באמת צריכה.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4754880"/>
            <a:ext cx="10268712" cy="1463040"/>
          </a:xfrm>
          <a:prstGeom prst="roundRect">
            <a:avLst>
              <a:gd name="adj" fmla="val 625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5920" y="4937760"/>
            <a:ext cx="9720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5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המטופלת תזכור את הדרך לא פחות מהתוצאה.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תזכור אם ראיתם אותה באמת, אם הסברתם לה בכנות, אם ידעתם להציב גבולות – גם כשהיא לא ידעה להציבם לעצמה.</a:t>
            </a:r>
            <a:endParaRPr lang="he-IL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מוכרים טיפול – אתם בונים אמון.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53766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ברפואה אסתטית, הקסם לא מתחיל במזרק – אלא בחיבור האנושי.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המטופלת בוחרת בכם לא בגלל המחיר – אלא בגלל התחושה שאתם מעניקים לה.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8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שתהיו נוכחים, קשובים ואותנטיים – כך תצליחו לייצר חוויה מנצחת.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חוויה שמבוססת על קשר אישי, על הקשבה אמיתית לחששות, ועל הובלה מקצועית עם רגישות.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זכרו: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שמוכר בזול – מתחרה על מחיר.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שמוביל ברגש ובערך – הופך לבחירה הברורה.</a:t>
            </a:r>
            <a:endParaRPr lang="he-IL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כן חשוב להדגיש בשיחה עם מטופלת חדשה?</a:t>
            </a:r>
            <a:endParaRPr lang="he-IL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להבהיר לה שאתם כאן כדי להבין את הרצון האישי שלה – לא רק את הבעיה הטכנית.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לנסח יחד ציפיות מדויקות ונכונות – ולתכנן תוצאה שמתאימה לה, לא לאחרות.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והכי חשוב: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טוב הוא כזה שמייצר קשר, ולא רק תוצאה.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בסוף, התחושה שהענקתם לה – תלווה אותה הרבה אחרי שהתוצאה תתייצב.</a:t>
            </a:r>
            <a:endParaRPr lang="he-IL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תפקידכם כרופאים ברפואה האסתטית?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852160" y="1463040"/>
            <a:ext cx="57881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לתרגם את הרצון – לפרוטוקול טיפולי אחראי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 מה שהמטופלת מבקשת – נכון לה.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האחריות שלכם היא לדעת מתי להגיד “לא”, מתי להמליץ על תהליך הדרגתי,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ומתי להסביר לה שהשינוי האמיתי יקרה לא רק בפנים – אלא בתחושה.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לראות את המטופלת – ולא רק את הקמט.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לשאול את עצמכם: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באמת עומד מאחורי הבקשה שלה?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היא מחפשת שיראו בה – כשהיא מבקשת לשנות?</a:t>
            </a:r>
            <a:endParaRPr lang="he-IL" sz="140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לטפל מתוך חמלה, אבל גם מתוך גבולות בריאים.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4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שמגיעה עם ציפיות לא ריאליות – זקוקה לרופא שלא רק “מבצע”, אלא גם מוביל.</a:t>
            </a:r>
            <a:endParaRPr lang="he-IL" sz="140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רופא טוב יודע גם מתי לא להזריק.</a:t>
            </a:r>
            <a:endParaRPr lang="he-IL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1488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בסופו של דבר – רפואה אסתטית היא שליחות.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רק משפיעים על מראה – אתם נוגעים בזהות.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שתפעלו מתוך מקצועיות, יושרה וחיבור אנושי –</a:t>
            </a:r>
            <a:endParaRPr lang="he-IL" sz="155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תיצרו טיפולים משני חיים, ולא רק משני פנים.</a:t>
            </a:r>
            <a:endParaRPr lang="he-IL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לעלות מדרגה – ולהוביל את הטיפול, גם כשהמטופלת “כבר יודעת מה היא רוצה”</a:t>
            </a:r>
            <a:endParaRPr lang="he-IL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ויותר מטופלות מגיעות עם תוכנית טיפול מוכנה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הן חושבות שהן יודעות איזה חומר הן צריכות, באיזו אינדיקציה, ובאיזה אזור להזריק.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הן לא תמיד טועות – אבל לרוב הן מושפעות מתוכן ברשתות, המלצות של חברות או ניסיון עבר, ולא מהבנה קלינית אמיתית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נכנס התפקיד הקריטי שלכם כרופאים.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התפקיד שלכם הוא לעצור – ולבחון מחדש את מה שהיא מבקשת.</a:t>
            </a:r>
            <a:endParaRPr lang="he-IL" sz="15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להבין את מקור הרצון, לחשוף את הצורך האמיתי, ולבנות תוכנית טיפול מקצועית, מותאמת, הדרגתית ואחראית.</a:t>
            </a:r>
            <a:endParaRPr lang="he-IL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52628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he-IL" altLang="en-US" sz="14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מהקליניקה: מטופלת שמבקשת הזרקה לקמט ספציפי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ייתכן שהבעיה האמיתית בכלל נובעת מהשקע הטבעי במרכז הפנים או משינויים במבנה העצמות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תיארה “קמט”, אבל אתם כרופאים רואים חוסר נפח או שקיעה במבנה תומך</a:t>
            </a:r>
            <a:endParaRPr lang="he-IL" sz="14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 שתסבירו לה את ההבדל, תובילו אותה למקום הנכון – גם אם זה שונה ממה שביקשה</a:t>
            </a:r>
            <a:endParaRPr lang="he-IL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4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חשוב: להוביל תכנון משולב – גם מהיבט קליני וגם מהיבט כלכלי.</a:t>
            </a:r>
            <a:endParaRPr lang="he-IL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91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השאיפה היא לבנות טיפול הוליסטי – כזה שמבוסס על האבחנה הקלינית,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אך גם על היכולת של המטופלת לעמוד בו לאורך זמן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מושכל באסטרטגיית שילוב (חומרים/אזורים/אינדיקציות) יאפשר לכם למקסם את האפקט – וגם לדרג את המחיר באופן חכם ולא מאיים.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טיפולים שמובנים בשלבים, עם התאמה תקציבית – יסייעו למטופלת להתחייב רגשית וכלכלית</a:t>
            </a:r>
            <a:endParaRPr lang="he-IL" sz="1600" dirty="0"/>
          </a:p>
          <a:p>
            <a:pPr rtl="1" algn="r" indent="0" marL="0">
              <a:lnSpc>
                <a:spcPct val="114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ולהרגיש שהיא מובלת ולא “נמכרת לה הזרקה”</a:t>
            </a:r>
            <a:endParaRPr lang="he-IL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52628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לשילובים חכמים – לא “למכור מזרק”, אלא לבנות טיפול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“למכור מזרק למילוי”, עברו לחשוב במונחים של טיפול הוליסטי לאזור שלם – כזה שמתייחס למרקם העור, למבנה התומך, לשרירים ולגוון.</a:t>
            </a:r>
            <a:endParaRPr lang="he-IL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שקעי עיניים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6172200" y="1463040"/>
            <a:ext cx="54681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4000"/>
              </a:lnSpc>
              <a:spcAft>
                <a:spcPts val="4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מטופלת מבקשת מזרק אחד למילוי השקע</a:t>
            </a:r>
            <a:endParaRPr lang="he-IL" sz="1450" dirty="0"/>
          </a:p>
          <a:p>
            <a:pPr rtl="1" algn="r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הזמן לשנות את השיח – ולהציע פתרון מקיף ואפקטיבי הרבה יותר</a:t>
            </a:r>
            <a:endParaRPr lang="he-IL" sz="1450" dirty="0"/>
          </a:p>
          <a:p>
            <a:pPr rtl="1" algn="r"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 טקסטורת העור – טיפול בקמטוטים ובעור העודף באמצעות סלבוסטר או חומרים ביו-רבאליים</a:t>
            </a:r>
            <a:endParaRPr lang="he-IL" sz="1450" dirty="0"/>
          </a:p>
          <a:p>
            <a:pPr rtl="1" algn="r"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בוטוקס בצידי העיניים – לשחרור השריר שמושך את האזור כלפי מטה, וליצירת אפקט הרמה טבעי</a:t>
            </a:r>
            <a:endParaRPr lang="he-IL" sz="1450" dirty="0"/>
          </a:p>
          <a:p>
            <a:pPr rtl="1" algn="r"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מילוי מדויק באמצעות חומצה היאלורונית – לשחזור נפח ואיזון השקע</a:t>
            </a:r>
            <a:endParaRPr lang="he-IL" sz="1450" dirty="0"/>
          </a:p>
          <a:p>
            <a:pPr rtl="1" algn="r" marL="342900" indent="-342900">
              <a:lnSpc>
                <a:spcPct val="114000"/>
              </a:lnSpc>
              <a:buSzPct val="100000"/>
              <a:buChar char="•"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בכהויות – עם סלבוסטר, אנטיאז' או חומרים מתקדמים נוספים, לפי הצורך האישי</a:t>
            </a:r>
            <a:endParaRPr lang="he-IL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49240" cy="4800600"/>
          </a:xfrm>
          <a:prstGeom prst="roundRect">
            <a:avLst>
              <a:gd name="adj" fmla="val 1905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916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יוצא לכם מזה</a:t>
            </a:r>
            <a:endParaRPr lang="he-IL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למכור מזרק ב-1,500–1,800 ₪ כמו כולם,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מציעים טיפול משולב, מדורג, מקצועי ומבדל –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תמחור מתאים שמייצג את הערך האמיתי של מה שהמטופלת מקבלת</a:t>
            </a:r>
            <a:endParaRPr lang="he-IL" sz="1350" dirty="0"/>
          </a:p>
          <a:p>
            <a:pPr rtl="1" algn="r"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he-IL" altLang="en-US" sz="13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אתם: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יוצאים מהשיח של “מחיר למזרק”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ממקסמים את תוצאות הטיפול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מייצרים תהליך טיפולי מתמשך שמעמיק את הקשר עם המטופלת</a:t>
            </a:r>
            <a:endParaRPr lang="he-IL" sz="1350" dirty="0"/>
          </a:p>
          <a:p>
            <a:pPr rtl="1" algn="r" marL="342900" indent="-342900">
              <a:lnSpc>
                <a:spcPct val="112000"/>
              </a:lnSpc>
              <a:buSzPct val="100000"/>
              <a:buChar char="•"/>
            </a:pPr>
            <a:r>
              <a:rPr lang="he-IL" altLang="en-US" sz="13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ומבדלים את עצמכם כאנשי מקצוע שנותנים מענה שלם – לא פתרון נקודתי</a:t>
            </a:r>
            <a:endParaRPr lang="he-IL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2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ניקח את הדוגמה לתוכנית הטיפול הזו ונלמד איך נכון לתמחר אותה</a:t>
            </a:r>
            <a:endParaRPr lang="he-IL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1280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ראשון – מתחילים בעלויות החומרים:</a:t>
            </a:r>
            <a:endParaRPr lang="he-IL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2057400"/>
            <a:ext cx="5376672" cy="3063240"/>
          </a:xfrm>
          <a:prstGeom prst="roundRect">
            <a:avLst>
              <a:gd name="adj" fmla="val 2985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מזרק למילוי</a:t>
            </a:r>
            <a:endParaRPr lang="he-IL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926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ש”ח + מע”מ</a:t>
            </a:r>
            <a:endParaRPr lang="he-IL" sz="3200" dirty="0"/>
          </a:p>
        </p:txBody>
      </p:sp>
      <p:sp>
        <p:nvSpPr>
          <p:cNvPr id="10" name="Text 7"/>
          <p:cNvSpPr/>
          <p:nvPr/>
        </p:nvSpPr>
        <p:spPr>
          <a:xfrm>
            <a:off x="6583680" y="37947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ברכישה של 30 מזרקים ומעלה, מחיר מבצע עומד על כ־330 ש”ח + מע”מ</a:t>
            </a:r>
            <a:endParaRPr lang="he-IL" sz="14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 – המחיר המוזל הוא 250 ש”ח</a:t>
            </a:r>
            <a:endParaRPr lang="he-IL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05740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2331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בקבוקון סלבוסטר</a:t>
            </a:r>
            <a:endParaRPr lang="he-IL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2926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ש”ח + מע”מ</a:t>
            </a:r>
            <a:endParaRPr lang="he-IL" sz="3200" dirty="0"/>
          </a:p>
        </p:txBody>
      </p:sp>
      <p:sp>
        <p:nvSpPr>
          <p:cNvPr id="14" name="Text 11"/>
          <p:cNvSpPr/>
          <p:nvPr/>
        </p:nvSpPr>
        <p:spPr>
          <a:xfrm>
            <a:off x="868680" y="379476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נמכר לרוב בכ־250 ש”ח + מע”מ לרופא (במבצע)</a:t>
            </a:r>
            <a:endParaRPr lang="he-IL" sz="14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ולבוגרי הקורס – המחיר המוזל הוא 180 ש”ח</a:t>
            </a:r>
            <a:endParaRPr lang="he-IL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נלוות לטיפול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6263640" y="1417320"/>
            <a:ext cx="5376672" cy="2286000"/>
          </a:xfrm>
          <a:prstGeom prst="roundRect">
            <a:avLst>
              <a:gd name="adj" fmla="val 400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המקום בו מתקיים הטיפול:</a:t>
            </a:r>
            <a:endParaRPr lang="he-IL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2148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לחשב לפי חלוקת עלות שכירות, ארנונה, חשמל, שכר עובדים וכדומה – לפי מספר ימי העבודה בפועל</a:t>
            </a:r>
            <a:endParaRPr lang="he-IL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6459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ציוד מתכלה:</a:t>
            </a:r>
            <a:endParaRPr lang="he-IL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1488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גזות, אלכוהול, קנולות וכו'</a:t>
            </a:r>
            <a:endParaRPr lang="he-IL" sz="14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עולים יותר מ־50 ש”ח לטיפול</a:t>
            </a:r>
            <a:endParaRPr lang="he-IL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069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 עלות חומרית – דוגמה לטיפול הוליסטי בשקעי עיניים</a:t>
            </a:r>
            <a:endParaRPr lang="he-IL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46177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ניקח את הנתונים ונבדוק מהי העלות החומרית של הטיפול בלבד, תוך התייחסות לשאלה חשובה:</a:t>
            </a:r>
            <a:endParaRPr lang="he-IL" sz="155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כל 3 מ”ל הסלבוסטר נוצלו בטיפול אחד, או נשאר חומר להמשך סדרת הטיפול?</a:t>
            </a:r>
            <a:endParaRPr lang="he-IL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ב־1 מ”ל בלבד בטיפול הראשון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6245352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1 מ”ל סלבוסטר</a:t>
            </a:r>
            <a:endParaRPr lang="he-IL" sz="1550" dirty="0"/>
          </a:p>
        </p:txBody>
      </p:sp>
      <p:sp>
        <p:nvSpPr>
          <p:cNvPr id="8" name="Text 5"/>
          <p:cNvSpPr/>
          <p:nvPr/>
        </p:nvSpPr>
        <p:spPr>
          <a:xfrm>
            <a:off x="6519672" y="22677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ש”ח</a:t>
            </a:r>
            <a:endParaRPr lang="he-IL" sz="2600" dirty="0"/>
          </a:p>
        </p:txBody>
      </p:sp>
      <p:sp>
        <p:nvSpPr>
          <p:cNvPr id="9" name="Text 6"/>
          <p:cNvSpPr/>
          <p:nvPr/>
        </p:nvSpPr>
        <p:spPr>
          <a:xfrm>
            <a:off x="6519672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 60 ש”ח לבוגרי הקורס</a:t>
            </a:r>
            <a:endParaRPr lang="he-IL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מזרק מילוי</a:t>
            </a:r>
            <a:endParaRPr lang="he-IL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22677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ש”ח</a:t>
            </a:r>
            <a:endParaRPr lang="he-IL" sz="2600" dirty="0"/>
          </a:p>
        </p:txBody>
      </p:sp>
      <p:sp>
        <p:nvSpPr>
          <p:cNvPr id="13" name="Text 10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 250 ש”ח לבוגרים</a:t>
            </a:r>
            <a:endParaRPr lang="he-IL" sz="1500" dirty="0"/>
          </a:p>
        </p:txBody>
      </p:sp>
      <p:sp>
        <p:nvSpPr>
          <p:cNvPr id="14" name="Shape 11"/>
          <p:cNvSpPr/>
          <p:nvPr/>
        </p:nvSpPr>
        <p:spPr>
          <a:xfrm>
            <a:off x="6245352" y="3886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9672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סה”כ עלות חומרים</a:t>
            </a:r>
            <a:endParaRPr lang="he-IL" sz="1550" dirty="0"/>
          </a:p>
        </p:txBody>
      </p:sp>
      <p:sp>
        <p:nvSpPr>
          <p:cNvPr id="16" name="Text 13"/>
          <p:cNvSpPr/>
          <p:nvPr/>
        </p:nvSpPr>
        <p:spPr>
          <a:xfrm>
            <a:off x="6519672" y="4599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רגיל: 413 ש”ח</a:t>
            </a:r>
            <a:endParaRPr lang="he-IL" sz="2600" dirty="0"/>
          </a:p>
        </p:txBody>
      </p:sp>
      <p:sp>
        <p:nvSpPr>
          <p:cNvPr id="17" name="Text 14"/>
          <p:cNvSpPr/>
          <p:nvPr/>
        </p:nvSpPr>
        <p:spPr>
          <a:xfrm>
            <a:off x="6519672" y="5303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הקורס: 310 ש”ח</a:t>
            </a:r>
            <a:endParaRPr lang="he-IL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5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בתוספת ציוד מתכלה (כ־50 ש”ח)</a:t>
            </a:r>
            <a:endParaRPr lang="he-IL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45994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רגיל: 463 ש”ח</a:t>
            </a:r>
            <a:endParaRPr lang="he-IL" sz="2600" dirty="0"/>
          </a:p>
        </p:txBody>
      </p:sp>
      <p:sp>
        <p:nvSpPr>
          <p:cNvPr id="21" name="Text 18"/>
          <p:cNvSpPr/>
          <p:nvPr/>
        </p:nvSpPr>
        <p:spPr>
          <a:xfrm>
            <a:off x="822960" y="5303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D8C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לבוגרי הקורס: 360 ש”ח</a:t>
            </a:r>
            <a:endParaRPr lang="he-IL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989320"/>
            <a:ext cx="749808" cy="7498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402336" cy="402336"/>
          </a:xfrm>
          <a:prstGeom prst="ellipse">
            <a:avLst/>
          </a:prstGeom>
          <a:solidFill>
            <a:srgbClr val="A3866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34747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מוכרים בפועל?</a:t>
            </a:r>
            <a:endParaRPr lang="he-IL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he-IL" altLang="en-US" sz="15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 לא מזרק בודד – זהו טיפול שלם, הוליסטי, עם מענה כולל לכל פרמטר באזור שקעי העיניים</a:t>
            </a:r>
            <a:endParaRPr lang="he-IL" sz="1550" dirty="0"/>
          </a:p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155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טקסטורה, כהות, מילוי, מתיחה</a:t>
            </a:r>
            <a:endParaRPr lang="he-IL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תמחור מומלץ למטופלת:</a:t>
            </a:r>
            <a:endParaRPr lang="he-IL" sz="1700" dirty="0"/>
          </a:p>
        </p:txBody>
      </p:sp>
      <p:sp>
        <p:nvSpPr>
          <p:cNvPr id="8" name="Shape 5"/>
          <p:cNvSpPr/>
          <p:nvPr/>
        </p:nvSpPr>
        <p:spPr>
          <a:xfrm>
            <a:off x="6245352" y="2743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B1713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19672" y="2944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1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ש”ח לטיפול מלא</a:t>
            </a:r>
            <a:endParaRPr lang="he-IL" sz="2100" dirty="0"/>
          </a:p>
        </p:txBody>
      </p:sp>
      <p:sp>
        <p:nvSpPr>
          <p:cNvPr id="10" name="Text 7"/>
          <p:cNvSpPr/>
          <p:nvPr/>
        </p:nvSpPr>
        <p:spPr>
          <a:xfrm>
            <a:off x="6519672" y="3611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1,537 ש”ח (76.8%)</a:t>
            </a:r>
            <a:endParaRPr lang="he-IL" sz="16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לבוגר קורס: 1,640 ש”ח (82.0%)</a:t>
            </a:r>
            <a:endParaRPr lang="he-IL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EFE9"/>
          </a:solidFill>
          <a:ln/>
          <a:effectLst>
            <a:outerShdw sx="100000" sy="100000" kx="0" ky="0" algn="bl" rotWithShape="0" blurRad="88900" dist="25400" dir="5400000">
              <a:srgbClr val="3B342C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29443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700" b="1" dirty="0">
                <a:solidFill>
                  <a:srgbClr val="8A6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 ש”ח למטופלת מתקשה – ועדיין ברווח מצוין</a:t>
            </a:r>
            <a:endParaRPr lang="he-IL" sz="1700" dirty="0"/>
          </a:p>
        </p:txBody>
      </p:sp>
      <p:sp>
        <p:nvSpPr>
          <p:cNvPr id="13" name="Text 10"/>
          <p:cNvSpPr/>
          <p:nvPr/>
        </p:nvSpPr>
        <p:spPr>
          <a:xfrm>
            <a:off x="82296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he-IL" altLang="en-US" sz="160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רגיל: 1,337 ש”ח (74.3%)</a:t>
            </a:r>
            <a:endParaRPr lang="he-IL" sz="16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60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לבוגר קורס: 1,440 ש”ח (80.0%)</a:t>
            </a:r>
            <a:endParaRPr lang="he-IL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5166360"/>
            <a:ext cx="10268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כך, בתוספת קטנה בלבד לעלות של מזרק בודד</a:t>
            </a:r>
            <a:endParaRPr lang="he-IL" sz="1450" dirty="0"/>
          </a:p>
          <a:p>
            <a:pPr rtl="1" algn="r"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he-IL" altLang="en-US" sz="1450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שידרגתם את המכירה לטיפול מקצועי, מלא ומשתלם – לכם ולמטופלת</a:t>
            </a:r>
            <a:endParaRPr lang="he-IL" sz="1450" dirty="0"/>
          </a:p>
          <a:p>
            <a:pPr rtl="1" algn="r" indent="0" marL="0">
              <a:lnSpc>
                <a:spcPct val="112000"/>
              </a:lnSpc>
              <a:buNone/>
            </a:pPr>
            <a:r>
              <a:rPr lang="he-IL" altLang="en-US" sz="1450" b="1" dirty="0">
                <a:solidFill>
                  <a:srgbClr val="26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יצרתם רווח גבוה, גם הבאתם לתוצאה מיטבית – וגם פתחתם פתח להמשכיות טיפולית</a:t>
            </a:r>
            <a:endParaRPr lang="he-IL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389120" cy="4389120"/>
          </a:xfrm>
          <a:prstGeom prst="ellipse">
            <a:avLst/>
          </a:prstGeom>
          <a:solidFill>
            <a:srgbClr val="A3866A">
              <a:alpha val="10000"/>
            </a:srgbClr>
          </a:solidFill>
          <a:ln/>
        </p:spPr>
      </p:sp>
      <p:pic>
        <p:nvPicPr>
          <p:cNvPr id="3" name="Image 0" descr="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4251960" cy="2834640"/>
          </a:xfrm>
          <a:prstGeom prst="rect">
            <a:avLst/>
          </a:prstGeom>
        </p:spPr>
      </p:pic>
      <p:pic>
        <p:nvPicPr>
          <p:cNvPr id="4" name="Image 1" descr="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4343400"/>
            <a:ext cx="2057400" cy="2057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94960" y="1143000"/>
            <a:ext cx="6263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he-IL" altLang="en-US" sz="28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ותזכרו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רופא לא נולד עם מזרק ביד, ואף אחד לא נכנס לקליניקה משגשגת ביום הראשון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מסע – של התפתחות, למידה והתנסות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ואתם לא לבד בו!!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rgbClr val="A3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כאן בשבילכם – תמיד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הבית לשאול, להתייעץ, לקבל גב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ולצמוח יד ביד</a:t>
            </a:r>
            <a:endParaRPr lang="he-IL" sz="18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שתהיו הרופאים שאתם חולמים להיות</a:t>
            </a:r>
            <a:endParaRPr lang="he-IL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2026-08-03T05:45:55Z</dcterms:created>
  <dcterms:modified xsi:type="dcterms:W3CDTF">2026-08-03T05:45:55Z</dcterms:modified>
</cp:coreProperties>
</file>