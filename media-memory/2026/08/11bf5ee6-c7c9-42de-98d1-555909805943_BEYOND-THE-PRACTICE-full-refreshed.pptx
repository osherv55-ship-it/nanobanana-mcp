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7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463040"/>
            <a:ext cx="4206240" cy="4206240"/>
          </a:xfrm>
          <a:prstGeom prst="ellipse">
            <a:avLst/>
          </a:prstGeom>
          <a:solidFill>
            <a:srgbClr val="A3866A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515600" y="5120640"/>
            <a:ext cx="3108960" cy="3108960"/>
          </a:xfrm>
          <a:prstGeom prst="ellipse">
            <a:avLst/>
          </a:prstGeom>
          <a:solidFill>
            <a:srgbClr val="A3866A">
              <a:alpha val="8000"/>
            </a:srgbClr>
          </a:solidFill>
          <a:ln/>
        </p:spPr>
      </p:sp>
      <p:pic>
        <p:nvPicPr>
          <p:cNvPr id="4" name="Image 0" descr="assets/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691640"/>
            <a:ext cx="3474720" cy="34747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937760" y="2148840"/>
            <a:ext cx="6675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spc="6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BEYOND THE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4937760" y="3154680"/>
            <a:ext cx="6675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spc="600" kern="0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</a:t>
            </a:r>
            <a:endParaRPr lang="en-US" sz="5400" dirty="0"/>
          </a:p>
        </p:txBody>
      </p:sp>
      <p:sp>
        <p:nvSpPr>
          <p:cNvPr id="7" name="Text 4"/>
          <p:cNvSpPr/>
          <p:nvPr/>
        </p:nvSpPr>
        <p:spPr>
          <a:xfrm>
            <a:off x="4937760" y="434340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spc="400" kern="0" dirty="0">
                <a:solidFill>
                  <a:srgbClr val="CBBB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AESTHETIC ACADEMY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הסיפור שלי – ואיך הוא הופך לנכס העסקי הכי חשוב שלי?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463040"/>
            <a:ext cx="1109167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spcAft>
                <a:spcPts val="800"/>
              </a:spcAft>
              <a:buNone/>
            </a:pPr>
            <a:r>
              <a:rPr lang="he-IL" altLang="en-US" sz="1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המעבר מרופא מקצועי לבעל קליניקה מצליח מתחיל בהיכרות עמוקה עם עצמך!</a:t>
            </a:r>
            <a:endParaRPr lang="he-IL" sz="1600" dirty="0"/>
          </a:p>
          <a:p>
            <a:pPr rtl="1" algn="r" indent="0" marL="0">
              <a:lnSpc>
                <a:spcPct val="125000"/>
              </a:lnSpc>
              <a:spcAft>
                <a:spcPts val="1200"/>
              </a:spcAft>
              <a:buNone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 לא רק מה אתה יודע – אלא איך אתה מציג את זה לעולם.</a:t>
            </a:r>
            <a:endParaRPr lang="he-IL" sz="1600" dirty="0"/>
          </a:p>
          <a:p>
            <a:pPr rtl="1" algn="r" indent="0" marL="0">
              <a:lnSpc>
                <a:spcPct val="125000"/>
              </a:lnSpc>
              <a:spcAft>
                <a:spcPts val="800"/>
              </a:spcAft>
              <a:buNone/>
            </a:pPr>
            <a:r>
              <a:rPr lang="he-IL" altLang="en-US" sz="16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השלב הראשון: להבין מה אני מביא לשולחן</a:t>
            </a:r>
            <a:endParaRPr lang="he-IL" sz="1600" dirty="0"/>
          </a:p>
          <a:p>
            <a:pPr rtl="1" algn="r" indent="0" marL="0">
              <a:lnSpc>
                <a:spcPct val="125000"/>
              </a:lnSpc>
              <a:spcAft>
                <a:spcPts val="1200"/>
              </a:spcAft>
              <a:buNone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לזהות חוזקות שמאפיינות אותי כאדם וכרופא, ולצידן נקודות בהן יש לי הזדמנות לצמוח.</a:t>
            </a:r>
            <a:endParaRPr lang="he-IL" sz="1600" dirty="0"/>
          </a:p>
          <a:p>
            <a:pPr rtl="1" algn="r" indent="0" marL="0">
              <a:lnSpc>
                <a:spcPct val="125000"/>
              </a:lnSpc>
              <a:spcAft>
                <a:spcPts val="800"/>
              </a:spcAft>
              <a:buNone/>
            </a:pPr>
            <a:r>
              <a:rPr lang="he-IL" altLang="en-US" sz="1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החוזקות שלי הן לא רק מיומנויות – הן הכלי השיווקי הכי חזק שלי</a:t>
            </a:r>
            <a:endParaRPr lang="he-IL" sz="1600" dirty="0"/>
          </a:p>
          <a:p>
            <a:pPr rtl="1" algn="r" indent="0" marL="0">
              <a:lnSpc>
                <a:spcPct val="125000"/>
              </a:lnSpc>
              <a:spcAft>
                <a:spcPts val="1200"/>
              </a:spcAft>
              <a:buNone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כשאני מדגיש אותן, אני יוצר בידול בראיונות עבודה, בשיחה עם מטופלת חדשה או בשיתוף פעולה עם גורמים מסחריים</a:t>
            </a:r>
            <a:endParaRPr lang="he-IL" sz="1600" dirty="0"/>
          </a:p>
          <a:p>
            <a:pPr rtl="1" algn="r" indent="0" marL="0">
              <a:lnSpc>
                <a:spcPct val="125000"/>
              </a:lnSpc>
              <a:buNone/>
            </a:pPr>
            <a:r>
              <a:rPr lang="he-IL" altLang="en-US" sz="16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האותנטיות מנצחת.</a:t>
            </a:r>
            <a:endParaRPr lang="he-IL" sz="1600" dirty="0"/>
          </a:p>
        </p:txBody>
      </p:sp>
      <p:sp>
        <p:nvSpPr>
          <p:cNvPr id="7" name="Shape 4"/>
          <p:cNvSpPr/>
          <p:nvPr/>
        </p:nvSpPr>
        <p:spPr>
          <a:xfrm>
            <a:off x="1371600" y="4983480"/>
            <a:ext cx="10268712" cy="1234440"/>
          </a:xfrm>
          <a:prstGeom prst="roundRect">
            <a:avLst>
              <a:gd name="adj" fmla="val 7407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1645920" y="5120640"/>
            <a:ext cx="97200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ככל שתהיו מחוברים יותר לסיפור שלכם, כך תצליחו לשדר ביטחון, מקצועיות ואמון – ולהפוך את עצמכם למותג אישי שמטופלות זוכרות ובוחרות</a:t>
            </a:r>
            <a:endParaRPr lang="he-IL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מתאים לי כרופא/ה חדש/ה?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1097280" y="1078992"/>
            <a:ext cx="10543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700" b="1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השתלבות בעבודה ברשת או בקליניקה קיימת 💼</a:t>
            </a:r>
            <a:endParaRPr lang="he-IL" sz="1700" dirty="0"/>
          </a:p>
        </p:txBody>
      </p:sp>
      <p:sp>
        <p:nvSpPr>
          <p:cNvPr id="7" name="Shape 4"/>
          <p:cNvSpPr/>
          <p:nvPr/>
        </p:nvSpPr>
        <p:spPr>
          <a:xfrm>
            <a:off x="6400800" y="1691640"/>
            <a:ext cx="5239512" cy="4160520"/>
          </a:xfrm>
          <a:prstGeom prst="roundRect">
            <a:avLst>
              <a:gd name="adj" fmla="val 2198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6720840" y="1920240"/>
            <a:ext cx="4617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8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יתרונות</a:t>
            </a:r>
            <a:endParaRPr lang="he-IL" sz="1800" dirty="0"/>
          </a:p>
        </p:txBody>
      </p:sp>
      <p:sp>
        <p:nvSpPr>
          <p:cNvPr id="9" name="Text 6"/>
          <p:cNvSpPr/>
          <p:nvPr/>
        </p:nvSpPr>
        <p:spPr>
          <a:xfrm>
            <a:off x="6720840" y="2423160"/>
            <a:ext cx="461772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marL="342900" indent="-3429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מאפשרת לי “לרוץ על אוטומט” – בלי לעסוק באדמיניסטרציה, שיווק, מכירות, ניהול מלאי או ניהול עסקי</a:t>
            </a:r>
            <a:endParaRPr lang="he-IL" sz="1450" dirty="0"/>
          </a:p>
          <a:p>
            <a:pPr rtl="1" algn="r" marL="342900" indent="-3429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אני יכול/ה להתמקד בטיפולים בלבד – בלי דאגות של ניהול שוטף</a:t>
            </a:r>
            <a:endParaRPr lang="he-IL" sz="1450" dirty="0"/>
          </a:p>
          <a:p>
            <a:pPr rtl="1" algn="r" marL="342900" indent="-342900">
              <a:lnSpc>
                <a:spcPct val="112000"/>
              </a:lnSpc>
              <a:buSzPct val="100000"/>
              <a:buChar char="•"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צבירת ניסיון מעשי בסביבה קיימת וממוסדת</a:t>
            </a:r>
            <a:endParaRPr lang="he-IL" sz="1450" dirty="0"/>
          </a:p>
        </p:txBody>
      </p:sp>
      <p:sp>
        <p:nvSpPr>
          <p:cNvPr id="10" name="Shape 7"/>
          <p:cNvSpPr/>
          <p:nvPr/>
        </p:nvSpPr>
        <p:spPr>
          <a:xfrm>
            <a:off x="548640" y="1691640"/>
            <a:ext cx="5577840" cy="4160520"/>
          </a:xfrm>
          <a:prstGeom prst="roundRect">
            <a:avLst>
              <a:gd name="adj" fmla="val 219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868680" y="192024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8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חסרונות</a:t>
            </a:r>
            <a:endParaRPr lang="he-IL" sz="1800" dirty="0"/>
          </a:p>
        </p:txBody>
      </p:sp>
      <p:sp>
        <p:nvSpPr>
          <p:cNvPr id="12" name="Text 9"/>
          <p:cNvSpPr/>
          <p:nvPr/>
        </p:nvSpPr>
        <p:spPr>
          <a:xfrm>
            <a:off x="868680" y="2423160"/>
            <a:ext cx="493776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רוב הרשתות דורשות התחייבות ארוכת טווח – מה שעלול להגביל אותי ביציאה לדרך עצמאית בעתיד הקרוב</a:t>
            </a:r>
            <a:endParaRPr lang="he-IL" sz="1350" dirty="0"/>
          </a:p>
          <a:p>
            <a:pPr rtl="1" algn="r"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למרות שאני הסמכות הרפואית – ההחלטות מתקבלות מעליי, ולעיתים בניגוד לגישה או לערכים שלי</a:t>
            </a:r>
            <a:endParaRPr lang="he-IL" sz="1350" dirty="0"/>
          </a:p>
          <a:p>
            <a:pPr rtl="1" algn="r"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העבודה אינה בבעלותי – אני בונה עסק עבור מישהו אחר</a:t>
            </a:r>
            <a:endParaRPr lang="he-IL" sz="1350" dirty="0"/>
          </a:p>
          <a:p>
            <a:pPr rtl="1" algn="r"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קיימת אפשרות שיתבקש ממני לבצע טיפולים או החלטות שאני פחות מתחבר/ת אליהן מקצועית או אתית</a:t>
            </a:r>
            <a:endParaRPr lang="he-IL" sz="1350" dirty="0"/>
          </a:p>
          <a:p>
            <a:pPr rtl="1" algn="r" marL="342900" indent="-342900">
              <a:lnSpc>
                <a:spcPct val="110000"/>
              </a:lnSpc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התמורה הכספית מוגבלת יחסית לערך שאני מייצר בפועל</a:t>
            </a:r>
            <a:endParaRPr lang="he-IL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קליניקה קיימת מול יציאה לעצמאות מלאה</a:t>
            </a:r>
            <a:endParaRPr lang="he-IL" sz="2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4663440"/>
                <a:gridCol w="4416552"/>
                <a:gridCol w="2011680"/>
              </a:tblGrid>
              <a:tr h="56692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יציאה לעצמאות מלאה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עבודה בקליניקה קיימת / רשת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היבט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6E5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מלאה – כל החלטה בידיים שלך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מוגבלת – ההחלטות מתקבלות ע״י מנהלים או הבעלים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שליטה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את/ה בוחר/ת את קווי השירות, סוג הטיפולים וסגנון העבודה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כפוף לפרוטוקולים ומדיניות הקליניקה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חופש מקצועי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נדרש/ת לנהל: מלאי, שיווק, שירות לקוחות, כספים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ללא התעסקות – הכול מנוהל עבורך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אדמיניסטרציה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פוטנציאל הכנסה גבוה – תלוי בך בלבד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קבוע, לרוב נמוך ביחס לפוטנציאל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תזרים והכנסה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גבוה יותר – נדרש זמן לבנייה והתבססות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נמוך – יציבות תעסוקתית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סיכון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גבוהה – בניית מותג אישי וצמיחה עסקית אמיתית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מוגבלת – התפתחות בתוך מסגרת קיימת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צמיחה אישית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מלאה – אתה הבעלים, המנהל והפנים של הקליניקה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אין – אתה עובד בעסק של מישהו אחר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תחושת בעלות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1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נקודת ההתחלה של כל טיפול – היא ההבנה שהמטופלת מולכם לא מחפשת רק שינוי, אלא תחושת ערך עצמי מחודשת.</a:t>
            </a:r>
            <a:endParaRPr lang="he-IL" sz="2100" dirty="0"/>
          </a:p>
        </p:txBody>
      </p:sp>
      <p:sp>
        <p:nvSpPr>
          <p:cNvPr id="6" name="Text 3"/>
          <p:cNvSpPr/>
          <p:nvPr/>
        </p:nvSpPr>
        <p:spPr>
          <a:xfrm>
            <a:off x="548640" y="1600200"/>
            <a:ext cx="11091672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לפעמים היא מגיעה עם רצון לשפר אזור מסוים</a:t>
            </a:r>
            <a:endParaRPr lang="he-IL" sz="1600" dirty="0"/>
          </a:p>
          <a:p>
            <a:pPr rtl="1" algn="r"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אבל מאחורי הבקשה מסתתרות גם חוויות, רגישויות ולעיתים אפילו סבל רגשי</a:t>
            </a:r>
            <a:endParaRPr lang="he-IL" sz="1600" dirty="0"/>
          </a:p>
          <a:p>
            <a:pPr rtl="1" algn="r" marL="342900" indent="-3429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ברפואה אסתטית אין מטרה שהיא רק “קוסמטית”</a:t>
            </a:r>
            <a:endParaRPr lang="he-IL" sz="1600" dirty="0"/>
          </a:p>
          <a:p>
            <a:pPr rtl="1" algn="r" marL="342900" indent="-3429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שינוי חיצוני טומן בתוכו השפעה עמוקה – על הדימוי העצמי, על הביטחון, ועל איכות החיים.</a:t>
            </a:r>
            <a:endParaRPr lang="he-IL" sz="1600" dirty="0"/>
          </a:p>
          <a:p>
            <a:pPr rtl="1" algn="r"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he-IL" altLang="en-US" sz="16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לכן חשוב לזכור:</a:t>
            </a:r>
            <a:endParaRPr lang="he-IL" sz="1600" dirty="0"/>
          </a:p>
          <a:p>
            <a:pPr rtl="1" algn="r" marL="342900" indent="-3429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הטיפול האמיתי מתחיל הרבה לפני המזרק.</a:t>
            </a:r>
            <a:endParaRPr lang="he-IL" sz="1600" dirty="0"/>
          </a:p>
          <a:p>
            <a:pPr rtl="1" algn="r" marL="342900" indent="-342900">
              <a:lnSpc>
                <a:spcPct val="112000"/>
              </a:lnSpc>
              <a:buSzPct val="100000"/>
              <a:buChar char="•"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הוא מתחיל בהקשבה. ביכולת לזהות את הגבול בין מה שהיא רוצה – למה שהיא באמת צריכה.</a:t>
            </a:r>
            <a:endParaRPr lang="he-IL" sz="1600" dirty="0"/>
          </a:p>
        </p:txBody>
      </p:sp>
      <p:sp>
        <p:nvSpPr>
          <p:cNvPr id="7" name="Shape 4"/>
          <p:cNvSpPr/>
          <p:nvPr/>
        </p:nvSpPr>
        <p:spPr>
          <a:xfrm>
            <a:off x="1371600" y="4754880"/>
            <a:ext cx="10268712" cy="1463040"/>
          </a:xfrm>
          <a:prstGeom prst="roundRect">
            <a:avLst>
              <a:gd name="adj" fmla="val 6250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1645920" y="4937760"/>
            <a:ext cx="97200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he-IL" altLang="en-US" sz="15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המטופלת תזכור את הדרך לא פחות מהתוצאה.</a:t>
            </a:r>
            <a:endParaRPr lang="he-IL" sz="155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היא תזכור אם ראיתם אותה באמת, אם הסברתם לה בכנות, אם ידעתם להציב גבולות – גם כשהיא לא ידעה להציבם לעצמה.</a:t>
            </a:r>
            <a:endParaRPr lang="he-IL" sz="15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אתם לא מוכרים טיפול – אתם בונים אמון.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6263640" y="1554480"/>
            <a:ext cx="5376672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4000"/>
              </a:lnSpc>
              <a:spcAft>
                <a:spcPts val="800"/>
              </a:spcAft>
              <a:buNone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ברפואה אסתטית, הקסם לא מתחיל במזרק – אלא בחיבור האנושי.</a:t>
            </a:r>
            <a:endParaRPr lang="he-IL" sz="1450" dirty="0"/>
          </a:p>
          <a:p>
            <a:pPr rtl="1" algn="r" indent="0" marL="0">
              <a:lnSpc>
                <a:spcPct val="114000"/>
              </a:lnSpc>
              <a:spcAft>
                <a:spcPts val="800"/>
              </a:spcAft>
              <a:buNone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המטופלת בוחרת בכם לא בגלל המחיר – אלא בגלל התחושה שאתם מעניקים לה.</a:t>
            </a:r>
            <a:endParaRPr lang="he-IL" sz="1450" dirty="0"/>
          </a:p>
          <a:p>
            <a:pPr rtl="1" algn="r" indent="0" marL="0">
              <a:lnSpc>
                <a:spcPct val="114000"/>
              </a:lnSpc>
              <a:spcAft>
                <a:spcPts val="800"/>
              </a:spcAft>
              <a:buNone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ככל שתהיו נוכחים, קשובים ואותנטיים – כך תצליחו לייצר חוויה מנצחת.</a:t>
            </a:r>
            <a:endParaRPr lang="he-IL" sz="1450" dirty="0"/>
          </a:p>
          <a:p>
            <a:pPr rtl="1" algn="r" indent="0" marL="0">
              <a:lnSpc>
                <a:spcPct val="114000"/>
              </a:lnSpc>
              <a:spcAft>
                <a:spcPts val="1200"/>
              </a:spcAft>
              <a:buNone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חוויה שמבוססת על קשר אישי, על הקשבה אמיתית לחששות, ועל הובלה מקצועית עם רגישות.</a:t>
            </a:r>
            <a:endParaRPr lang="he-IL" sz="1450" dirty="0"/>
          </a:p>
          <a:p>
            <a:pPr rtl="1" algn="r"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he-IL" altLang="en-US" sz="14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זכרו:</a:t>
            </a:r>
            <a:endParaRPr lang="he-IL" sz="1450" dirty="0"/>
          </a:p>
          <a:p>
            <a:pPr rtl="1" algn="r"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he-IL" altLang="en-US" sz="14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 שמוכר בזול – מתחרה על מחיר.</a:t>
            </a:r>
            <a:endParaRPr lang="he-IL" sz="1450" dirty="0"/>
          </a:p>
          <a:p>
            <a:pPr rtl="1" algn="r" indent="0" marL="0">
              <a:lnSpc>
                <a:spcPct val="114000"/>
              </a:lnSpc>
              <a:buNone/>
            </a:pPr>
            <a:r>
              <a:rPr lang="he-IL" altLang="en-US" sz="14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 שמוביל ברגש ובערך – הופך לבחירה הברורה.</a:t>
            </a:r>
            <a:endParaRPr lang="he-IL" sz="1450" dirty="0"/>
          </a:p>
        </p:txBody>
      </p:sp>
      <p:sp>
        <p:nvSpPr>
          <p:cNvPr id="7" name="Shape 4"/>
          <p:cNvSpPr/>
          <p:nvPr/>
        </p:nvSpPr>
        <p:spPr>
          <a:xfrm>
            <a:off x="548640" y="1417320"/>
            <a:ext cx="5440680" cy="4709160"/>
          </a:xfrm>
          <a:prstGeom prst="roundRect">
            <a:avLst>
              <a:gd name="adj" fmla="val 1942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68680" y="1645920"/>
            <a:ext cx="4800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6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כן חשוב להדגיש בשיחה עם מטופלת חדשה?</a:t>
            </a:r>
            <a:endParaRPr lang="he-IL" sz="1600" dirty="0"/>
          </a:p>
        </p:txBody>
      </p:sp>
      <p:sp>
        <p:nvSpPr>
          <p:cNvPr id="9" name="Text 6"/>
          <p:cNvSpPr/>
          <p:nvPr/>
        </p:nvSpPr>
        <p:spPr>
          <a:xfrm>
            <a:off x="868680" y="2423160"/>
            <a:ext cx="48006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marL="342900" indent="-3429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להבהיר לה שאתם כאן כדי להבין את הרצון האישי שלה – לא רק את הבעיה הטכנית.</a:t>
            </a:r>
            <a:endParaRPr lang="he-IL" sz="1400" dirty="0"/>
          </a:p>
          <a:p>
            <a:pPr rtl="1" algn="r"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•"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לנסח יחד ציפיות מדויקות ונכונות – ולתכנן תוצאה שמתאימה לה, לא לאחרות.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והכי חשוב: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טיפול טוב הוא כזה שמייצר קשר, ולא רק תוצאה.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בסוף, התחושה שהענקתם לה – תלווה אותה הרבה אחרי שהתוצאה תתייצב.</a:t>
            </a:r>
            <a:endParaRPr lang="he-IL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תפקידכם כרופאים ברפואה האסתטית?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5852160" y="1463040"/>
            <a:ext cx="5788152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לתרגם את הרצון – לפרוטוקול טיפולי אחראי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כל מה שהמטופלת מבקשת – נכון לה.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האחריות שלכם היא לדעת מתי להגיד “לא”, מתי להמליץ על תהליך הדרגתי,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ומתי להסביר לה שהשינוי האמיתי יקרה לא רק בפנים – אלא בתחושה.</a:t>
            </a:r>
            <a:endParaRPr lang="he-IL" sz="1400" dirty="0"/>
          </a:p>
          <a:p>
            <a:pPr rtl="1" algn="r"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לראות את המטופלת – ולא רק את הקמט.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לשאול את עצמכם: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באמת עומד מאחורי הבקשה שלה?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היא מחפשת שיראו בה – כשהיא מבקשת לשנות?</a:t>
            </a:r>
            <a:endParaRPr lang="he-IL" sz="1400" dirty="0"/>
          </a:p>
          <a:p>
            <a:pPr rtl="1" algn="r"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לטפל מתוך חמלה, אבל גם מתוך גבולות בריאים.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מטופלת שמגיעה עם ציפיות לא ריאליות – זקוקה לרופא שלא רק “מבצע”, אלא גם מוביל.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כי רופא טוב יודע גם מתי לא להזריק.</a:t>
            </a:r>
            <a:endParaRPr lang="he-IL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2148840"/>
            <a:ext cx="5029200" cy="2743200"/>
          </a:xfrm>
          <a:prstGeom prst="roundRect">
            <a:avLst>
              <a:gd name="adj" fmla="val 3333"/>
            </a:avLst>
          </a:prstGeom>
          <a:solidFill>
            <a:srgbClr val="1B1713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68680" y="2148840"/>
            <a:ext cx="43891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he-IL" altLang="en-US" sz="1550" b="1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בסופו של דבר – רפואה אסתטית היא שליחות.</a:t>
            </a:r>
            <a:endParaRPr lang="he-IL" sz="1550" dirty="0"/>
          </a:p>
          <a:p>
            <a:pPr rtl="1" algn="r"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he-IL" altLang="en-US" sz="1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אתם לא רק משפיעים על מראה – אתם נוגעים בזהות.</a:t>
            </a:r>
            <a:endParaRPr lang="he-IL" sz="1550" dirty="0"/>
          </a:p>
          <a:p>
            <a:pPr rtl="1" algn="r"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he-IL" altLang="en-US" sz="1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ככל שתפעלו מתוך מקצועיות, יושרה וחיבור אנושי –</a:t>
            </a:r>
            <a:endParaRPr lang="he-IL" sz="1550" dirty="0"/>
          </a:p>
          <a:p>
            <a:pPr rtl="1" algn="r" indent="0" marL="0">
              <a:lnSpc>
                <a:spcPct val="118000"/>
              </a:lnSpc>
              <a:buNone/>
            </a:pPr>
            <a:r>
              <a:rPr lang="he-IL" alt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כך תיצרו טיפולים משני חיים, ולא רק משני פנים.</a:t>
            </a:r>
            <a:endParaRPr lang="he-IL" sz="15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2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לעלות מדרגה – ולהוביל את הטיפול, גם כשהמטופלת “כבר יודעת מה היא רוצה”</a:t>
            </a:r>
            <a:endParaRPr lang="he-IL" sz="2200" dirty="0"/>
          </a:p>
        </p:txBody>
      </p:sp>
      <p:sp>
        <p:nvSpPr>
          <p:cNvPr id="6" name="Text 3"/>
          <p:cNvSpPr/>
          <p:nvPr/>
        </p:nvSpPr>
        <p:spPr>
          <a:xfrm>
            <a:off x="548640" y="1463040"/>
            <a:ext cx="1109167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יותר ויותר מטופלות מגיעות עם תוכנית טיפול מוכנה</a:t>
            </a:r>
            <a:endParaRPr lang="he-IL" sz="1550" dirty="0"/>
          </a:p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הן חושבות שהן יודעות איזה חומר הן צריכות, באיזו אינדיקציה, ובאיזה אזור להזריק.</a:t>
            </a:r>
            <a:endParaRPr lang="he-IL" sz="1550" dirty="0"/>
          </a:p>
          <a:p>
            <a:pPr rtl="1" algn="r" indent="0" marL="0">
              <a:lnSpc>
                <a:spcPct val="112000"/>
              </a:lnSpc>
              <a:spcAft>
                <a:spcPts val="1200"/>
              </a:spcAft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הן לא תמיד טועות – אבל לרוב הן מושפעות מתוכן ברשתות, המלצות של חברות או ניסיון עבר, ולא מהבנה קלינית אמיתית</a:t>
            </a:r>
            <a:endParaRPr lang="he-IL" sz="1550" dirty="0"/>
          </a:p>
          <a:p>
            <a:pPr rtl="1" algn="r"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כאן נכנס התפקיד הקריטי שלכם כרופאים.</a:t>
            </a:r>
            <a:endParaRPr lang="he-IL" sz="1550" dirty="0"/>
          </a:p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התפקיד שלכם הוא לעצור – ולבחון מחדש את מה שהיא מבקשת.</a:t>
            </a:r>
            <a:endParaRPr lang="he-IL" sz="155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להבין את מקור הרצון, לחשוף את הצורך האמיתי, ולבנות תוכנית טיפול מקצועית, מותאמת, הדרגתית ואחראית.</a:t>
            </a:r>
            <a:endParaRPr lang="he-IL" sz="1550" dirty="0"/>
          </a:p>
        </p:txBody>
      </p:sp>
      <p:sp>
        <p:nvSpPr>
          <p:cNvPr id="7" name="Shape 4"/>
          <p:cNvSpPr/>
          <p:nvPr/>
        </p:nvSpPr>
        <p:spPr>
          <a:xfrm>
            <a:off x="548640" y="4343400"/>
            <a:ext cx="11091672" cy="1874520"/>
          </a:xfrm>
          <a:prstGeom prst="roundRect">
            <a:avLst>
              <a:gd name="adj" fmla="val 4878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68680" y="4526280"/>
            <a:ext cx="1045159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spcAft>
                <a:spcPts val="800"/>
              </a:spcAft>
              <a:buNone/>
            </a:pPr>
            <a:r>
              <a:rPr lang="he-IL" altLang="en-US" sz="14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דוגמה מהקליניקה: מטופלת שמבקשת הזרקה לקמט ספציפי</a:t>
            </a:r>
            <a:endParaRPr lang="he-IL" sz="1450" dirty="0"/>
          </a:p>
          <a:p>
            <a:pPr rtl="1" algn="r"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ייתכן שהבעיה האמיתית בכלל נובעת מהשקע הטבעי במרכז הפנים או משינויים במבנה העצמות</a:t>
            </a:r>
            <a:endParaRPr lang="he-IL" sz="1450" dirty="0"/>
          </a:p>
          <a:p>
            <a:pPr rtl="1" algn="r"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היא תיארה “קמט”, אבל אתם כרופאים רואים חוסר נפח או שקיעה במבנה תומך</a:t>
            </a:r>
            <a:endParaRPr lang="he-IL" sz="1450" dirty="0"/>
          </a:p>
          <a:p>
            <a:pPr rtl="1" algn="r" indent="0" marL="0">
              <a:lnSpc>
                <a:spcPct val="110000"/>
              </a:lnSpc>
              <a:buNone/>
            </a:pPr>
            <a:r>
              <a:rPr lang="he-IL" altLang="en-US" sz="14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חשוב שתסבירו לה את ההבדל, תובילו אותה למקום הנכון – גם אם זה שונה ממה שביקשה</a:t>
            </a:r>
            <a:endParaRPr lang="he-IL" sz="1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חשוב: להוביל תכנון משולב – גם מהיבט קליני וגם מהיבט כלכלי.</a:t>
            </a:r>
            <a:endParaRPr lang="he-IL" sz="2400" dirty="0"/>
          </a:p>
        </p:txBody>
      </p:sp>
      <p:sp>
        <p:nvSpPr>
          <p:cNvPr id="6" name="Text 3"/>
          <p:cNvSpPr/>
          <p:nvPr/>
        </p:nvSpPr>
        <p:spPr>
          <a:xfrm>
            <a:off x="548640" y="1463040"/>
            <a:ext cx="1109167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השאיפה היא לבנות טיפול הוליסטי – כזה שמבוסס על האבחנה הקלינית,</a:t>
            </a:r>
            <a:endParaRPr lang="he-IL" sz="1600" dirty="0"/>
          </a:p>
          <a:p>
            <a:pPr rtl="1" algn="r" indent="0" marL="0">
              <a:lnSpc>
                <a:spcPct val="114000"/>
              </a:lnSpc>
              <a:spcAft>
                <a:spcPts val="1000"/>
              </a:spcAft>
              <a:buNone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אך גם על היכולת של המטופלת לעמוד בו לאורך זמן</a:t>
            </a:r>
            <a:endParaRPr lang="he-IL" sz="1600" dirty="0"/>
          </a:p>
          <a:p>
            <a:pPr rtl="1" algn="r" indent="0" marL="0">
              <a:lnSpc>
                <a:spcPct val="114000"/>
              </a:lnSpc>
              <a:spcAft>
                <a:spcPts val="1000"/>
              </a:spcAft>
              <a:buNone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שימוש מושכל באסטרטגיית שילוב (חומרים/אזורים/אינדיקציות) יאפשר לכם למקסם את האפקט – וגם לדרג את המחיר באופן חכם ולא מאיים.</a:t>
            </a:r>
            <a:endParaRPr lang="he-IL" sz="1600" dirty="0"/>
          </a:p>
          <a:p>
            <a:pPr rtl="1" algn="r"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טיפולים שמובנים בשלבים, עם התאמה תקציבית – יסייעו למטופלת להתחייב רגשית וכלכלית</a:t>
            </a:r>
            <a:endParaRPr lang="he-IL" sz="1600" dirty="0"/>
          </a:p>
          <a:p>
            <a:pPr rtl="1" algn="r" indent="0" marL="0">
              <a:lnSpc>
                <a:spcPct val="114000"/>
              </a:lnSpc>
              <a:buNone/>
            </a:pPr>
            <a:r>
              <a:rPr lang="he-IL" altLang="en-US" sz="1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ולהרגיש שהיא מובלת ולא “נמכרת לה הזרקה”</a:t>
            </a:r>
            <a:endParaRPr lang="he-IL" sz="1600" dirty="0"/>
          </a:p>
        </p:txBody>
      </p:sp>
      <p:sp>
        <p:nvSpPr>
          <p:cNvPr id="7" name="Shape 4"/>
          <p:cNvSpPr/>
          <p:nvPr/>
        </p:nvSpPr>
        <p:spPr>
          <a:xfrm>
            <a:off x="548640" y="4297680"/>
            <a:ext cx="11091672" cy="1874520"/>
          </a:xfrm>
          <a:prstGeom prst="roundRect">
            <a:avLst>
              <a:gd name="adj" fmla="val 4878"/>
            </a:avLst>
          </a:prstGeom>
          <a:solidFill>
            <a:srgbClr val="1B1713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68680" y="4526280"/>
            <a:ext cx="1045159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he-IL" altLang="en-US" sz="1550" b="1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דוגמאות לשילובים חכמים – לא “למכור מזרק”, אלא לבנות טיפול</a:t>
            </a:r>
            <a:endParaRPr lang="he-IL" sz="155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במקום “למכור מזרק למילוי”, עברו לחשוב במונחים של טיפול הוליסטי לאזור שלם – כזה שמתייחס למרקם העור, למבנה התומך, לשרירים ולגוון.</a:t>
            </a:r>
            <a:endParaRPr lang="he-IL" sz="15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🪞 טכניקת שיקוף – כלי תקשורתי קריטי לרופאי אסתטיקה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417320"/>
            <a:ext cx="1109167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he-IL" altLang="en-US" sz="16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זה שיקוף?</a:t>
            </a:r>
            <a:endParaRPr lang="he-IL" sz="1600" dirty="0"/>
          </a:p>
          <a:p>
            <a:pPr rtl="1" algn="r"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שיקוף זו טכניקה מעולם הטיפול והאימון בה משקפים למטופלת את מה שהיא אומרת/מרגישה – אבל בשפה נקייה, רגשית, ולעיתים גם רפואית.</a:t>
            </a:r>
            <a:endParaRPr lang="he-IL" sz="1600" dirty="0"/>
          </a:p>
          <a:p>
            <a:pPr rtl="1" algn="r" indent="0" marL="0">
              <a:lnSpc>
                <a:spcPct val="118000"/>
              </a:lnSpc>
              <a:buNone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המטרה: לגרום לה להרגיש שמבינים אותה, מבלי להסכים בהכרח, ובו זמנית להוביל אותה להבנה מקצועית ונכונה יותר של המצב.</a:t>
            </a:r>
            <a:endParaRPr lang="he-IL" sz="1600" dirty="0"/>
          </a:p>
        </p:txBody>
      </p:sp>
      <p:sp>
        <p:nvSpPr>
          <p:cNvPr id="7" name="Text 4"/>
          <p:cNvSpPr/>
          <p:nvPr/>
        </p:nvSpPr>
        <p:spPr>
          <a:xfrm>
            <a:off x="548640" y="342900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7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✳️ דוגמאות קליניות:</a:t>
            </a:r>
            <a:endParaRPr lang="he-IL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3931920"/>
            <a:ext cx="11091672" cy="2240280"/>
          </a:xfrm>
          <a:prstGeom prst="roundRect">
            <a:avLst>
              <a:gd name="adj" fmla="val 4082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68680" y="4114800"/>
            <a:ext cx="1045159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he-IL" altLang="en-US" sz="15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מטופלת: “אני מרגישה שעשיתי ולא רואים כלום!”</a:t>
            </a:r>
            <a:endParaRPr lang="he-IL" sz="1500" dirty="0"/>
          </a:p>
          <a:p>
            <a:pPr rtl="1" algn="r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he-IL" altLang="en-US" sz="1500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שיקוף:</a:t>
            </a:r>
            <a:endParaRPr lang="he-IL" sz="1500" dirty="0"/>
          </a:p>
          <a:p>
            <a:pPr rtl="1" algn="r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he-IL" altLang="en-US" sz="15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“זה נשמע שאת מרגישה שהתוצאה עדיין לא בולטת כמו שציפית – וזה יכול לתסכל, בטח כשאת משקיעה זמן וכסף.</a:t>
            </a:r>
            <a:endParaRPr lang="he-IL" sz="150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5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בואי נסתכל ביחד בתמונות ונבדוק את ההבדל.”</a:t>
            </a:r>
            <a:endParaRPr lang="he-IL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6263640" y="960120"/>
            <a:ext cx="5376672" cy="3200400"/>
          </a:xfrm>
          <a:prstGeom prst="roundRect">
            <a:avLst>
              <a:gd name="adj" fmla="val 2857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6583680" y="1188720"/>
            <a:ext cx="4754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he-IL" altLang="en-US" sz="13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מטופלת: “אני רוצה רק מילוי בשפתיים למעלה”</a:t>
            </a:r>
            <a:endParaRPr lang="he-IL" sz="1350" dirty="0"/>
          </a:p>
          <a:p>
            <a:pPr rtl="1" algn="r"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he-IL" altLang="en-US" sz="1350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שיקוף:</a:t>
            </a:r>
            <a:endParaRPr lang="he-IL" sz="1350" dirty="0"/>
          </a:p>
          <a:p>
            <a:pPr rtl="1" algn="r" indent="0" marL="0">
              <a:lnSpc>
                <a:spcPct val="114000"/>
              </a:lnSpc>
              <a:spcAft>
                <a:spcPts val="400"/>
              </a:spcAft>
              <a:buNone/>
            </a:pPr>
            <a:r>
              <a:rPr lang="he-IL" altLang="en-US" sz="13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“אני שומעת שאת מאוד ממוקדת באזור אחד שאת רואה מול העיניים – השפה העליונה.</a:t>
            </a:r>
            <a:endParaRPr lang="he-IL" sz="1350" dirty="0"/>
          </a:p>
          <a:p>
            <a:pPr rtl="1" algn="r" indent="0" marL="0">
              <a:lnSpc>
                <a:spcPct val="114000"/>
              </a:lnSpc>
              <a:spcAft>
                <a:spcPts val="400"/>
              </a:spcAft>
              <a:buNone/>
            </a:pPr>
            <a:r>
              <a:rPr lang="he-IL" altLang="en-US" sz="13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לפעמים מה שאנחנו רואים מול המראה זה רק חלק מהתמונה המלאה.</a:t>
            </a:r>
            <a:endParaRPr lang="he-IL" sz="1350" dirty="0"/>
          </a:p>
          <a:p>
            <a:pPr rtl="1" algn="r" indent="0" marL="0">
              <a:lnSpc>
                <a:spcPct val="114000"/>
              </a:lnSpc>
              <a:buNone/>
            </a:pPr>
            <a:r>
              <a:rPr lang="he-IL" altLang="en-US" sz="13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אני רוצה לבדוק איתך אם את פתוחה שנביט יחד בפרופורציות הכלליות של הפנים, ואז אראה לך את ההמלצה הרפואית שלי.”</a:t>
            </a:r>
            <a:endParaRPr lang="he-IL" sz="1350" dirty="0"/>
          </a:p>
        </p:txBody>
      </p:sp>
      <p:sp>
        <p:nvSpPr>
          <p:cNvPr id="7" name="Shape 4"/>
          <p:cNvSpPr/>
          <p:nvPr/>
        </p:nvSpPr>
        <p:spPr>
          <a:xfrm>
            <a:off x="548640" y="960120"/>
            <a:ext cx="5440680" cy="3200400"/>
          </a:xfrm>
          <a:prstGeom prst="roundRect">
            <a:avLst>
              <a:gd name="adj" fmla="val 2857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68680" y="1188720"/>
            <a:ext cx="4800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he-IL" altLang="en-US" sz="13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מטופלת: “מה שחשוב לי זה שלא יראו שעשיתי כלום!”</a:t>
            </a:r>
            <a:endParaRPr lang="he-IL" sz="1350" dirty="0"/>
          </a:p>
          <a:p>
            <a:pPr rtl="1" algn="r"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he-IL" altLang="en-US" sz="1350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שיקוף:</a:t>
            </a:r>
            <a:endParaRPr lang="he-IL" sz="1350" dirty="0"/>
          </a:p>
          <a:p>
            <a:pPr rtl="1" algn="r" indent="0" marL="0">
              <a:lnSpc>
                <a:spcPct val="114000"/>
              </a:lnSpc>
              <a:spcAft>
                <a:spcPts val="400"/>
              </a:spcAft>
              <a:buNone/>
            </a:pPr>
            <a:r>
              <a:rPr lang="he-IL" altLang="en-US" sz="13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“הכי חשוב לך שיראו אותך – לא את ההזרקה. אני איתך בזה.</a:t>
            </a:r>
            <a:endParaRPr lang="he-IL" sz="1350" dirty="0"/>
          </a:p>
          <a:p>
            <a:pPr rtl="1" algn="r" indent="0" marL="0">
              <a:lnSpc>
                <a:spcPct val="114000"/>
              </a:lnSpc>
              <a:buNone/>
            </a:pPr>
            <a:r>
              <a:rPr lang="he-IL" altLang="en-US" sz="13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אנחנו יכולים לבנות תוכנית מדויקת מאוד שתחזק את מה שיש, בלי להיראות ‘עשוי’.”</a:t>
            </a:r>
            <a:endParaRPr lang="he-IL" sz="1350" dirty="0"/>
          </a:p>
        </p:txBody>
      </p:sp>
      <p:sp>
        <p:nvSpPr>
          <p:cNvPr id="9" name="Shape 6"/>
          <p:cNvSpPr/>
          <p:nvPr/>
        </p:nvSpPr>
        <p:spPr>
          <a:xfrm>
            <a:off x="548640" y="4343400"/>
            <a:ext cx="11091672" cy="1828800"/>
          </a:xfrm>
          <a:prstGeom prst="roundRect">
            <a:avLst>
              <a:gd name="adj" fmla="val 5000"/>
            </a:avLst>
          </a:prstGeom>
          <a:solidFill>
            <a:srgbClr val="1B1713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68680" y="4526280"/>
            <a:ext cx="1045159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he-IL" altLang="en-US" sz="1450" b="1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כללי זהב לשיקוף:</a:t>
            </a:r>
            <a:endParaRPr lang="he-IL" sz="1450" dirty="0"/>
          </a:p>
          <a:p>
            <a:pPr rtl="1" algn="r"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he-IL" altLang="en-US" sz="14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להתחיל ב-“אני שומע/ת ש…” או “נשמע ש…”</a:t>
            </a:r>
            <a:endParaRPr lang="he-IL" sz="1450" dirty="0"/>
          </a:p>
          <a:p>
            <a:pPr rtl="1" algn="r"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he-IL" altLang="en-US" sz="14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להזדהות עם הרגש – לא עם הדרישה</a:t>
            </a:r>
            <a:endParaRPr lang="he-IL" sz="1450" dirty="0"/>
          </a:p>
          <a:p>
            <a:pPr rtl="1" algn="r" marL="342900" indent="-342900">
              <a:lnSpc>
                <a:spcPct val="112000"/>
              </a:lnSpc>
              <a:buSzPct val="100000"/>
              <a:buChar char="•"/>
            </a:pPr>
            <a:r>
              <a:rPr lang="he-IL" altLang="en-US" sz="14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להוביל לתחום שלך: “בואי אראה לך איך אני רואה את זה מקצועית”</a:t>
            </a:r>
            <a:endParaRPr lang="he-IL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📋 בניית תוכנית טיפול מול מטופלת “יודעת הכול”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37160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סיטואציה נפוצה: מטופלת באה עם רשימת דרישות: “תעשה לי רק לחיים, בוטוקס כאן, ומילוי פה” כאילו מדובר בתפריט.</a:t>
            </a:r>
            <a:endParaRPr lang="he-IL" sz="150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5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הסכנה: איבוד הסמכות המקצועית, פגיעה בתוצאה, אחריות על החלטות לא רפואיות.</a:t>
            </a:r>
            <a:endParaRPr lang="he-IL" sz="1500" dirty="0"/>
          </a:p>
        </p:txBody>
      </p:sp>
      <p:sp>
        <p:nvSpPr>
          <p:cNvPr id="7" name="Text 4"/>
          <p:cNvSpPr/>
          <p:nvPr/>
        </p:nvSpPr>
        <p:spPr>
          <a:xfrm>
            <a:off x="548640" y="26060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7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🧠 איך לנהל את הסיטואציה?</a:t>
            </a:r>
            <a:endParaRPr lang="he-IL" sz="1700" dirty="0"/>
          </a:p>
        </p:txBody>
      </p:sp>
      <p:sp>
        <p:nvSpPr>
          <p:cNvPr id="8" name="Text 5"/>
          <p:cNvSpPr/>
          <p:nvPr/>
        </p:nvSpPr>
        <p:spPr>
          <a:xfrm>
            <a:off x="548640" y="3063240"/>
            <a:ext cx="1109167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4000"/>
              </a:lnSpc>
              <a:spcAft>
                <a:spcPts val="400"/>
              </a:spcAft>
              <a:buNone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שיקוף הציפייה שלה</a:t>
            </a:r>
            <a:endParaRPr lang="he-IL" sz="1400" dirty="0"/>
          </a:p>
          <a:p>
            <a:pPr rtl="1" algn="r" indent="0" marL="0">
              <a:lnSpc>
                <a:spcPct val="114000"/>
              </a:lnSpc>
              <a:spcAft>
                <a:spcPts val="800"/>
              </a:spcAft>
              <a:buNone/>
            </a:pPr>
            <a:r>
              <a:rPr lang="he-IL" altLang="en-US" sz="14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“אני רואה שכבר יש לך רעיון ברור מה את רוצה – זה מצוין, זה אומר שאת יודעת מה מפריע לך.”</a:t>
            </a:r>
            <a:endParaRPr lang="he-IL" sz="1400" dirty="0"/>
          </a:p>
          <a:p>
            <a:pPr rtl="1" algn="r" indent="0" marL="0">
              <a:lnSpc>
                <a:spcPct val="114000"/>
              </a:lnSpc>
              <a:spcAft>
                <a:spcPts val="400"/>
              </a:spcAft>
              <a:buNone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להחזיר את הכוח למומחיות שלך</a:t>
            </a:r>
            <a:endParaRPr lang="he-IL" sz="1400" dirty="0"/>
          </a:p>
          <a:p>
            <a:pPr rtl="1" algn="r" indent="0" marL="0">
              <a:lnSpc>
                <a:spcPct val="114000"/>
              </a:lnSpc>
              <a:spcAft>
                <a:spcPts val="800"/>
              </a:spcAft>
              <a:buNone/>
            </a:pPr>
            <a:r>
              <a:rPr lang="he-IL" altLang="en-US" sz="14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“התפקיד שלי כרופא הוא לראות גם את מה שלא רואים מול המראה. אם את מסכימה – נבדוק יחד את כל הפרופורציות ונבנה תוכנית שתשלב את הרצונות שלך עם מה שייתן לך תוצאה טבעית, הרמונית ולטווח ארוך.”</a:t>
            </a:r>
            <a:endParaRPr lang="he-IL" sz="1400" dirty="0"/>
          </a:p>
          <a:p>
            <a:pPr rtl="1" algn="r" indent="0" marL="0">
              <a:lnSpc>
                <a:spcPct val="114000"/>
              </a:lnSpc>
              <a:spcAft>
                <a:spcPts val="400"/>
              </a:spcAft>
              <a:buNone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המחשה ויזואלית (תמונות של אחרים, הסבר על אנטומיה)</a:t>
            </a:r>
            <a:endParaRPr lang="he-IL" sz="1400" dirty="0"/>
          </a:p>
          <a:p>
            <a:pPr rtl="1" algn="r" indent="0" marL="0">
              <a:lnSpc>
                <a:spcPct val="114000"/>
              </a:lnSpc>
              <a:spcAft>
                <a:spcPts val="400"/>
              </a:spcAft>
              <a:buNone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לתעד ולהחתים – ולכתוב שזו החלטה רפואית על בסיס תוכנית</a:t>
            </a:r>
            <a:endParaRPr lang="he-IL" sz="1400" dirty="0"/>
          </a:p>
          <a:p>
            <a:pPr rtl="1" algn="r" indent="0" marL="0">
              <a:lnSpc>
                <a:spcPct val="114000"/>
              </a:lnSpc>
              <a:buNone/>
            </a:pPr>
            <a:r>
              <a:rPr lang="he-IL" altLang="en-US" sz="1400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(משפט שחשוב להכניס גם במסמכי הסכמה מדעת)</a:t>
            </a:r>
            <a:endParaRPr lang="he-IL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👀 כשהמטופלת לא רואה תוצאה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6263640" y="1463040"/>
            <a:ext cx="537667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he-IL" altLang="en-US" sz="15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תחושת “לא רואים כלום” יכולה לנבוע מ-3 סיבות:</a:t>
            </a:r>
            <a:endParaRPr lang="he-IL" sz="1550" dirty="0"/>
          </a:p>
          <a:p>
            <a:pPr rtl="1" algn="r"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התרגלות הדרגתית – ראייה יומיומית במראה</a:t>
            </a:r>
            <a:endParaRPr lang="he-IL" sz="1550" dirty="0"/>
          </a:p>
          <a:p>
            <a:pPr rtl="1" algn="r"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ציפייה לא ריאלית – רצתה “וואו” מטיפול עדין</a:t>
            </a:r>
            <a:endParaRPr lang="he-IL" sz="1550" dirty="0"/>
          </a:p>
          <a:p>
            <a:pPr rtl="1" algn="r" indent="0" marL="0">
              <a:lnSpc>
                <a:spcPct val="118000"/>
              </a:lnSpc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השוואה לחברות / לרשתות</a:t>
            </a:r>
            <a:endParaRPr lang="he-IL" sz="1550" dirty="0"/>
          </a:p>
        </p:txBody>
      </p:sp>
      <p:sp>
        <p:nvSpPr>
          <p:cNvPr id="7" name="Shape 4"/>
          <p:cNvSpPr/>
          <p:nvPr/>
        </p:nvSpPr>
        <p:spPr>
          <a:xfrm>
            <a:off x="548640" y="1463040"/>
            <a:ext cx="5440680" cy="4754880"/>
          </a:xfrm>
          <a:prstGeom prst="roundRect">
            <a:avLst>
              <a:gd name="adj" fmla="val 1923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68680" y="1691640"/>
            <a:ext cx="480060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he-IL" altLang="en-US" sz="14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🧰 כלים להתמודדות:</a:t>
            </a:r>
            <a:endParaRPr lang="he-IL" sz="1400" dirty="0"/>
          </a:p>
          <a:p>
            <a:pPr rtl="1" algn="r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שיקוף:</a:t>
            </a:r>
            <a:endParaRPr lang="he-IL" sz="1400" dirty="0"/>
          </a:p>
          <a:p>
            <a:pPr rtl="1" algn="r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he-IL" altLang="en-US" sz="14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“אני שומעת שאת מרגישה שלא רואים שינוי משמעותי – וזה לגמרי מובן.</a:t>
            </a:r>
            <a:endParaRPr lang="he-IL" sz="1400" dirty="0"/>
          </a:p>
          <a:p>
            <a:pPr rtl="1" algn="r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he-IL" altLang="en-US" sz="14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חשוב לי שנעבור יחד על התמונות מלפני, כדי שתראי את ההבדלים – גם אם הם עדינים.”</a:t>
            </a:r>
            <a:endParaRPr lang="he-IL" sz="1400" dirty="0"/>
          </a:p>
          <a:p>
            <a:pPr rtl="1" algn="r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להציג לפני/אחרי (באותה תאורה וזווית!)</a:t>
            </a:r>
            <a:endParaRPr lang="he-IL" sz="1400" dirty="0"/>
          </a:p>
          <a:p>
            <a:pPr rtl="1" algn="r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לחזק את הבחירה שלה</a:t>
            </a:r>
            <a:endParaRPr lang="he-IL" sz="140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4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“זה בדיוק מה שבחרנו מראש – שינוי עדין, עם תוצאה טבעית.”</a:t>
            </a:r>
            <a:endParaRPr lang="he-IL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איך להפוך פגישת ייעוץ לטיפול בפועל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3258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he-IL" altLang="en-US" sz="15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📌 הבנה בסיסית: ייעוץ הוא לא אינפורמציה בלבד – הוא תהליך של חיבור רגשי, מקצועי ואסתטי.</a:t>
            </a:r>
            <a:endParaRPr lang="he-IL" sz="1550" dirty="0"/>
          </a:p>
        </p:txBody>
      </p:sp>
      <p:sp>
        <p:nvSpPr>
          <p:cNvPr id="7" name="Shape 4"/>
          <p:cNvSpPr/>
          <p:nvPr/>
        </p:nvSpPr>
        <p:spPr>
          <a:xfrm>
            <a:off x="6263640" y="2011680"/>
            <a:ext cx="5376672" cy="2103120"/>
          </a:xfrm>
          <a:prstGeom prst="roundRect">
            <a:avLst>
              <a:gd name="adj" fmla="val 4348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6583680" y="219456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4000"/>
              </a:lnSpc>
              <a:spcAft>
                <a:spcPts val="800"/>
              </a:spcAft>
              <a:buNone/>
            </a:pPr>
            <a:r>
              <a:rPr lang="he-IL" altLang="en-US" sz="13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🧠 שינוי גישה – לא “להסביר”, אלא לנווט!</a:t>
            </a:r>
            <a:endParaRPr lang="he-IL" sz="1350" dirty="0"/>
          </a:p>
          <a:p>
            <a:pPr rtl="1" algn="r" marL="342900" indent="-342900">
              <a:lnSpc>
                <a:spcPct val="114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באנו “לשכנע” אלא להוביל את המטופלת לתחושת ביטחון בהחלטה.</a:t>
            </a:r>
            <a:endParaRPr lang="he-IL" sz="1350" dirty="0"/>
          </a:p>
          <a:p>
            <a:pPr rtl="1" algn="r" marL="342900" indent="-342900">
              <a:lnSpc>
                <a:spcPct val="114000"/>
              </a:lnSpc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המטרה: שהיא תבין למה כדאי להתחיל כבר עכשיו – ולא “לחשוב על זה בבית”.</a:t>
            </a:r>
            <a:endParaRPr lang="he-IL" sz="1350" dirty="0"/>
          </a:p>
        </p:txBody>
      </p:sp>
      <p:sp>
        <p:nvSpPr>
          <p:cNvPr id="9" name="Shape 6"/>
          <p:cNvSpPr/>
          <p:nvPr/>
        </p:nvSpPr>
        <p:spPr>
          <a:xfrm>
            <a:off x="548640" y="2011680"/>
            <a:ext cx="5440680" cy="2103120"/>
          </a:xfrm>
          <a:prstGeom prst="roundRect">
            <a:avLst>
              <a:gd name="adj" fmla="val 4348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68680" y="2194560"/>
            <a:ext cx="4800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4000"/>
              </a:lnSpc>
              <a:spcAft>
                <a:spcPts val="800"/>
              </a:spcAft>
              <a:buNone/>
            </a:pPr>
            <a:r>
              <a:rPr lang="he-IL" altLang="en-US" sz="13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📋 מבנה שיחת ייעוץ אפקטיבית</a:t>
            </a:r>
            <a:endParaRPr lang="he-IL" sz="1350" dirty="0"/>
          </a:p>
          <a:p>
            <a:pPr rtl="1" algn="r"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כדי להפוך ייעוץ לטיפול בפועל, חשוב להבין שמדובר בתהליך מובנה – לא רק מתן מידע.</a:t>
            </a:r>
            <a:endParaRPr lang="he-IL" sz="1350" dirty="0"/>
          </a:p>
          <a:p>
            <a:pPr rtl="1" algn="r" indent="0" marL="0">
              <a:lnSpc>
                <a:spcPct val="114000"/>
              </a:lnSpc>
              <a:buNone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הנה השלבים שמומלץ לעבור איתם במהלך הפגישה:</a:t>
            </a:r>
            <a:endParaRPr lang="he-IL" sz="1350" dirty="0"/>
          </a:p>
        </p:txBody>
      </p:sp>
      <p:sp>
        <p:nvSpPr>
          <p:cNvPr id="11" name="Text 8"/>
          <p:cNvSpPr/>
          <p:nvPr/>
        </p:nvSpPr>
        <p:spPr>
          <a:xfrm>
            <a:off x="548640" y="4389120"/>
            <a:ext cx="110916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he-IL" altLang="en-US" sz="15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פתיחה רגשית:</a:t>
            </a:r>
            <a:endParaRPr lang="he-IL" sz="1500" dirty="0"/>
          </a:p>
          <a:p>
            <a:pPr rtl="1" algn="r" indent="0" marL="0">
              <a:lnSpc>
                <a:spcPct val="118000"/>
              </a:lnSpc>
              <a:spcAft>
                <a:spcPts val="4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התחילי ביצירת חיבור אישי עם המטופלת שאלי שאלות שמזמינות אותה לספר על עצמה</a:t>
            </a:r>
            <a:endParaRPr lang="he-IL" sz="1500" dirty="0"/>
          </a:p>
          <a:p>
            <a:pPr rtl="1" algn="r" indent="0" marL="0">
              <a:lnSpc>
                <a:spcPct val="118000"/>
              </a:lnSpc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ולא רק “מה היא רוצה”. למשל:</a:t>
            </a:r>
            <a:endParaRPr lang="he-IL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502920"/>
            <a:ext cx="11091672" cy="5760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he-IL" altLang="en-US" sz="15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“מה גרם לך לקבוע את הפגישה דווקא עכשיו?”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he-IL" altLang="en-US" sz="15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“יש משהו שהתלבטת לגביו הרבה זמן?”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he-IL" altLang="en-US" sz="15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הקשבה אקטיבית: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הקשיבי למה שמפריע לה – לא רק באסתטיקה, אלא גם בתחושת הביטחון.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תני לה מקום, בלי לקטוע או למהר להציע פתרונות.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שאלות כמו: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he-IL" altLang="en-US" sz="15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“מה הכי מפריע לך כשאת מסתכלת במראה?”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he-IL" altLang="en-US" sz="15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“מתי את הכי מרגישה בזה – בתמונות? באור מסוים?”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he-IL" altLang="en-US" sz="15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שיקוף והעצמה: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שקפי לה את הדברים שהיא אמרה – כדי שתבין שאת איתה. זה בונה אמון ויוצר חיבור רגשי.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לדוגמה: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5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“אז אני מבינה שהכי מפריע לך זה הנפילה כאן בלחיים, וזה משהו שאת מרגישה אותו כבר תקופה, נכון?”</a:t>
            </a:r>
            <a:endParaRPr lang="he-IL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502920"/>
            <a:ext cx="11091672" cy="5760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he-IL" altLang="en-US" sz="15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הסבר מקצועי ממוקד: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הסבירי את ההמלצה שלך בצורה פשוטה, ברורה, ולא טכנית מדי –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אפשר להיעזר גם בתמונות “לפני ואחרי” של מקרים דומים.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he-IL" altLang="en-US" sz="15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“מבחינה רפואית, הנפילה שאת רואה בשליש התחתון מגיעה מ… . אני ממליצה לטפל קודם בזה, ואז נוכל לראות שינוי משמעותי.”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he-IL" altLang="en-US" sz="15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הצעה ממוקדת לפעולה ראשונה: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אל תתפזרי – הציעי התחלה ברורה ובטוחה.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he-IL" altLang="en-US" sz="15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“בואי נתחיל בטיפול עדין באזור הרקות – זה שינוי שנראה לעין, בלי להעמיס על הפנים.”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he-IL" altLang="en-US" sz="15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יצירת תחושת דחיפות עדינה: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בלי “למכור”, נסי להראות לה למה כדאי להתחיל כבר עכשיו – למשל בזמינות,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בתקופת התאוששות מינימלית, או במחיר זמני.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5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“זה טיפול בלי צורך בהחלמה – תוכלי לחזור לשגרה מיד. אם את רוצה, יש לי אפשרות כבר היום להתחיל.”</a:t>
            </a:r>
            <a:endParaRPr lang="he-IL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🛠️ כלים פרקטיים להגברת סגירת טיפול</a:t>
            </a:r>
            <a:endParaRPr lang="he-IL" sz="2600" dirty="0"/>
          </a:p>
        </p:txBody>
      </p:sp>
      <p:sp>
        <p:nvSpPr>
          <p:cNvPr id="6" name="Shape 3"/>
          <p:cNvSpPr/>
          <p:nvPr/>
        </p:nvSpPr>
        <p:spPr>
          <a:xfrm>
            <a:off x="548640" y="1417320"/>
            <a:ext cx="11091672" cy="1325880"/>
          </a:xfrm>
          <a:prstGeom prst="roundRect">
            <a:avLst>
              <a:gd name="adj" fmla="val 6897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1581912"/>
            <a:ext cx="104515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he-IL" altLang="en-US" sz="14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הצעת “טעימה”</a:t>
            </a:r>
            <a:endParaRPr lang="he-IL" sz="1400" dirty="0"/>
          </a:p>
          <a:p>
            <a:pPr rtl="1" algn="r" indent="0" marL="0">
              <a:lnSpc>
                <a:spcPct val="114000"/>
              </a:lnSpc>
              <a:buNone/>
            </a:pPr>
            <a:r>
              <a:rPr lang="he-IL" altLang="en-US" sz="14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“במקום הכל עכשיו – אפשר להתחיל במשהו קטן, כמו הרמה עדינה בלחיים. תרגישי, תראי, ותחליטי אם להמשיך.”</a:t>
            </a:r>
            <a:endParaRPr lang="he-IL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2880360"/>
            <a:ext cx="11091672" cy="1325880"/>
          </a:xfrm>
          <a:prstGeom prst="roundRect">
            <a:avLst>
              <a:gd name="adj" fmla="val 6897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68680" y="3044952"/>
            <a:ext cx="104515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he-IL" altLang="en-US" sz="14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מחיר מיוחד למתלבטים במקום:</a:t>
            </a:r>
            <a:endParaRPr lang="he-IL" sz="1400" dirty="0"/>
          </a:p>
          <a:p>
            <a:pPr rtl="1" algn="r" indent="0" marL="0">
              <a:lnSpc>
                <a:spcPct val="114000"/>
              </a:lnSpc>
              <a:buNone/>
            </a:pPr>
            <a:r>
              <a:rPr lang="he-IL" altLang="en-US" sz="14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“אני לא לוחצת – אבל למי שסוגרת בטווח של 24 שעות, אני נותנת גם טיפול איכות עור נקודתי ללא עלות.”</a:t>
            </a:r>
            <a:endParaRPr lang="he-IL" sz="1400" dirty="0"/>
          </a:p>
        </p:txBody>
      </p:sp>
      <p:sp>
        <p:nvSpPr>
          <p:cNvPr id="10" name="Shape 7"/>
          <p:cNvSpPr/>
          <p:nvPr/>
        </p:nvSpPr>
        <p:spPr>
          <a:xfrm>
            <a:off x="548640" y="4343400"/>
            <a:ext cx="11091672" cy="1554480"/>
          </a:xfrm>
          <a:prstGeom prst="roundRect">
            <a:avLst>
              <a:gd name="adj" fmla="val 5882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868680" y="4507992"/>
            <a:ext cx="1045159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he-IL" altLang="en-US" sz="14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שימוש בחומרים פותחים (AMPULAS)</a:t>
            </a:r>
            <a:endParaRPr lang="he-IL" sz="1400" dirty="0"/>
          </a:p>
          <a:p>
            <a:pPr rtl="1" algn="r" indent="0" marL="0">
              <a:lnSpc>
                <a:spcPct val="114000"/>
              </a:lnSpc>
              <a:spcAft>
                <a:spcPts val="400"/>
              </a:spcAft>
              <a:buNone/>
            </a:pPr>
            <a:r>
              <a:rPr lang="he-IL" altLang="en-US" sz="14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“אפשר להתחיל היום ממש במשהו עדין – כמו סקין בוסטר או מילוי נקודתי בלי מזרק מלא.</a:t>
            </a:r>
            <a:endParaRPr lang="he-IL" sz="1400" dirty="0"/>
          </a:p>
          <a:p>
            <a:pPr rtl="1" algn="r" indent="0" marL="0">
              <a:lnSpc>
                <a:spcPct val="114000"/>
              </a:lnSpc>
              <a:buNone/>
            </a:pPr>
            <a:r>
              <a:rPr lang="he-IL" altLang="en-US" sz="14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 ייתן לנו התחלה בטוחה, תראי איך זה מרגיש.”</a:t>
            </a:r>
            <a:endParaRPr lang="he-IL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6263640" y="914400"/>
            <a:ext cx="5376672" cy="2194560"/>
          </a:xfrm>
          <a:prstGeom prst="roundRect">
            <a:avLst>
              <a:gd name="adj" fmla="val 4167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6583680" y="1115568"/>
            <a:ext cx="4754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4000"/>
              </a:lnSpc>
              <a:spcAft>
                <a:spcPts val="800"/>
              </a:spcAft>
              <a:buNone/>
            </a:pPr>
            <a:r>
              <a:rPr lang="he-IL" altLang="en-US" sz="13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שפת גוף ונוכחות</a:t>
            </a:r>
            <a:endParaRPr lang="he-IL" sz="1350" dirty="0"/>
          </a:p>
          <a:p>
            <a:pPr rtl="1" algn="r" marL="342900" indent="-342900">
              <a:lnSpc>
                <a:spcPct val="114000"/>
              </a:lnSpc>
              <a:spcAft>
                <a:spcPts val="5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תנועות איטיות, טון בטוח, קשר עין.</a:t>
            </a:r>
            <a:endParaRPr lang="he-IL" sz="1350" dirty="0"/>
          </a:p>
          <a:p>
            <a:pPr rtl="1" algn="r" marL="342900" indent="-342900">
              <a:lnSpc>
                <a:spcPct val="114000"/>
              </a:lnSpc>
              <a:spcAft>
                <a:spcPts val="5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לשבת לצד המטופלת מול המראה, לא מולה בעמדה שיפוטית.</a:t>
            </a:r>
            <a:endParaRPr lang="he-IL" sz="1350" dirty="0"/>
          </a:p>
          <a:p>
            <a:pPr rtl="1" algn="r" marL="342900" indent="-342900">
              <a:lnSpc>
                <a:spcPct val="114000"/>
              </a:lnSpc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לצייר תוכנית טיפול ביד – זה יוצר תוקף וסמכות.</a:t>
            </a:r>
            <a:endParaRPr lang="he-IL" sz="1350" dirty="0"/>
          </a:p>
        </p:txBody>
      </p:sp>
      <p:sp>
        <p:nvSpPr>
          <p:cNvPr id="7" name="Shape 4"/>
          <p:cNvSpPr/>
          <p:nvPr/>
        </p:nvSpPr>
        <p:spPr>
          <a:xfrm>
            <a:off x="548640" y="914400"/>
            <a:ext cx="5440680" cy="2971800"/>
          </a:xfrm>
          <a:prstGeom prst="roundRect">
            <a:avLst>
              <a:gd name="adj" fmla="val 3077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68680" y="1115568"/>
            <a:ext cx="48006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4000"/>
              </a:lnSpc>
              <a:spcAft>
                <a:spcPts val="800"/>
              </a:spcAft>
              <a:buNone/>
            </a:pPr>
            <a:r>
              <a:rPr lang="he-IL" altLang="en-US" sz="13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🗣️ משפטים חזקים לסגירה</a:t>
            </a:r>
            <a:endParaRPr lang="he-IL" sz="1350" dirty="0"/>
          </a:p>
          <a:p>
            <a:pPr rtl="1" algn="r" marL="342900" indent="-342900">
              <a:lnSpc>
                <a:spcPct val="114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3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“אני לא כאן למכור לך – אלא לבנות איתך תוצאה שאת תאהבי להסתכל עליה כל בוקר.”</a:t>
            </a:r>
            <a:endParaRPr lang="he-IL" sz="1350" dirty="0"/>
          </a:p>
          <a:p>
            <a:pPr rtl="1" algn="r" marL="342900" indent="-342900">
              <a:lnSpc>
                <a:spcPct val="114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3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“הכי חשוב לי שתצאי עם הרגשה טובה – ואם נתחיל כבר היום, תוך ימים ספורים תתחילי לראות שינוי.”</a:t>
            </a:r>
            <a:endParaRPr lang="he-IL" sz="1350" dirty="0"/>
          </a:p>
          <a:p>
            <a:pPr rtl="1" algn="r" marL="342900" indent="-342900">
              <a:lnSpc>
                <a:spcPct val="114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3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“אני יכולה לומר שברוב המקרים ברגע שמתחילים - לא תביני איך התלבטת והיססת.</a:t>
            </a:r>
            <a:endParaRPr lang="he-IL" sz="1350" dirty="0"/>
          </a:p>
          <a:p>
            <a:pPr rtl="1" algn="r" marL="342900" indent="-342900">
              <a:lnSpc>
                <a:spcPct val="114000"/>
              </a:lnSpc>
              <a:buSzPct val="100000"/>
              <a:buChar char="•"/>
            </a:pPr>
            <a:r>
              <a:rPr lang="he-IL" altLang="en-US" sz="13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אבל זאת בחירה שלך, בקצב שלך”</a:t>
            </a:r>
            <a:endParaRPr lang="he-IL" sz="1350" dirty="0"/>
          </a:p>
        </p:txBody>
      </p:sp>
      <p:sp>
        <p:nvSpPr>
          <p:cNvPr id="9" name="Shape 6"/>
          <p:cNvSpPr/>
          <p:nvPr/>
        </p:nvSpPr>
        <p:spPr>
          <a:xfrm>
            <a:off x="548640" y="4069080"/>
            <a:ext cx="11091672" cy="1874520"/>
          </a:xfrm>
          <a:prstGeom prst="roundRect">
            <a:avLst>
              <a:gd name="adj" fmla="val 4878"/>
            </a:avLst>
          </a:prstGeom>
          <a:solidFill>
            <a:srgbClr val="1B1713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68680" y="4224528"/>
            <a:ext cx="104515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גם אם משא ומתן או שיח על מחיר מרגיש לכם לא טבעי, לא נעים, או מחוץ לאזור הנוחות שלכם – תזכרו:</a:t>
            </a:r>
            <a:endParaRPr lang="he-IL" sz="1350" dirty="0"/>
          </a:p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אתם לא דוחפים טיפול, אתם מציעים מענה מדויק ומקצועי למישהי שפנתה אליכם מרצונה.</a:t>
            </a:r>
            <a:endParaRPr lang="he-IL" sz="1350" dirty="0"/>
          </a:p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דווקא שם – במקום שבו קשה לכם – נמצא לעיתים הרגע הכי משמעותי לבניית אמון.</a:t>
            </a:r>
            <a:endParaRPr lang="he-IL" sz="135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350" b="1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ככל שתרגישו יותר בנוח עם השיח הזה, כך תצליחו יותר ללוות מטופלות בתהליך אמיתי ומשמעותי.</a:t>
            </a:r>
            <a:endParaRPr lang="he-IL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אמרה “אני אחשוב על זה”? כך נראה פולו־אפ נכון</a:t>
            </a:r>
            <a:endParaRPr lang="he-IL" sz="2400" dirty="0"/>
          </a:p>
        </p:txBody>
      </p:sp>
      <p:sp>
        <p:nvSpPr>
          <p:cNvPr id="6" name="Text 3"/>
          <p:cNvSpPr/>
          <p:nvPr/>
        </p:nvSpPr>
        <p:spPr>
          <a:xfrm>
            <a:off x="1097280" y="1115568"/>
            <a:ext cx="10543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העיקרון: לא רודפים – מלווים. כל הודעה נותנת ערך, אף הודעה לא לוחצת.</a:t>
            </a:r>
            <a:endParaRPr lang="he-IL" sz="155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11091672" cy="1207008"/>
          </a:xfrm>
          <a:prstGeom prst="roundRect">
            <a:avLst>
              <a:gd name="adj" fmla="val 7576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68680" y="1837944"/>
            <a:ext cx="104515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500"/>
              </a:spcAft>
              <a:buNone/>
            </a:pPr>
            <a:r>
              <a:rPr lang="he-IL" altLang="en-US" sz="13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אחרי 24 שעות – סיכום אישי</a:t>
            </a:r>
            <a:endParaRPr lang="he-IL" sz="135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3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“היי [שם], שמחתי שנפגשנו. מצרפת את תוכנית הטיפול שבנינו יחד – היא שמורה לך. כאן לכל שאלה.”</a:t>
            </a:r>
            <a:endParaRPr lang="he-IL" sz="1350" dirty="0"/>
          </a:p>
        </p:txBody>
      </p:sp>
      <p:sp>
        <p:nvSpPr>
          <p:cNvPr id="9" name="Shape 6"/>
          <p:cNvSpPr/>
          <p:nvPr/>
        </p:nvSpPr>
        <p:spPr>
          <a:xfrm>
            <a:off x="548640" y="3035808"/>
            <a:ext cx="11091672" cy="1207008"/>
          </a:xfrm>
          <a:prstGeom prst="roundRect">
            <a:avLst>
              <a:gd name="adj" fmla="val 7576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68680" y="3182112"/>
            <a:ext cx="104515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500"/>
              </a:spcAft>
              <a:buNone/>
            </a:pPr>
            <a:r>
              <a:rPr lang="he-IL" altLang="en-US" sz="13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אחרי 72 שעות – ערך, לא תזכורת</a:t>
            </a:r>
            <a:endParaRPr lang="he-IL" sz="135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3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“ראיתי היום מקרה דומה לשלך עם תוצאה ממש יפה – אם תרצי, אשמח להראות לך לפני/אחרי בפגישה קצרה.”</a:t>
            </a:r>
            <a:endParaRPr lang="he-IL" sz="1350" dirty="0"/>
          </a:p>
        </p:txBody>
      </p:sp>
      <p:sp>
        <p:nvSpPr>
          <p:cNvPr id="11" name="Shape 8"/>
          <p:cNvSpPr/>
          <p:nvPr/>
        </p:nvSpPr>
        <p:spPr>
          <a:xfrm>
            <a:off x="548640" y="4379976"/>
            <a:ext cx="11091672" cy="1207008"/>
          </a:xfrm>
          <a:prstGeom prst="roundRect">
            <a:avLst>
              <a:gd name="adj" fmla="val 7576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868680" y="4526280"/>
            <a:ext cx="104515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500"/>
              </a:spcAft>
              <a:buNone/>
            </a:pPr>
            <a:r>
              <a:rPr lang="he-IL" altLang="en-US" sz="13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אחרי שבוע – פתח יציאה מכובד</a:t>
            </a:r>
            <a:endParaRPr lang="he-IL" sz="135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3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“אם זה לא הזמן – זה לגמרי בסדר. התוכנית שמורה לך, ואני כאן כשתרגישי מוכנה.”</a:t>
            </a:r>
            <a:endParaRPr lang="he-IL" sz="1350" dirty="0"/>
          </a:p>
        </p:txBody>
      </p:sp>
      <p:sp>
        <p:nvSpPr>
          <p:cNvPr id="13" name="Text 10"/>
          <p:cNvSpPr/>
          <p:nvPr/>
        </p:nvSpPr>
        <p:spPr>
          <a:xfrm>
            <a:off x="1371600" y="5806440"/>
            <a:ext cx="10268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4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הכלל: עד שלוש הודעות. מי שלא הבשילה עכשיו – תחזור דווקא למי שנשאר מקצועי ונעים.</a:t>
            </a:r>
            <a:endParaRPr lang="he-IL" sz="14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הטיפול הסתיים? כאן נבנית הנאמנות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1097280" y="1115568"/>
            <a:ext cx="10543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ההבדל בין עסקה חד־פעמית למטופלת קבועה נמצא במעקב – לא במזרק.</a:t>
            </a:r>
            <a:endParaRPr lang="he-IL" sz="1550" dirty="0"/>
          </a:p>
        </p:txBody>
      </p:sp>
      <p:sp>
        <p:nvSpPr>
          <p:cNvPr id="7" name="Shape 4"/>
          <p:cNvSpPr/>
          <p:nvPr/>
        </p:nvSpPr>
        <p:spPr>
          <a:xfrm>
            <a:off x="6263640" y="1783080"/>
            <a:ext cx="5376672" cy="1783080"/>
          </a:xfrm>
          <a:prstGeom prst="roundRect">
            <a:avLst>
              <a:gd name="adj" fmla="val 5128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6556248" y="1965960"/>
            <a:ext cx="4791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3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ביום הטיפול</a:t>
            </a:r>
            <a:endParaRPr lang="he-IL" sz="130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הודעת הנחיות לאחר הטיפול + תזכורת שאתם זמינים לכל שאלה.</a:t>
            </a:r>
            <a:endParaRPr lang="he-IL" sz="1300" dirty="0"/>
          </a:p>
        </p:txBody>
      </p:sp>
      <p:sp>
        <p:nvSpPr>
          <p:cNvPr id="9" name="Shape 6"/>
          <p:cNvSpPr/>
          <p:nvPr/>
        </p:nvSpPr>
        <p:spPr>
          <a:xfrm>
            <a:off x="548640" y="1783080"/>
            <a:ext cx="5440680" cy="1783080"/>
          </a:xfrm>
          <a:prstGeom prst="roundRect">
            <a:avLst>
              <a:gd name="adj" fmla="val 5128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41248" y="1965960"/>
            <a:ext cx="48554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3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יום 3 – צ'ק־אין יזום</a:t>
            </a:r>
            <a:endParaRPr lang="he-IL" sz="130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“איך את מרגישה? רגישות קלה היא צפויה – אם משהו מטריד אותך, אני כאן.”</a:t>
            </a:r>
            <a:endParaRPr lang="he-IL" sz="13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76672" cy="1783080"/>
          </a:xfrm>
          <a:prstGeom prst="roundRect">
            <a:avLst>
              <a:gd name="adj" fmla="val 5128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556248" y="3886200"/>
            <a:ext cx="4791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3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שבוע 2 – ביקורת</a:t>
            </a:r>
            <a:endParaRPr lang="he-IL" sz="130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הזמנה לביקורת + צילום תמונות אחרי. תיקון טאצ'־אפ כלול עד חודש – השתמשו בזה כעוגן לפגישה.</a:t>
            </a:r>
            <a:endParaRPr lang="he-IL" sz="1300" dirty="0"/>
          </a:p>
        </p:txBody>
      </p:sp>
      <p:sp>
        <p:nvSpPr>
          <p:cNvPr id="13" name="Shape 10"/>
          <p:cNvSpPr/>
          <p:nvPr/>
        </p:nvSpPr>
        <p:spPr>
          <a:xfrm>
            <a:off x="548640" y="3703320"/>
            <a:ext cx="5440680" cy="1783080"/>
          </a:xfrm>
          <a:prstGeom prst="roundRect">
            <a:avLst>
              <a:gd name="adj" fmla="val 5128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841248" y="3886200"/>
            <a:ext cx="48554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3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חודש – בונים המשך</a:t>
            </a:r>
            <a:endParaRPr lang="he-IL" sz="130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סיכום תוצאה מול תמונות הלפני, והצעד הבא: השלב הבא בתוכנית או תזכורת לסדרה.</a:t>
            </a:r>
            <a:endParaRPr lang="he-IL" sz="1300" dirty="0"/>
          </a:p>
        </p:txBody>
      </p:sp>
      <p:sp>
        <p:nvSpPr>
          <p:cNvPr id="15" name="Text 12"/>
          <p:cNvSpPr/>
          <p:nvPr/>
        </p:nvSpPr>
        <p:spPr>
          <a:xfrm>
            <a:off x="1371600" y="5760720"/>
            <a:ext cx="10268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4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המעקב הוא חלק מהטיפול – הוא ההבדל בין תוצאה חד־פעמית לבין מטופלת שנשארת איתכם שנים.</a:t>
            </a:r>
            <a:endParaRPr lang="he-IL" sz="14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פרוטוקול צילום לפני/אחרי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1097280" y="1115568"/>
            <a:ext cx="10543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אמרנו “באותה תאורה ובאותה זווית” – כך עושים את זה בפועל:</a:t>
            </a:r>
            <a:endParaRPr lang="he-IL" sz="1550" dirty="0"/>
          </a:p>
        </p:txBody>
      </p:sp>
      <p:sp>
        <p:nvSpPr>
          <p:cNvPr id="7" name="Shape 4"/>
          <p:cNvSpPr/>
          <p:nvPr/>
        </p:nvSpPr>
        <p:spPr>
          <a:xfrm>
            <a:off x="6263640" y="1737360"/>
            <a:ext cx="5376672" cy="2560320"/>
          </a:xfrm>
          <a:prstGeom prst="roundRect">
            <a:avLst>
              <a:gd name="adj" fmla="val 3571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6583680" y="1938528"/>
            <a:ext cx="4754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700"/>
              </a:spcAft>
              <a:buNone/>
            </a:pPr>
            <a:r>
              <a:rPr lang="he-IL" altLang="en-US" sz="13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הכללים</a:t>
            </a:r>
            <a:endParaRPr lang="he-IL" sz="1350" dirty="0"/>
          </a:p>
          <a:p>
            <a:pPr rtl="1" algn="r"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אותו חדר, רקע אחיד ובהיר</a:t>
            </a:r>
            <a:endParaRPr lang="he-IL" sz="1350" dirty="0"/>
          </a:p>
          <a:p>
            <a:pPr rtl="1" algn="r"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תאורה קבועה מלפנים – בלי חלון ובלי פלאש ישיר</a:t>
            </a:r>
            <a:endParaRPr lang="he-IL" sz="1350" dirty="0"/>
          </a:p>
          <a:p>
            <a:pPr rtl="1" algn="r"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שלוש זוויות: פרונט, 45°, פרופיל – באותו גובה מצלמה</a:t>
            </a:r>
            <a:endParaRPr lang="he-IL" sz="1350" dirty="0"/>
          </a:p>
          <a:p>
            <a:pPr rtl="1" algn="r" marL="342900" indent="-342900">
              <a:lnSpc>
                <a:spcPct val="112000"/>
              </a:lnSpc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פנים רפויות, בלי איפור ובלי פילטרים</a:t>
            </a:r>
            <a:endParaRPr lang="he-IL" sz="1350" dirty="0"/>
          </a:p>
        </p:txBody>
      </p:sp>
      <p:sp>
        <p:nvSpPr>
          <p:cNvPr id="9" name="Shape 6"/>
          <p:cNvSpPr/>
          <p:nvPr/>
        </p:nvSpPr>
        <p:spPr>
          <a:xfrm>
            <a:off x="548640" y="1737360"/>
            <a:ext cx="5440680" cy="2560320"/>
          </a:xfrm>
          <a:prstGeom prst="roundRect">
            <a:avLst>
              <a:gd name="adj" fmla="val 3571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68680" y="1938528"/>
            <a:ext cx="4800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700"/>
              </a:spcAft>
              <a:buNone/>
            </a:pPr>
            <a:r>
              <a:rPr lang="he-IL" altLang="en-US" sz="13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מתי מצלמים</a:t>
            </a:r>
            <a:endParaRPr lang="he-IL" sz="1350" dirty="0"/>
          </a:p>
          <a:p>
            <a:pPr rtl="1" algn="r"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לפני כל טיפול</a:t>
            </a:r>
            <a:endParaRPr lang="he-IL" sz="1350" dirty="0"/>
          </a:p>
          <a:p>
            <a:pPr rtl="1" algn="r"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בביקורת של שבוע 2</a:t>
            </a:r>
            <a:endParaRPr lang="he-IL" sz="1350" dirty="0"/>
          </a:p>
          <a:p>
            <a:pPr rtl="1" algn="r" marL="342900" indent="-342900">
              <a:lnSpc>
                <a:spcPct val="112000"/>
              </a:lnSpc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בסיום כל סדרה</a:t>
            </a:r>
            <a:endParaRPr lang="he-IL" sz="1350" dirty="0"/>
          </a:p>
        </p:txBody>
      </p:sp>
      <p:sp>
        <p:nvSpPr>
          <p:cNvPr id="11" name="Shape 8"/>
          <p:cNvSpPr/>
          <p:nvPr/>
        </p:nvSpPr>
        <p:spPr>
          <a:xfrm>
            <a:off x="548640" y="4526280"/>
            <a:ext cx="11091672" cy="1371600"/>
          </a:xfrm>
          <a:prstGeom prst="roundRect">
            <a:avLst>
              <a:gd name="adj" fmla="val 6667"/>
            </a:avLst>
          </a:prstGeom>
          <a:solidFill>
            <a:srgbClr val="1B1713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868680" y="4727448"/>
            <a:ext cx="104515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he-IL" altLang="en-US" sz="1450" b="1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למה זה קריטי:</a:t>
            </a:r>
            <a:endParaRPr lang="he-IL" sz="145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 הכלי שמנצח את “לא רואים כלום”, ההגנה המקצועית שלכם – ותיק העבודות שבונה את המותג.</a:t>
            </a:r>
            <a:endParaRPr lang="he-IL" sz="14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17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645920"/>
            <a:ext cx="4389120" cy="4389120"/>
          </a:xfrm>
          <a:prstGeom prst="ellipse">
            <a:avLst/>
          </a:prstGeom>
          <a:solidFill>
            <a:srgbClr val="A3866A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4754880"/>
            <a:ext cx="3474720" cy="3474720"/>
          </a:xfrm>
          <a:prstGeom prst="ellipse">
            <a:avLst/>
          </a:prstGeom>
          <a:solidFill>
            <a:srgbClr val="A3866A">
              <a:alpha val="10000"/>
            </a:srgbClr>
          </a:solidFill>
          <a:ln/>
        </p:spPr>
      </p:sp>
      <p:pic>
        <p:nvPicPr>
          <p:cNvPr id="4" name="Image 0" descr="assets/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14416" y="685800"/>
            <a:ext cx="960120" cy="9601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2377440"/>
            <a:ext cx="1036015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5000"/>
              </a:lnSpc>
              <a:spcAft>
                <a:spcPts val="1200"/>
              </a:spcAft>
              <a:buNone/>
            </a:pPr>
            <a:r>
              <a:rPr lang="he-IL" alt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הדרך היחידה לצאת ממשחק ה’כמה יעלה לי מזרק?’ –</a:t>
            </a:r>
            <a:endParaRPr lang="he-IL" sz="320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3600" b="1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תוכנית טיפול הוליסטית</a:t>
            </a:r>
            <a:endParaRPr lang="he-IL" sz="3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דוגמה: שקעי עיניים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188720"/>
            <a:ext cx="1109167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מטופלת מבקשת מזרק אחד למילוי השקע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spcAft>
                <a:spcPts val="700"/>
              </a:spcAft>
              <a:buNone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 הזמן לשנות את השיח – ולהציע פתרון מקיף ואפקטיבי הרבה יותר</a:t>
            </a:r>
            <a:endParaRPr lang="he-IL" sz="1400" dirty="0"/>
          </a:p>
          <a:p>
            <a:pPr rtl="1" algn="r" marL="342900" indent="-3429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שיפור טקסטורת העור – טיפול בקמטוטים ובעור העודף באמצעות סלבוסטר או חומרים ביו-רבאליים</a:t>
            </a:r>
            <a:endParaRPr lang="he-IL" sz="1400" dirty="0"/>
          </a:p>
          <a:p>
            <a:pPr rtl="1" algn="r" marL="342900" indent="-3429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בוטוקס בצידי העיניים – לשחרור השריר שמושך את האזור כלפי מטה, וליצירת אפקט הרמה טבעי</a:t>
            </a:r>
            <a:endParaRPr lang="he-IL" sz="1400" dirty="0"/>
          </a:p>
          <a:p>
            <a:pPr rtl="1" algn="r" marL="342900" indent="-3429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מילוי מדויק באמצעות חומצה היאלורונית – לשחזור נפח ואיזון השקע</a:t>
            </a:r>
            <a:endParaRPr lang="he-IL" sz="1400" dirty="0"/>
          </a:p>
          <a:p>
            <a:pPr rtl="1" algn="r" marL="342900" indent="-342900">
              <a:lnSpc>
                <a:spcPct val="112000"/>
              </a:lnSpc>
              <a:buSzPct val="100000"/>
              <a:buChar char="•"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טיפול בכהויות – עם סלבוסטר, אנטיאז' או חומרים מתקדמים נוספים, לפי הצורך האישי</a:t>
            </a:r>
            <a:endParaRPr lang="he-IL" sz="1400" dirty="0"/>
          </a:p>
        </p:txBody>
      </p:sp>
      <p:sp>
        <p:nvSpPr>
          <p:cNvPr id="7" name="Shape 4"/>
          <p:cNvSpPr/>
          <p:nvPr/>
        </p:nvSpPr>
        <p:spPr>
          <a:xfrm>
            <a:off x="1371600" y="3291840"/>
            <a:ext cx="10268712" cy="2880360"/>
          </a:xfrm>
          <a:prstGeom prst="roundRect">
            <a:avLst>
              <a:gd name="adj" fmla="val 3175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1691640" y="3474720"/>
            <a:ext cx="9628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6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יוצא לכם מזה</a:t>
            </a:r>
            <a:endParaRPr lang="he-IL" sz="1650" dirty="0"/>
          </a:p>
        </p:txBody>
      </p:sp>
      <p:sp>
        <p:nvSpPr>
          <p:cNvPr id="9" name="Text 6"/>
          <p:cNvSpPr/>
          <p:nvPr/>
        </p:nvSpPr>
        <p:spPr>
          <a:xfrm>
            <a:off x="1691640" y="3886200"/>
            <a:ext cx="9628632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במקום למכור מזרק ב-1,500–1,800 ₪ כמו כולם,</a:t>
            </a:r>
            <a:endParaRPr lang="he-IL" sz="1300" dirty="0"/>
          </a:p>
          <a:p>
            <a:pPr rtl="1" algn="r"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אתם מציעים טיפול משולב, מדורג, מקצועי ומבדל –</a:t>
            </a:r>
            <a:endParaRPr lang="he-IL" sz="1300" dirty="0"/>
          </a:p>
          <a:p>
            <a:pPr rtl="1" algn="r"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עם תמחור מתאים שמייצג את הערך האמיתי של מה שהמטופלת מקבלת</a:t>
            </a:r>
            <a:endParaRPr lang="he-IL" sz="1300" dirty="0"/>
          </a:p>
          <a:p>
            <a:pPr rtl="1" algn="r"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he-IL" altLang="en-US" sz="13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כך אתם:</a:t>
            </a:r>
            <a:endParaRPr lang="he-IL" sz="13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יוצאים מהשיח של “מחיר למזרק”</a:t>
            </a:r>
            <a:endParaRPr lang="he-IL" sz="13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ממקסמים את תוצאות הטיפול</a:t>
            </a:r>
            <a:endParaRPr lang="he-IL" sz="13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מייצרים תהליך טיפולי מתמשך שמעמיק את הקשר עם המטופלת</a:t>
            </a:r>
            <a:endParaRPr lang="he-IL" sz="1300" dirty="0"/>
          </a:p>
          <a:p>
            <a:pPr rtl="1" algn="r" marL="342900" indent="-342900">
              <a:lnSpc>
                <a:spcPct val="110000"/>
              </a:lnSpc>
              <a:buSzPct val="100000"/>
              <a:buChar char="•"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ומבדלים את עצמכם כאנשי מקצוע שנותנים מענה שלם – לא פתרון נקודתי</a:t>
            </a:r>
            <a:endParaRPr lang="he-IL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2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בואו ניקח את הדוגמה לתוכנית הטיפול הזו ונלמד איך נכון לתמחר אותה</a:t>
            </a:r>
            <a:endParaRPr lang="he-IL" sz="2200" dirty="0"/>
          </a:p>
        </p:txBody>
      </p:sp>
      <p:sp>
        <p:nvSpPr>
          <p:cNvPr id="6" name="Text 3"/>
          <p:cNvSpPr/>
          <p:nvPr/>
        </p:nvSpPr>
        <p:spPr>
          <a:xfrm>
            <a:off x="1097280" y="1280160"/>
            <a:ext cx="1054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7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שלב ראשון – מתחילים בעלויות החומרים:</a:t>
            </a:r>
            <a:endParaRPr lang="he-IL" sz="1700" dirty="0"/>
          </a:p>
        </p:txBody>
      </p:sp>
      <p:sp>
        <p:nvSpPr>
          <p:cNvPr id="7" name="Shape 4"/>
          <p:cNvSpPr/>
          <p:nvPr/>
        </p:nvSpPr>
        <p:spPr>
          <a:xfrm>
            <a:off x="548640" y="1874520"/>
            <a:ext cx="11091672" cy="1874520"/>
          </a:xfrm>
          <a:prstGeom prst="roundRect">
            <a:avLst>
              <a:gd name="adj" fmla="val 4878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68680" y="2103120"/>
            <a:ext cx="1045159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he-IL" altLang="en-US" sz="18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מזרק למילוי:</a:t>
            </a:r>
            <a:endParaRPr lang="he-IL" sz="1550" dirty="0"/>
          </a:p>
          <a:p>
            <a:pPr rtl="1" algn="r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ברכישה של 30 מזרקים ומעלה, מחיר מבצע עומד על כ־330 ש”ח + מע”מ</a:t>
            </a:r>
            <a:endParaRPr lang="he-IL" sz="155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לבוגרי הקורס – המחיר המוזל הוא 250 ש”ח</a:t>
            </a:r>
            <a:endParaRPr lang="he-IL" sz="1550" dirty="0"/>
          </a:p>
        </p:txBody>
      </p:sp>
      <p:sp>
        <p:nvSpPr>
          <p:cNvPr id="9" name="Shape 6"/>
          <p:cNvSpPr/>
          <p:nvPr/>
        </p:nvSpPr>
        <p:spPr>
          <a:xfrm>
            <a:off x="548640" y="3977640"/>
            <a:ext cx="11091672" cy="1874520"/>
          </a:xfrm>
          <a:prstGeom prst="roundRect">
            <a:avLst>
              <a:gd name="adj" fmla="val 4878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68680" y="4206240"/>
            <a:ext cx="1045159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he-IL" altLang="en-US" sz="18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בקבוקון סלבוסטר</a:t>
            </a:r>
            <a:endParaRPr lang="he-IL" sz="1550" dirty="0"/>
          </a:p>
          <a:p>
            <a:pPr rtl="1" algn="r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נמכר לרוב בכ־250 ש”ח + מע”מ לרופא (במבצע)</a:t>
            </a:r>
            <a:endParaRPr lang="he-IL" sz="155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ולבוגרי הקורס – המחיר המוזל הוא 180 ש”ח</a:t>
            </a:r>
            <a:endParaRPr lang="he-IL" sz="15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2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עלות המקום בו מתקיים הטיפול:</a:t>
            </a:r>
            <a:endParaRPr lang="he-IL" sz="2200" dirty="0"/>
          </a:p>
        </p:txBody>
      </p:sp>
      <p:sp>
        <p:nvSpPr>
          <p:cNvPr id="6" name="Text 3"/>
          <p:cNvSpPr/>
          <p:nvPr/>
        </p:nvSpPr>
        <p:spPr>
          <a:xfrm>
            <a:off x="548640" y="10058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יש לחשב לפי חלוקת עלות שכירות, ארנונה, חשמל, שכר עובדים וכדומה – לפי מספר ימי העבודה בפועל</a:t>
            </a:r>
            <a:endParaRPr lang="he-IL" sz="155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110916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he-IL" altLang="en-US" sz="17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ציוד מתכלה:</a:t>
            </a:r>
            <a:endParaRPr lang="he-IL" sz="1550" dirty="0"/>
          </a:p>
          <a:p>
            <a:pPr rtl="1" algn="r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גזות, אלכוהול, קנולות וכו'</a:t>
            </a:r>
            <a:endParaRPr lang="he-IL" sz="155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עולים יותר מ־50 ש”ח לטיפול</a:t>
            </a:r>
            <a:endParaRPr lang="he-IL" sz="1550" dirty="0"/>
          </a:p>
        </p:txBody>
      </p:sp>
      <p:sp>
        <p:nvSpPr>
          <p:cNvPr id="8" name="Shape 5"/>
          <p:cNvSpPr/>
          <p:nvPr/>
        </p:nvSpPr>
        <p:spPr>
          <a:xfrm>
            <a:off x="548640" y="3520440"/>
            <a:ext cx="11091672" cy="2331720"/>
          </a:xfrm>
          <a:prstGeom prst="roundRect">
            <a:avLst>
              <a:gd name="adj" fmla="val 3922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68680" y="3749040"/>
            <a:ext cx="10451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8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חישוב עלות חומרית – דוגמה לטיפול הוליסטי בשקעי עיניים</a:t>
            </a:r>
            <a:endParaRPr lang="he-IL" sz="1800" dirty="0"/>
          </a:p>
        </p:txBody>
      </p:sp>
      <p:sp>
        <p:nvSpPr>
          <p:cNvPr id="10" name="Text 7"/>
          <p:cNvSpPr/>
          <p:nvPr/>
        </p:nvSpPr>
        <p:spPr>
          <a:xfrm>
            <a:off x="868680" y="4297680"/>
            <a:ext cx="1045159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ניקח את הנתונים ונבדוק מהי העלות החומרית של הטיפול בלבד, תוך התייחסות לשאלה חשובה:</a:t>
            </a:r>
            <a:endParaRPr lang="he-IL" sz="155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האם כל 3 מ”ל הסלבוסטר נוצלו בטיפול אחד, או נשאר חומר להמשך סדרת הטיפול?</a:t>
            </a:r>
            <a:endParaRPr lang="he-IL" sz="15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שימוש ב־1 מ”ל בלבד בטיפול הראשון</a:t>
            </a:r>
            <a:endParaRPr lang="he-IL" sz="2600" dirty="0"/>
          </a:p>
        </p:txBody>
      </p:sp>
      <p:sp>
        <p:nvSpPr>
          <p:cNvPr id="6" name="Shape 3"/>
          <p:cNvSpPr/>
          <p:nvPr/>
        </p:nvSpPr>
        <p:spPr>
          <a:xfrm>
            <a:off x="548640" y="1463040"/>
            <a:ext cx="11091672" cy="1005840"/>
          </a:xfrm>
          <a:prstGeom prst="roundRect">
            <a:avLst>
              <a:gd name="adj" fmla="val 9091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040880" y="1463040"/>
            <a:ext cx="4297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עלות 1 מ”ל סלבוסטר:</a:t>
            </a:r>
            <a:endParaRPr lang="he-IL" sz="1550" dirty="0"/>
          </a:p>
        </p:txBody>
      </p:sp>
      <p:sp>
        <p:nvSpPr>
          <p:cNvPr id="8" name="Text 5"/>
          <p:cNvSpPr/>
          <p:nvPr/>
        </p:nvSpPr>
        <p:spPr>
          <a:xfrm>
            <a:off x="3749040" y="146304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1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 ש”ח</a:t>
            </a:r>
            <a:endParaRPr lang="he-IL" sz="2100" dirty="0"/>
          </a:p>
        </p:txBody>
      </p:sp>
      <p:sp>
        <p:nvSpPr>
          <p:cNvPr id="9" name="Text 6"/>
          <p:cNvSpPr/>
          <p:nvPr/>
        </p:nvSpPr>
        <p:spPr>
          <a:xfrm>
            <a:off x="868680" y="146304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250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 60 ש”ח לבוגרי הקורס</a:t>
            </a:r>
            <a:endParaRPr lang="he-IL" sz="1250" dirty="0"/>
          </a:p>
        </p:txBody>
      </p:sp>
      <p:sp>
        <p:nvSpPr>
          <p:cNvPr id="10" name="Shape 7"/>
          <p:cNvSpPr/>
          <p:nvPr/>
        </p:nvSpPr>
        <p:spPr>
          <a:xfrm>
            <a:off x="548640" y="2587752"/>
            <a:ext cx="11091672" cy="1005840"/>
          </a:xfrm>
          <a:prstGeom prst="roundRect">
            <a:avLst>
              <a:gd name="adj" fmla="val 9091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7040880" y="2587752"/>
            <a:ext cx="4297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מזרק מילוי:</a:t>
            </a:r>
            <a:endParaRPr lang="he-IL" sz="1550" dirty="0"/>
          </a:p>
        </p:txBody>
      </p:sp>
      <p:sp>
        <p:nvSpPr>
          <p:cNvPr id="12" name="Text 9"/>
          <p:cNvSpPr/>
          <p:nvPr/>
        </p:nvSpPr>
        <p:spPr>
          <a:xfrm>
            <a:off x="3749040" y="2587752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1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330 ש”ח</a:t>
            </a:r>
            <a:endParaRPr lang="he-IL" sz="2100" dirty="0"/>
          </a:p>
        </p:txBody>
      </p:sp>
      <p:sp>
        <p:nvSpPr>
          <p:cNvPr id="13" name="Text 10"/>
          <p:cNvSpPr/>
          <p:nvPr/>
        </p:nvSpPr>
        <p:spPr>
          <a:xfrm>
            <a:off x="868680" y="2587752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250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 250 ש”ח לבוגרים</a:t>
            </a:r>
            <a:endParaRPr lang="he-IL" sz="1250" dirty="0"/>
          </a:p>
        </p:txBody>
      </p:sp>
      <p:sp>
        <p:nvSpPr>
          <p:cNvPr id="14" name="Shape 11"/>
          <p:cNvSpPr/>
          <p:nvPr/>
        </p:nvSpPr>
        <p:spPr>
          <a:xfrm>
            <a:off x="548640" y="3712464"/>
            <a:ext cx="11091672" cy="1005840"/>
          </a:xfrm>
          <a:prstGeom prst="roundRect">
            <a:avLst>
              <a:gd name="adj" fmla="val 9091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7040880" y="3712464"/>
            <a:ext cx="4297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סה”כ עלות חומרים</a:t>
            </a:r>
            <a:endParaRPr lang="he-IL" sz="1550" dirty="0"/>
          </a:p>
        </p:txBody>
      </p:sp>
      <p:sp>
        <p:nvSpPr>
          <p:cNvPr id="16" name="Text 13"/>
          <p:cNvSpPr/>
          <p:nvPr/>
        </p:nvSpPr>
        <p:spPr>
          <a:xfrm>
            <a:off x="3749040" y="3712464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1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רגיל: 413 ש”ח</a:t>
            </a:r>
            <a:endParaRPr lang="he-IL" sz="2100" dirty="0"/>
          </a:p>
        </p:txBody>
      </p:sp>
      <p:sp>
        <p:nvSpPr>
          <p:cNvPr id="17" name="Text 14"/>
          <p:cNvSpPr/>
          <p:nvPr/>
        </p:nvSpPr>
        <p:spPr>
          <a:xfrm>
            <a:off x="868680" y="3712464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250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לבוגרי הקורס: 310 ש”ח</a:t>
            </a:r>
            <a:endParaRPr lang="he-IL" sz="1250" dirty="0"/>
          </a:p>
        </p:txBody>
      </p:sp>
      <p:sp>
        <p:nvSpPr>
          <p:cNvPr id="18" name="Shape 15"/>
          <p:cNvSpPr/>
          <p:nvPr/>
        </p:nvSpPr>
        <p:spPr>
          <a:xfrm>
            <a:off x="548640" y="4837176"/>
            <a:ext cx="11091672" cy="1005840"/>
          </a:xfrm>
          <a:prstGeom prst="roundRect">
            <a:avLst>
              <a:gd name="adj" fmla="val 9091"/>
            </a:avLst>
          </a:prstGeom>
          <a:solidFill>
            <a:srgbClr val="1B1713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7040880" y="4837176"/>
            <a:ext cx="4297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550" b="1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בתוספת ציוד מתכלה (כ־50 ש”ח):</a:t>
            </a:r>
            <a:endParaRPr lang="he-IL" sz="1550" dirty="0"/>
          </a:p>
        </p:txBody>
      </p:sp>
      <p:sp>
        <p:nvSpPr>
          <p:cNvPr id="20" name="Text 17"/>
          <p:cNvSpPr/>
          <p:nvPr/>
        </p:nvSpPr>
        <p:spPr>
          <a:xfrm>
            <a:off x="3749040" y="4837176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רגיל: 463 ש”ח</a:t>
            </a:r>
            <a:endParaRPr lang="he-IL" sz="2100" dirty="0"/>
          </a:p>
        </p:txBody>
      </p:sp>
      <p:sp>
        <p:nvSpPr>
          <p:cNvPr id="21" name="Text 18"/>
          <p:cNvSpPr/>
          <p:nvPr/>
        </p:nvSpPr>
        <p:spPr>
          <a:xfrm>
            <a:off x="868680" y="4837176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250" dirty="0">
                <a:solidFill>
                  <a:srgbClr val="D8CC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לבוגרי הקורס: 360 ש”ח</a:t>
            </a:r>
            <a:endParaRPr lang="he-IL" sz="12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מוכרים בפועל?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2801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זהו לא מזרק בודד – זהו טיפול שלם, הוליסטי, עם מענה כולל לכל פרמטר באזור שקעי העיניים</a:t>
            </a:r>
            <a:endParaRPr lang="he-IL" sz="1550" dirty="0"/>
          </a:p>
          <a:p>
            <a:pPr rtl="1" algn="r" indent="0" marL="0">
              <a:lnSpc>
                <a:spcPct val="110000"/>
              </a:lnSpc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טקסטורה, כהות, מילוי, מתיחה</a:t>
            </a:r>
            <a:endParaRPr lang="he-IL" sz="1550" dirty="0"/>
          </a:p>
        </p:txBody>
      </p:sp>
      <p:sp>
        <p:nvSpPr>
          <p:cNvPr id="7" name="Text 4"/>
          <p:cNvSpPr/>
          <p:nvPr/>
        </p:nvSpPr>
        <p:spPr>
          <a:xfrm>
            <a:off x="548640" y="21488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7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תמחור מומלץ למטופלת:</a:t>
            </a:r>
            <a:endParaRPr lang="he-IL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606040"/>
            <a:ext cx="11091672" cy="1143000"/>
          </a:xfrm>
          <a:prstGeom prst="roundRect">
            <a:avLst>
              <a:gd name="adj" fmla="val 8000"/>
            </a:avLst>
          </a:prstGeom>
          <a:solidFill>
            <a:srgbClr val="1B1713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400800" y="2606040"/>
            <a:ext cx="4937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900" b="1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2000 ש”ח לטיפול מלא</a:t>
            </a:r>
            <a:endParaRPr lang="he-IL" sz="1900" dirty="0"/>
          </a:p>
        </p:txBody>
      </p:sp>
      <p:sp>
        <p:nvSpPr>
          <p:cNvPr id="10" name="Text 7"/>
          <p:cNvSpPr/>
          <p:nvPr/>
        </p:nvSpPr>
        <p:spPr>
          <a:xfrm>
            <a:off x="868680" y="2606040"/>
            <a:ext cx="5303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he-IL" altLang="en-US" sz="14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רווח רגיל: 1,537 ש”ח (76.8%)</a:t>
            </a:r>
            <a:endParaRPr lang="he-IL" sz="1450" dirty="0"/>
          </a:p>
          <a:p>
            <a:pPr rtl="1" algn="r" indent="0" marL="0">
              <a:lnSpc>
                <a:spcPct val="110000"/>
              </a:lnSpc>
              <a:buNone/>
            </a:pPr>
            <a:r>
              <a:rPr lang="he-IL" alt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רווח לבוגר קורס: 1,640 ש”ח (82.0%)</a:t>
            </a:r>
            <a:endParaRPr lang="he-IL" sz="1450" dirty="0"/>
          </a:p>
        </p:txBody>
      </p:sp>
      <p:sp>
        <p:nvSpPr>
          <p:cNvPr id="11" name="Shape 8"/>
          <p:cNvSpPr/>
          <p:nvPr/>
        </p:nvSpPr>
        <p:spPr>
          <a:xfrm>
            <a:off x="548640" y="3886200"/>
            <a:ext cx="11091672" cy="1143000"/>
          </a:xfrm>
          <a:prstGeom prst="roundRect">
            <a:avLst>
              <a:gd name="adj" fmla="val 8000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400800" y="3886200"/>
            <a:ext cx="4937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1800 ש”ח למטופלת מתקשה – ועדיין ברווח מצוין</a:t>
            </a:r>
            <a:endParaRPr lang="he-IL" sz="1550" dirty="0"/>
          </a:p>
        </p:txBody>
      </p:sp>
      <p:sp>
        <p:nvSpPr>
          <p:cNvPr id="13" name="Text 10"/>
          <p:cNvSpPr/>
          <p:nvPr/>
        </p:nvSpPr>
        <p:spPr>
          <a:xfrm>
            <a:off x="868680" y="3886200"/>
            <a:ext cx="5303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רווח רגיל: 1,337 ש”ח (74.3%)</a:t>
            </a:r>
            <a:endParaRPr lang="he-IL" sz="1450" dirty="0"/>
          </a:p>
          <a:p>
            <a:pPr rtl="1" algn="r" indent="0" marL="0">
              <a:lnSpc>
                <a:spcPct val="110000"/>
              </a:lnSpc>
              <a:buNone/>
            </a:pPr>
            <a:r>
              <a:rPr lang="he-IL" altLang="en-US" sz="14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רווח לבוגר קורס: 1,440 ש”ח (80.0%)</a:t>
            </a:r>
            <a:endParaRPr lang="he-IL" sz="1450" dirty="0"/>
          </a:p>
        </p:txBody>
      </p:sp>
      <p:sp>
        <p:nvSpPr>
          <p:cNvPr id="14" name="Text 11"/>
          <p:cNvSpPr/>
          <p:nvPr/>
        </p:nvSpPr>
        <p:spPr>
          <a:xfrm>
            <a:off x="1371600" y="5257800"/>
            <a:ext cx="102687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כך, בתוספת קטנה בלבד לעלות של מזרק בודד</a:t>
            </a:r>
            <a:endParaRPr lang="he-IL" sz="1450" dirty="0"/>
          </a:p>
          <a:p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שידרגתם את המכירה לטיפול מקצועי, מלא ומשתלם – לכם ולמטופלת</a:t>
            </a:r>
            <a:endParaRPr lang="he-IL" sz="145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4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גם יצרתם רווח גבוה, גם הבאתם לתוצאה מיטבית – וגם פתחתם פתח להמשכיות טיפולית</a:t>
            </a:r>
            <a:endParaRPr lang="he-IL" sz="14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3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תוכנית משולבת נוספת: שפתיים והאזור הפריאורלי</a:t>
            </a:r>
            <a:endParaRPr lang="he-IL" sz="2300" dirty="0"/>
          </a:p>
        </p:txBody>
      </p:sp>
      <p:sp>
        <p:nvSpPr>
          <p:cNvPr id="6" name="Text 3"/>
          <p:cNvSpPr/>
          <p:nvPr/>
        </p:nvSpPr>
        <p:spPr>
          <a:xfrm>
            <a:off x="548640" y="1188720"/>
            <a:ext cx="1109167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מטופלת מבקשת “רק מילוי שפתיים”</a:t>
            </a:r>
            <a:endParaRPr lang="he-IL" sz="1350" dirty="0"/>
          </a:p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3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במקום מזרק בודד – תוכנית הוליסטית לכל האזור:</a:t>
            </a:r>
            <a:endParaRPr lang="he-IL" sz="1350" dirty="0"/>
          </a:p>
          <a:p>
            <a:pPr rtl="1" algn="r" marL="342900" indent="-3429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מילוי מדויק של השפתיים – נפח, הגדרה וסימטריה (מזרק חומצה היאלורונית, אזור מורכב)</a:t>
            </a:r>
            <a:endParaRPr lang="he-IL" sz="1350" dirty="0"/>
          </a:p>
          <a:p>
            <a:pPr rtl="1" algn="r" marL="342900" indent="-3429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סלבוסטר סביב הפה – שיפור מרקם העור וטיפול בקמטוטים הפריאורליים (1 מ”ל)</a:t>
            </a:r>
            <a:endParaRPr lang="he-IL" sz="1350" dirty="0"/>
          </a:p>
          <a:p>
            <a:pPr rtl="1" algn="r" marL="342900" indent="-342900">
              <a:lnSpc>
                <a:spcPct val="112000"/>
              </a:lnSpc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איזון זוויות הפה – חלוקת החומר לפי המבנה, לא רק “למלא שפה”</a:t>
            </a:r>
            <a:endParaRPr lang="he-IL" sz="1350" dirty="0"/>
          </a:p>
        </p:txBody>
      </p:sp>
      <p:sp>
        <p:nvSpPr>
          <p:cNvPr id="7" name="Shape 4"/>
          <p:cNvSpPr/>
          <p:nvPr/>
        </p:nvSpPr>
        <p:spPr>
          <a:xfrm>
            <a:off x="548640" y="2788920"/>
            <a:ext cx="11091672" cy="868680"/>
          </a:xfrm>
          <a:prstGeom prst="roundRect">
            <a:avLst>
              <a:gd name="adj" fmla="val 10526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68680" y="2788920"/>
            <a:ext cx="104515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עלות חומרים: מזרק מילוי 330 + סלבוסטר 1 מ”ל 83 + ציוד מתכלה כ־50 = 463 ש”ח | לבוגרי הקורס: 360 ש”ח</a:t>
            </a:r>
            <a:endParaRPr lang="he-IL" sz="1400" dirty="0"/>
          </a:p>
        </p:txBody>
      </p:sp>
      <p:sp>
        <p:nvSpPr>
          <p:cNvPr id="9" name="Shape 6"/>
          <p:cNvSpPr/>
          <p:nvPr/>
        </p:nvSpPr>
        <p:spPr>
          <a:xfrm>
            <a:off x="548640" y="3794760"/>
            <a:ext cx="11091672" cy="1051560"/>
          </a:xfrm>
          <a:prstGeom prst="roundRect">
            <a:avLst>
              <a:gd name="adj" fmla="val 8696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68680" y="3931920"/>
            <a:ext cx="104515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500"/>
              </a:spcAft>
              <a:buNone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בנפרד לפי המחירון: מילוי שפתיים 1,800 ₪ + סלבוסטר 1,500 ₪ = 3,300 ₪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4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מחיר מומלץ לתוכנית המשולבת: 2,500 ₪ – המטופלת מקבלת תוכנית שלמה במחיר משתלם</a:t>
            </a:r>
            <a:endParaRPr lang="he-IL" sz="1400" dirty="0"/>
          </a:p>
        </p:txBody>
      </p:sp>
      <p:sp>
        <p:nvSpPr>
          <p:cNvPr id="11" name="Shape 8"/>
          <p:cNvSpPr/>
          <p:nvPr/>
        </p:nvSpPr>
        <p:spPr>
          <a:xfrm>
            <a:off x="548640" y="4983480"/>
            <a:ext cx="11091672" cy="1051560"/>
          </a:xfrm>
          <a:prstGeom prst="roundRect">
            <a:avLst>
              <a:gd name="adj" fmla="val 8696"/>
            </a:avLst>
          </a:prstGeom>
          <a:solidFill>
            <a:srgbClr val="1B1713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868680" y="5120640"/>
            <a:ext cx="104515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500"/>
              </a:spcAft>
              <a:buNone/>
            </a:pPr>
            <a:r>
              <a:rPr lang="he-IL" alt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רווח רגיל: 2,037 ש”ח (81.5%) | לבוגר קורס: 2,140 ש”ח (85.6%)</a:t>
            </a:r>
            <a:endParaRPr lang="he-IL" sz="135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350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כמעט פי 1.5 מהרווח על מזרק שפתיים בודד – עם תוצאה מקיפה יותר ופתח להמשכיות.</a:t>
            </a:r>
            <a:endParaRPr lang="he-IL" sz="13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3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תוכנית משולבת נוספת: הרמוניה של השליש התחתון</a:t>
            </a:r>
            <a:endParaRPr lang="he-IL" sz="2300" dirty="0"/>
          </a:p>
        </p:txBody>
      </p:sp>
      <p:sp>
        <p:nvSpPr>
          <p:cNvPr id="6" name="Text 3"/>
          <p:cNvSpPr/>
          <p:nvPr/>
        </p:nvSpPr>
        <p:spPr>
          <a:xfrm>
            <a:off x="548640" y="1188720"/>
            <a:ext cx="1109167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מטופלת מבקשת מזרק אחד לקמט הנאזולביאלי</a:t>
            </a:r>
            <a:endParaRPr lang="he-IL" sz="1350" dirty="0"/>
          </a:p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3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אבל הקמט הוא הסימפטום – בשליש התחתון בונים מענה שלם, לא רק ממלאים קו:</a:t>
            </a:r>
            <a:endParaRPr lang="he-IL" sz="1350" dirty="0"/>
          </a:p>
          <a:p>
            <a:pPr rtl="1" algn="r" marL="342900" indent="-3429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שחזור נפח בעצמות הלחיים ותמיכה במבנה – בשליש התחתון מדובר במינימום 3 מזרקי חומצה היאלורונית</a:t>
            </a:r>
            <a:endParaRPr lang="he-IL" sz="1350" dirty="0"/>
          </a:p>
          <a:p>
            <a:pPr rtl="1" algn="r" marL="342900" indent="-3429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בוטוקס לשריר ה-DAO – לשחרור המשיכה של זוויות הפה כלפי מטה, וליצירת אפקט הרמה טבעי</a:t>
            </a:r>
            <a:endParaRPr lang="he-IL" sz="1350" dirty="0"/>
          </a:p>
          <a:p>
            <a:pPr rtl="1" algn="r" marL="342900" indent="-342900">
              <a:lnSpc>
                <a:spcPct val="112000"/>
              </a:lnSpc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סלבוסטר – שיפור מרקם העור, לחות וטיפול בקמטוטים עדינים סביב הפה (1 מ”ל)</a:t>
            </a:r>
            <a:endParaRPr lang="he-IL" sz="1350" dirty="0"/>
          </a:p>
        </p:txBody>
      </p:sp>
      <p:sp>
        <p:nvSpPr>
          <p:cNvPr id="7" name="Shape 4"/>
          <p:cNvSpPr/>
          <p:nvPr/>
        </p:nvSpPr>
        <p:spPr>
          <a:xfrm>
            <a:off x="548640" y="2788920"/>
            <a:ext cx="11091672" cy="960120"/>
          </a:xfrm>
          <a:prstGeom prst="roundRect">
            <a:avLst>
              <a:gd name="adj" fmla="val 9524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68680" y="2898648"/>
            <a:ext cx="104515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he-IL" altLang="en-US" sz="13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עלות חומרים: 3 מזרקי מילוי 990 + סלבוסטר 1 מ”ל 83 + ציוד מתכלה כ־50 = 1,123 ש”ח | לבוגרי הקורס: 860 ש”ח</a:t>
            </a:r>
            <a:endParaRPr lang="he-IL" sz="1350" dirty="0"/>
          </a:p>
          <a:p>
            <a:pPr rtl="1" algn="r" indent="0" marL="0">
              <a:lnSpc>
                <a:spcPct val="110000"/>
              </a:lnSpc>
              <a:buNone/>
            </a:pPr>
            <a:r>
              <a:rPr lang="he-IL" altLang="en-US" sz="1200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בתוספת יחידות הבוטוקס לפי השימוש בפועל</a:t>
            </a:r>
            <a:endParaRPr lang="he-IL" sz="1350" dirty="0"/>
          </a:p>
        </p:txBody>
      </p:sp>
      <p:sp>
        <p:nvSpPr>
          <p:cNvPr id="9" name="Shape 6"/>
          <p:cNvSpPr/>
          <p:nvPr/>
        </p:nvSpPr>
        <p:spPr>
          <a:xfrm>
            <a:off x="548640" y="3886200"/>
            <a:ext cx="11091672" cy="1005840"/>
          </a:xfrm>
          <a:prstGeom prst="roundRect">
            <a:avLst>
              <a:gd name="adj" fmla="val 9091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68680" y="4023360"/>
            <a:ext cx="104515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500"/>
              </a:spcAft>
              <a:buNone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בנפרד לפי המחירון: 3 מזרקים (אזורים כלליים) 4,000 ₪ + בוטוקס אזור אחד 500 ₪ + סלבוסטר 1,500 ₪ = 6,000 ₪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4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מחיר מומלץ לתוכנית המשולבת: 5,000 ₪ (בקו אחד עם מדיניות החבילות – מעל 5,000 ₪: 15% הנחה)</a:t>
            </a:r>
            <a:endParaRPr lang="he-IL" sz="1400" dirty="0"/>
          </a:p>
        </p:txBody>
      </p:sp>
      <p:sp>
        <p:nvSpPr>
          <p:cNvPr id="11" name="Shape 8"/>
          <p:cNvSpPr/>
          <p:nvPr/>
        </p:nvSpPr>
        <p:spPr>
          <a:xfrm>
            <a:off x="548640" y="5029200"/>
            <a:ext cx="11091672" cy="1005840"/>
          </a:xfrm>
          <a:prstGeom prst="roundRect">
            <a:avLst>
              <a:gd name="adj" fmla="val 9091"/>
            </a:avLst>
          </a:prstGeom>
          <a:solidFill>
            <a:srgbClr val="1B1713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868680" y="5166360"/>
            <a:ext cx="104515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500"/>
              </a:spcAft>
              <a:buNone/>
            </a:pPr>
            <a:r>
              <a:rPr lang="he-IL" alt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רווח רגיל: 3,877 ש”ח (77.5%) | לבוגר קורס: 4,140 ש”ח (82.8%)</a:t>
            </a:r>
            <a:endParaRPr lang="he-IL" sz="135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350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שלוש מודליות – נפח, שריר ואיכות עור – במקום קו אחד מלא. תוצאה הרמונית, ועסקה של 5,000 ₪ במקום 1,400 ₪.</a:t>
            </a:r>
            <a:endParaRPr lang="he-IL" sz="13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מהטיפול הבודד לחודש עבודה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18872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ניקח את תוכנית שקעי העיניים (2,000 ש”ח לטיפול, רווח של 1,537–1,640 ש”ח) ונראה מה קורה בחודש:</a:t>
            </a:r>
            <a:endParaRPr lang="he-IL" sz="15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1109167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291840"/>
                <a:gridCol w="2194560"/>
                <a:gridCol w="2313432"/>
              </a:tblGrid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רווח חודשי לבוגר קורס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רווח חודשי רגיל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טיפולים בחודש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תוכניות טיפול בשבוע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6E5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13,120 ש”ח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12,296 ש”ח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19,680 ש”ח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18,444 ש”ח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32,800 ש”ח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30,740 ש”ח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502920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he-IL" altLang="en-US" sz="15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וזה עוד לפני בוטוקס, סדרות סלבוסטר וטיפולי המשך.</a:t>
            </a:r>
            <a:endParaRPr lang="he-IL" sz="150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200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סימולציה להמחשה בלבד – מבוסס על 4 שבועות, לפני מע”מ, עלויות קליניקה ומסים.</a:t>
            </a:r>
            <a:endParaRPr lang="he-IL" sz="15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המחירון המומלץ לבוגרים (1/2)</a:t>
            </a:r>
            <a:endParaRPr lang="he-IL" sz="26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371600"/>
                <a:gridCol w="3108960"/>
                <a:gridCol w="3776472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הערה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מחיר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טיפול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קטגוריה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6E5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 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אזור אחד (מצח, בין הגבות או צידי העיניים)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טיפולי בוטוקס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8A6E5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מבצע מיוחד לרגל השקת הקליניקה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1,000 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שלושה אזורים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טיפולי בוטוקס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1,400 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מזרק אחד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חומצה היאלורונית – אזורים כלליים (קמטי נאזולביאל, מריונטה, רקות, עצמות לחיים)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8A6E5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חיסכון של 200 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2,600 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שני מזרקים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חומצה היאלורונית – אזורים כלליים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1,800 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מזרק אחד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חומצה היאלורונית – אזורים מורכבים (שקעי עיניים, עיצוב ופיסול אף, מילוי שפתיים)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8A6E5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חיסכון של 200 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3,400 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שני מזרקים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חומצה היאלורונית – אזורים מורכבים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1,200 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טיפול בודד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סקין בוסטר (Skin Booster)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8A6E5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חיסכון של 600 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3,000 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סדרה של 3 טיפולים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סקין בוסטר (Skin Booster)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המחירון המומלץ לבוגרים (2/2)</a:t>
            </a:r>
            <a:endParaRPr lang="he-IL" sz="26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371600"/>
                <a:gridCol w="3108960"/>
                <a:gridCol w="3776472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הערה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מחיר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טיפול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קטגוריה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6E5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4,000 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טיפול בודד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סקולפטרה (Sculptra)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8A6E5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חיסכון של 1,500 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10,500 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סדרה של 3 טיפולים (בסגירה מראש)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סקולפטרה (Sculptra)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1,500 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טיפול בודד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סלבוסטר (Cellbooster)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8A6E5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חיסכון של 300 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4,200 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סדרה של 3 טיפולים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סלבוסטר (Cellbooster)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8A6E5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חיסכון של 1,000 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8,000 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סדרה של 6 טיפולים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סלבוסטר (Cellbooster)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4754880"/>
            <a:ext cx="11091672" cy="1234440"/>
          </a:xfrm>
          <a:prstGeom prst="roundRect">
            <a:avLst>
              <a:gd name="adj" fmla="val 7407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4"/>
          <p:cNvSpPr/>
          <p:nvPr/>
        </p:nvSpPr>
        <p:spPr>
          <a:xfrm>
            <a:off x="868680" y="4901184"/>
            <a:ext cx="104515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he-IL" altLang="en-US" sz="13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הערות חשובות</a:t>
            </a:r>
            <a:endParaRPr lang="he-IL" sz="1300" dirty="0"/>
          </a:p>
          <a:p>
            <a:pPr rtl="1" algn="r"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הטיפולים מותאמים באופן אישי, תוך דגש על מראה טבעי והרמוני.</a:t>
            </a:r>
            <a:endParaRPr lang="he-IL" sz="1300" dirty="0"/>
          </a:p>
          <a:p>
            <a:pPr rtl="1" algn="r" indent="0" marL="0">
              <a:lnSpc>
                <a:spcPct val="110000"/>
              </a:lnSpc>
              <a:buNone/>
            </a:pPr>
            <a:r>
              <a:rPr lang="he-IL" altLang="en-US" sz="13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תיקוני טאצ'־אפ כלולים במסגרת ביקורת עד חודש מהטיפול.</a:t>
            </a:r>
            <a:endParaRPr lang="he-IL" sz="13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מבצעים מיוחדים</a:t>
            </a:r>
            <a:endParaRPr lang="he-IL" sz="2600" dirty="0"/>
          </a:p>
        </p:txBody>
      </p:sp>
      <p:sp>
        <p:nvSpPr>
          <p:cNvPr id="6" name="Shape 3"/>
          <p:cNvSpPr/>
          <p:nvPr/>
        </p:nvSpPr>
        <p:spPr>
          <a:xfrm>
            <a:off x="8065008" y="1554480"/>
            <a:ext cx="3575304" cy="3017520"/>
          </a:xfrm>
          <a:prstGeom prst="roundRect">
            <a:avLst>
              <a:gd name="adj" fmla="val 3030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321040" y="178308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מבצע “חבר מביא חבר”</a:t>
            </a:r>
            <a:endParaRPr lang="he-IL" sz="1550" dirty="0"/>
          </a:p>
        </p:txBody>
      </p:sp>
      <p:sp>
        <p:nvSpPr>
          <p:cNvPr id="8" name="Text 5"/>
          <p:cNvSpPr/>
          <p:nvPr/>
        </p:nvSpPr>
        <p:spPr>
          <a:xfrm>
            <a:off x="8321040" y="2514600"/>
            <a:ext cx="3063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החבר מקבל 10% הנחה על הטיפול הראשון.</a:t>
            </a:r>
            <a:endParaRPr lang="he-IL" sz="1300" dirty="0"/>
          </a:p>
          <a:p>
            <a:pPr rtl="1" algn="r" marL="342900" indent="-342900">
              <a:lnSpc>
                <a:spcPct val="112000"/>
              </a:lnSpc>
              <a:buSzPct val="100000"/>
              <a:buChar char="•"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אתה מקבל 15% הנחה על הטיפול הבא שלך.</a:t>
            </a:r>
            <a:endParaRPr lang="he-IL" sz="1300" dirty="0"/>
          </a:p>
        </p:txBody>
      </p:sp>
      <p:sp>
        <p:nvSpPr>
          <p:cNvPr id="9" name="Shape 6"/>
          <p:cNvSpPr/>
          <p:nvPr/>
        </p:nvSpPr>
        <p:spPr>
          <a:xfrm>
            <a:off x="4306824" y="1554480"/>
            <a:ext cx="3575304" cy="3017520"/>
          </a:xfrm>
          <a:prstGeom prst="roundRect">
            <a:avLst>
              <a:gd name="adj" fmla="val 3030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4562856" y="178308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מבצע טיפול ראשון</a:t>
            </a:r>
            <a:endParaRPr lang="he-IL" sz="1550" dirty="0"/>
          </a:p>
        </p:txBody>
      </p:sp>
      <p:sp>
        <p:nvSpPr>
          <p:cNvPr id="11" name="Text 8"/>
          <p:cNvSpPr/>
          <p:nvPr/>
        </p:nvSpPr>
        <p:spPr>
          <a:xfrm>
            <a:off x="4562856" y="2514600"/>
            <a:ext cx="3063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marL="342900" indent="-342900">
              <a:lnSpc>
                <a:spcPct val="112000"/>
              </a:lnSpc>
              <a:buSzPct val="100000"/>
              <a:buChar char="•"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לקוחות חדשים? 10% הנחה על הטיפול הראשון מכל סוג (לא כולל מבצעים מיוחדים).</a:t>
            </a:r>
            <a:endParaRPr lang="he-IL" sz="1300" dirty="0"/>
          </a:p>
        </p:txBody>
      </p:sp>
      <p:sp>
        <p:nvSpPr>
          <p:cNvPr id="12" name="Shape 9"/>
          <p:cNvSpPr/>
          <p:nvPr/>
        </p:nvSpPr>
        <p:spPr>
          <a:xfrm>
            <a:off x="548640" y="1554480"/>
            <a:ext cx="3575304" cy="3017520"/>
          </a:xfrm>
          <a:prstGeom prst="roundRect">
            <a:avLst>
              <a:gd name="adj" fmla="val 3030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804672" y="178308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חבילת טיפולים מותאמת אישית</a:t>
            </a:r>
            <a:endParaRPr lang="he-IL" sz="1550" dirty="0"/>
          </a:p>
        </p:txBody>
      </p:sp>
      <p:sp>
        <p:nvSpPr>
          <p:cNvPr id="14" name="Text 11"/>
          <p:cNvSpPr/>
          <p:nvPr/>
        </p:nvSpPr>
        <p:spPr>
          <a:xfrm>
            <a:off x="804672" y="2514600"/>
            <a:ext cx="3063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מעל 3,000 ₪: 10% הנחה על כל החבילה.</a:t>
            </a:r>
            <a:endParaRPr lang="he-IL" sz="1300" dirty="0"/>
          </a:p>
          <a:p>
            <a:pPr rtl="1" algn="r" marL="342900" indent="-342900">
              <a:lnSpc>
                <a:spcPct val="112000"/>
              </a:lnSpc>
              <a:buSzPct val="100000"/>
              <a:buChar char="•"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מעל 5,000 ₪: 15% הנחה.</a:t>
            </a:r>
            <a:endParaRPr lang="he-IL" sz="1300" dirty="0"/>
          </a:p>
        </p:txBody>
      </p:sp>
      <p:sp>
        <p:nvSpPr>
          <p:cNvPr id="15" name="Text 12"/>
          <p:cNvSpPr/>
          <p:nvPr/>
        </p:nvSpPr>
        <p:spPr>
          <a:xfrm>
            <a:off x="1371600" y="5029200"/>
            <a:ext cx="102687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4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הנחה היא כלי – לא ברירת מחדל. השתמשו בה כדי לפתוח דלת, לתגמל נאמנות ולסגור חבילות – לא כדי להתחרות על מחיר.</a:t>
            </a:r>
            <a:endParaRPr lang="he-IL" sz="14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החברות המובילות בתחום חומרי המילוי האסתטיים</a:t>
            </a:r>
            <a:endParaRPr lang="he-IL" sz="26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188720"/>
                <a:gridCol w="2286000"/>
                <a:gridCol w="960120"/>
                <a:gridCol w="960120"/>
                <a:gridCol w="1188720"/>
                <a:gridCol w="868680"/>
                <a:gridCol w="1143000"/>
                <a:gridCol w="1124712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המזרק הנמכר ביותר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ביוסטימולטור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אינדיקציות עיקריות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צילוב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FDA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משווק בארץ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ארץ ייצור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יצרן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שם מסחרי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6E52"/>
                    </a:solidFill>
                  </a:tcPr>
                </a:tc>
              </a:tr>
              <a:tr h="1463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XL, XXL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Radiesse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שפתיים, קמטים, שקעים, קו לסת, סנטר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אלפאמדיקס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צרפת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Vivacy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Stylage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1463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שפתיים, קמטים עדינים, נפחים, סנטר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 (כל המוצרים)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אלפאמדיקס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גרמניה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Merz Aesthetic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Belotero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החברות המובילות בתחום חומרי המילוי האסתטיים (המשך)</a:t>
            </a:r>
            <a:endParaRPr lang="he-IL" sz="26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188720"/>
                <a:gridCol w="2286000"/>
                <a:gridCol w="960120"/>
                <a:gridCol w="960120"/>
                <a:gridCol w="1188720"/>
                <a:gridCol w="868680"/>
                <a:gridCol w="1143000"/>
                <a:gridCol w="1124712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המזרק הנמכר ביותר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ביוסטימולטור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אינדיקציות עיקריות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צילוב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FDA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משווק בארץ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ארץ ייצור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יצרן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שם מסחרי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6E52"/>
                    </a:solidFill>
                  </a:tcPr>
                </a:tc>
              </a:tr>
              <a:tr h="1325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Redensity II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קמטים שטחיים, נפחים, שפתיים, רכות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 (Redensity II בלבד)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ביוטים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שוויץ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Teoxane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Teosyal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1325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Shape, Outline, Contour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שפתיים, קמטים בינוניים, קווי מתאר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 (Versa בלבד)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קנדה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Prollenium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Revanesse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1325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Ultra 3, Voluma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HarmonyCa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קמטים עמוקים, שפתיים, נפחים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מוצרים מתוך המגוון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אלרגן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אירלנד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Allergan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Juvederm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292608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1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מדריך רופא אסתטיקה להתמודדות עם התנגדויות למחיר</a:t>
            </a:r>
            <a:endParaRPr lang="he-IL" sz="2100" dirty="0"/>
          </a:p>
        </p:txBody>
      </p:sp>
      <p:sp>
        <p:nvSpPr>
          <p:cNvPr id="6" name="Text 3"/>
          <p:cNvSpPr/>
          <p:nvPr/>
        </p:nvSpPr>
        <p:spPr>
          <a:xfrm>
            <a:off x="6172200" y="960120"/>
            <a:ext cx="5468112" cy="5394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he-IL" altLang="en-US" sz="12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🧠 שלב ראשון – להבין את ההתנגדות לעומק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שאלות לברור ההתנגדות האמיתית: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“אפשר לשאול מה גרם לך להרגיש שזה יקר?”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“מה היית מצפה לכלול במחיר כזה?”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“השוואת מול מטפלים אחרים?”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“זה משהו שלא תכננת כלכלית עכשיו או שזו שאלה של ערך בעינייך?”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900"/>
              </a:spcAft>
              <a:buNone/>
            </a:pPr>
            <a:r>
              <a:rPr lang="he-IL" altLang="en-US" sz="12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מטרה: לברר אם מדובר בהתנגדות כלכלית, רגשית או טכנית – ואז להתאים את התגובה.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he-IL" altLang="en-US" sz="12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💎 שלב שני – חיזוק ערך ולא הנחה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במקום להוריד מחיר, הדגש את היתרונות הייחודיים: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תיק עבודות / לפני-אחרי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הכשרה מתקדמת (למשל עם אולטרסאונד או ביוסטימולטורים)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חומרים רשמיים בלבד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שירות וליווי אישי אחרי טיפול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בטיחות רפואית על ידי רופא בלבד</a:t>
            </a:r>
            <a:endParaRPr lang="he-IL" sz="1200" dirty="0"/>
          </a:p>
        </p:txBody>
      </p:sp>
      <p:sp>
        <p:nvSpPr>
          <p:cNvPr id="7" name="Text 4"/>
          <p:cNvSpPr/>
          <p:nvPr/>
        </p:nvSpPr>
        <p:spPr>
          <a:xfrm>
            <a:off x="548640" y="960120"/>
            <a:ext cx="5468112" cy="5394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he-IL" altLang="en-US" sz="12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משפטי מפתח: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“טיפול אסתטי טוב הוא לא הוצאה – הוא השקעה בביטחון העצמי שלך.”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“אני לא הכי זולה, אבל אני כן הכי מדויקת, בטוחה ומקצועית.”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“אפשר לעשות בזול, אבל לא פשרות כשזה הפנים שלך.”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he-IL" altLang="en-US" sz="12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🧰 שלב שלישי – לתת תחושת שליטה ופתרונות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הצעה לפצל את הטיפול לשלבים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אפשרות לפריסת תשלומים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התאמת טיפול חלופי בתקציב נגיש יותר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משפט מוצע: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900"/>
              </a:spcAft>
              <a:buNone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“אני מבינה שכרגע זה לא בתקציב – אפשר להתחיל בפעולה אחת מדויקת שתיתן שינוי מיידי.”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he-IL" altLang="en-US" sz="12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🚫 שלב רביעי – לשחרר את מי שלא מתאים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כל לקוח הוא לקוח מדויק.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 שמחפש רק מחיר – לא תמיד מבין את הערך.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buNone/>
            </a:pPr>
            <a:r>
              <a:rPr lang="he-IL" altLang="en-US" sz="12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שימרו על ערך עצמי ומיתוג מקצועי. זה חלק מהצלחה רפואית.</a:t>
            </a:r>
            <a:endParaRPr lang="he-IL" sz="1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292608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1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מדריך רופא אסתטיקה להתמודדות עם התנגדויות למחיר – גרסה מעודכנת</a:t>
            </a:r>
            <a:endParaRPr lang="he-IL" sz="2100" dirty="0"/>
          </a:p>
        </p:txBody>
      </p:sp>
      <p:sp>
        <p:nvSpPr>
          <p:cNvPr id="6" name="Text 3"/>
          <p:cNvSpPr/>
          <p:nvPr/>
        </p:nvSpPr>
        <p:spPr>
          <a:xfrm>
            <a:off x="6172200" y="960120"/>
            <a:ext cx="5468112" cy="5394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he-IL" altLang="en-US" sz="12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🧠 שלב ראשון – להבין את ההתנגדות לעומק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שאלות לברור ההתנגדות האמיתית: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“אפשר לשאול מה גרם לך להרגיש שזה יקר?”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“מה היית מצפה לכלול במחיר כזה?”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“יקר ביחס לך? האם היא משווה בינכם לבין רשת?”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“זה משהו שלא תכננת כלכלית עכשיו או שזו שאלה של ערך בעינייך?”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900"/>
              </a:spcAft>
              <a:buNone/>
            </a:pPr>
            <a:r>
              <a:rPr lang="he-IL" altLang="en-US" sz="12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מטרה: לברר אם מדובר בהתנגדות כלכלית, רגשית או טכנית – ואז להתאים את התגובה.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he-IL" altLang="en-US" sz="12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💎 שלב שני – חיזוק ערך ולא הנחה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במקום להוריד מחיר, הדגש את היתרונות הייחודיים: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תחזרו לבידול שלכם, לחוזקות שלכם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הכשרה מתקדמת, יחס אישי, יכולת מענה וזמינות גבוהה, בניית תוכנית טיפולים מותאמת אישית.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חומרים פרימיום בלבד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שירות וליווי אישי אחרי טיפול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בטיחות רפואית על ידי רופא בלבד</a:t>
            </a:r>
            <a:endParaRPr lang="he-IL" sz="1200" dirty="0"/>
          </a:p>
        </p:txBody>
      </p:sp>
      <p:sp>
        <p:nvSpPr>
          <p:cNvPr id="7" name="Text 4"/>
          <p:cNvSpPr/>
          <p:nvPr/>
        </p:nvSpPr>
        <p:spPr>
          <a:xfrm>
            <a:off x="548640" y="960120"/>
            <a:ext cx="5468112" cy="5394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he-IL" altLang="en-US" sz="12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משפטי מפתח: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“טיפול אסתטי טוב הוא לא הוצאה – הוא השקעה בביטחון העצמי שלך.”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“אני לא הכי זולה, אבל אני כן הכי מדויקת, בטוחה ומקצועית.”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“מחיר הוא לא השיקול המרכזי כשמדובר בפנים שלך.”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he-IL" altLang="en-US" sz="12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🧰 שלב שלישי – לתת תחושת שליטה ופתרונות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הצעה לפצל את הטיפול לשלבים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אפשרות לפריסת תשלומים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התאמת טיפול חלופי בתקציב נגיש יותר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משפט מוצע: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900"/>
              </a:spcAft>
              <a:buNone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“אני מבינה שכרגע זה לא בתקציב – אפשר להתחיל בפעולה אחת מדויקת שתיתן שינוי מיידי.”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he-IL" altLang="en-US" sz="12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🚫 שלב רביעי – לשחרר את מי שלא מתאים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כל לקוח הוא לקוח מדויק.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 שמחפש רק מחיר – לא תמיד מבין את הערך.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buNone/>
            </a:pPr>
            <a:r>
              <a:rPr lang="he-IL" altLang="en-US" sz="12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שימרו על ערך עצמי ומיתוג מקצועי. זה חלק מהצלחה רפואית.</a:t>
            </a:r>
            <a:endParaRPr lang="he-IL" sz="12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שתי התנגדויות נפוצות – שאינן קשורות למחיר</a:t>
            </a:r>
            <a:endParaRPr lang="he-IL" sz="2400" dirty="0"/>
          </a:p>
        </p:txBody>
      </p:sp>
      <p:sp>
        <p:nvSpPr>
          <p:cNvPr id="6" name="Shape 3"/>
          <p:cNvSpPr/>
          <p:nvPr/>
        </p:nvSpPr>
        <p:spPr>
          <a:xfrm>
            <a:off x="6263640" y="1371600"/>
            <a:ext cx="5376672" cy="4754880"/>
          </a:xfrm>
          <a:prstGeom prst="roundRect">
            <a:avLst>
              <a:gd name="adj" fmla="val 1923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6556248" y="1600200"/>
            <a:ext cx="4791456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he-IL" altLang="en-US" sz="1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“אני צריכה לחשוב על זה”</a:t>
            </a:r>
            <a:endParaRPr lang="he-IL" sz="1250" dirty="0"/>
          </a:p>
          <a:p>
            <a:pPr rtl="1" algn="r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12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באמת עומד מאחורי זה:</a:t>
            </a:r>
            <a:endParaRPr lang="he-IL" sz="1250" dirty="0"/>
          </a:p>
          <a:p>
            <a:pPr rtl="1" algn="r"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he-IL" altLang="en-US" sz="12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לרוב זו לא באמת מחשבה – זה חשש שלא נאמר: מהתוצאה, מהתקציב, או ממה יגידו.</a:t>
            </a:r>
            <a:endParaRPr lang="he-IL" sz="1250" dirty="0"/>
          </a:p>
          <a:p>
            <a:pPr rtl="1" algn="r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12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שיקוף:</a:t>
            </a:r>
            <a:endParaRPr lang="he-IL" sz="1250" dirty="0"/>
          </a:p>
          <a:p>
            <a:pPr rtl="1" algn="r"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he-IL" altLang="en-US" sz="12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“ברור, זו החלטה שצריכה להרגיש נכונה. אפשר לשאול מה הכי מעסיק אותך – התוצאה, התקציב או משהו אחר?”</a:t>
            </a:r>
            <a:endParaRPr lang="he-IL" sz="1250" dirty="0"/>
          </a:p>
          <a:p>
            <a:pPr rtl="1" algn="r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12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עושים בפועל:</a:t>
            </a:r>
            <a:endParaRPr lang="he-IL" sz="125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2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מזהים את החשש האמיתי ונותנים לו מענה נקודתי. קובעים נקודת המשך מוגדרת (“אשלח לך את התוכנית ונדבר ביום חמישי”) – ומשם פרוטוקול הפולו־אפ שכבר בניתם.</a:t>
            </a:r>
            <a:endParaRPr lang="he-IL" sz="1250" dirty="0"/>
          </a:p>
        </p:txBody>
      </p:sp>
      <p:sp>
        <p:nvSpPr>
          <p:cNvPr id="8" name="Shape 5"/>
          <p:cNvSpPr/>
          <p:nvPr/>
        </p:nvSpPr>
        <p:spPr>
          <a:xfrm>
            <a:off x="548640" y="1371600"/>
            <a:ext cx="5440680" cy="4754880"/>
          </a:xfrm>
          <a:prstGeom prst="roundRect">
            <a:avLst>
              <a:gd name="adj" fmla="val 1923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41248" y="1600200"/>
            <a:ext cx="4855464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he-IL" altLang="en-US" sz="1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“אני מפחדת שיראו שעשיתי / שזה ייראה מלאכותי”</a:t>
            </a:r>
            <a:endParaRPr lang="he-IL" sz="1250" dirty="0"/>
          </a:p>
          <a:p>
            <a:pPr rtl="1" algn="r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12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באמת עומד מאחורי זה:</a:t>
            </a:r>
            <a:endParaRPr lang="he-IL" sz="1250" dirty="0"/>
          </a:p>
          <a:p>
            <a:pPr rtl="1" algn="r"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he-IL" altLang="en-US" sz="12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פחד מאיבוד זהות ומשיפוט חברתי – לא התנגדות לטיפול עצמו.</a:t>
            </a:r>
            <a:endParaRPr lang="he-IL" sz="1250" dirty="0"/>
          </a:p>
          <a:p>
            <a:pPr rtl="1" algn="r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12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שיקוף:</a:t>
            </a:r>
            <a:endParaRPr lang="he-IL" sz="1250" dirty="0"/>
          </a:p>
          <a:p>
            <a:pPr rtl="1" algn="r"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he-IL" altLang="en-US" sz="12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“הכי חשוב לך שיראו אותך – לא את ההזרקה. אני איתך בזה.”</a:t>
            </a:r>
            <a:endParaRPr lang="he-IL" sz="1250" dirty="0"/>
          </a:p>
          <a:p>
            <a:pPr rtl="1" algn="r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12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עושים בפועל:</a:t>
            </a:r>
            <a:endParaRPr lang="he-IL" sz="125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2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תוכנית מדורגת שמתחילה בעדין (הצעת ה”טעימה”), לפני/אחרי של מקרים טבעיים ודומים – ותזכורת שביקורת וטאצ'־אפ כלולים. הביטחון שלה נבנה שלב אחרי שלב.</a:t>
            </a:r>
            <a:endParaRPr lang="he-IL" sz="12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תוספים – מה מומלץ וממה להימנע סביב טיפולים</a:t>
            </a:r>
            <a:endParaRPr lang="he-IL" sz="24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3566160"/>
                <a:gridCol w="1737360"/>
                <a:gridCol w="1947672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הנחיה לרופאים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מטרה / השפעה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שם התוסף / גורם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קטגוריה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6E5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להתחיל שבוע לפני ולהמשיך שבוע לאחר הטיפול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מעודד ייצור קולגן ותומך בהחלמת העור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ויטמין 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תוספים לשיפור תוצאה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מומלץ לפני טיפולים סדרתיים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משפר את מרקם העור ותומך בתיקון רקמות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קולגן הידרולייזד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תוספים לשיפור תוצאה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מומלץ בטיפולים ביוסטימולטוריים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תורם להתחדשות תאים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L-ליזין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תוספים לשיפור תוצאה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מומלץ כשיש רגישות או דלקתיות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משפר עמידות ויעילות הבוטוקס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אבץ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תוספים לשיפור תוצאה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מומלץ במקרים של רקמה דקה/חלשה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תורמת לגמישות וחוזק רקמות חיבור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סיליקה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תוספים לשיפור תוצאה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תמיכה כללית, אפשר כל הזמן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תומך בכלי דם ותפקוד תאי עור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 קומפלקס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תוספים לשיפור תוצאה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מתאים לתחזוקה בין טיפולים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תומך בתהליך האנטי-אייג'ינג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קואנזים Q10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תוספים לשיפור תוצאה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להפסיק שבוע לפני טיפול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מגביר סיכון לשטפי דם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אומגה 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יש להימנע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6E5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להפסיק שבוע לפני טיפול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מגביר סיכון לדימומים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ויטמין 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יש להימנע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6E5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להפסיק לפחות 5 ימים לפני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מעלה סיכון לשטפי דם ודלקת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כורכום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יש להימנע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6E5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להפסיק לפחות 5 ימים לפני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עלול להפריע לקרישה תקינה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ג'ינגר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יש להימנע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6E5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לא לצרוך 3–4 ימים לפני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משפיע על קרישת דם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שום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יש להימנע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6E5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להימנע 24–48 שעות לפני טיפול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מעלה סיכון לנפיחות ודימומים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אלכוהול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יש להימנע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6E5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1200" dirty="0"/>
          </a:p>
        </p:txBody>
      </p:sp>
      <p:pic>
        <p:nvPicPr>
          <p:cNvPr id="5" name="Image 1" descr="assets/grad-lia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2711" y="320040"/>
            <a:ext cx="4976201" cy="62179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40080" y="457200"/>
            <a:ext cx="593259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300" b="1" spc="100" kern="0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סיפורי הצלחה · בוגרות AAA</a:t>
            </a:r>
            <a:endParaRPr lang="he-IL" sz="1300" dirty="0"/>
          </a:p>
        </p:txBody>
      </p:sp>
      <p:sp>
        <p:nvSpPr>
          <p:cNvPr id="7" name="Text 3"/>
          <p:cNvSpPr/>
          <p:nvPr/>
        </p:nvSpPr>
        <p:spPr>
          <a:xfrm>
            <a:off x="640080" y="841248"/>
            <a:ext cx="593259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29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ד”ר ליאם אביטן</a:t>
            </a:r>
            <a:endParaRPr lang="he-IL" sz="2900" dirty="0"/>
          </a:p>
        </p:txBody>
      </p:sp>
      <p:sp>
        <p:nvSpPr>
          <p:cNvPr id="8" name="Text 4"/>
          <p:cNvSpPr/>
          <p:nvPr/>
        </p:nvSpPr>
        <p:spPr>
          <a:xfrm>
            <a:off x="640080" y="1481328"/>
            <a:ext cx="5932591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he-IL" altLang="en-US" sz="1350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בוגרת AAA · רופאה בצבא ובעלת עשייה אסתטית פעילה</a:t>
            </a:r>
            <a:endParaRPr lang="he-IL" sz="1350" dirty="0"/>
          </a:p>
        </p:txBody>
      </p:sp>
      <p:sp>
        <p:nvSpPr>
          <p:cNvPr id="9" name="Shape 5"/>
          <p:cNvSpPr/>
          <p:nvPr/>
        </p:nvSpPr>
        <p:spPr>
          <a:xfrm>
            <a:off x="640080" y="2148840"/>
            <a:ext cx="5932591" cy="1691640"/>
          </a:xfrm>
          <a:prstGeom prst="roundRect">
            <a:avLst>
              <a:gd name="adj" fmla="val 5405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0" name="Text 6"/>
          <p:cNvSpPr/>
          <p:nvPr/>
        </p:nvSpPr>
        <p:spPr>
          <a:xfrm>
            <a:off x="914400" y="2148840"/>
            <a:ext cx="5383951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500" b="1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“פחדתי להתחייב לתהליך, לפתוח עסק ולשווק את עצמי. אבל מי שרוצה ומתאמץ – בסוף מצליח.”</a:t>
            </a:r>
            <a:endParaRPr lang="he-IL" sz="1500" dirty="0"/>
          </a:p>
        </p:txBody>
      </p:sp>
      <p:sp>
        <p:nvSpPr>
          <p:cNvPr id="11" name="Text 7"/>
          <p:cNvSpPr/>
          <p:nvPr/>
        </p:nvSpPr>
        <p:spPr>
          <a:xfrm>
            <a:off x="640080" y="4069080"/>
            <a:ext cx="5932591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he-IL" altLang="en-US" sz="13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איפה היא היום:</a:t>
            </a:r>
            <a:endParaRPr lang="he-IL" sz="1300" dirty="0"/>
          </a:p>
          <a:p>
            <a:pPr rtl="1" algn="r" indent="0" marL="0">
              <a:lnSpc>
                <a:spcPct val="112000"/>
              </a:lnSpc>
              <a:spcAft>
                <a:spcPts val="900"/>
              </a:spcAft>
              <a:buNone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רופאה בצבא ב-60%, ואת האסתטיקה עושה 2-3 פעמים בשבוע – וזו הפכה לפרנסה העיקרית שלה.</a:t>
            </a:r>
            <a:endParaRPr lang="he-IL" sz="1300" dirty="0"/>
          </a:p>
          <a:p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he-IL" altLang="en-US" sz="13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הוכיח לה שזה הצעד הנכון:</a:t>
            </a:r>
            <a:endParaRPr lang="he-IL" sz="1300" dirty="0"/>
          </a:p>
          <a:p>
            <a:pPr rtl="1" algn="r" indent="0" marL="0">
              <a:lnSpc>
                <a:spcPct val="112000"/>
              </a:lnSpc>
              <a:spcAft>
                <a:spcPts val="900"/>
              </a:spcAft>
              <a:buNone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הלקוחות מגיעות מפה לאוזן ומהרשתות – ומחפשות דווקא אותה.</a:t>
            </a:r>
            <a:endParaRPr lang="he-IL" sz="1300" dirty="0"/>
          </a:p>
          <a:p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he-IL" altLang="en-US" sz="13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למה AAA:</a:t>
            </a:r>
            <a:endParaRPr lang="he-IL" sz="130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“חיפשתי מקום מקצועי, מקיף ויסודי… הרגשתי שיש לי בית.”</a:t>
            </a:r>
            <a:endParaRPr lang="he-IL" sz="13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1200" dirty="0"/>
          </a:p>
        </p:txBody>
      </p:sp>
      <p:pic>
        <p:nvPicPr>
          <p:cNvPr id="5" name="Image 1" descr="assets/grad-lia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2711" y="320040"/>
            <a:ext cx="4976201" cy="62179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40080" y="457200"/>
            <a:ext cx="593259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300" b="1" spc="100" kern="0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סיפורי הצלחה · בוגרות AAA</a:t>
            </a:r>
            <a:endParaRPr lang="he-IL" sz="1300" dirty="0"/>
          </a:p>
        </p:txBody>
      </p:sp>
      <p:sp>
        <p:nvSpPr>
          <p:cNvPr id="7" name="Text 3"/>
          <p:cNvSpPr/>
          <p:nvPr/>
        </p:nvSpPr>
        <p:spPr>
          <a:xfrm>
            <a:off x="640080" y="841248"/>
            <a:ext cx="593259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29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ד”ר ליאן מזרחי</a:t>
            </a:r>
            <a:endParaRPr lang="he-IL" sz="2900" dirty="0"/>
          </a:p>
        </p:txBody>
      </p:sp>
      <p:sp>
        <p:nvSpPr>
          <p:cNvPr id="8" name="Text 4"/>
          <p:cNvSpPr/>
          <p:nvPr/>
        </p:nvSpPr>
        <p:spPr>
          <a:xfrm>
            <a:off x="640080" y="1481328"/>
            <a:ext cx="5932591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he-IL" altLang="en-US" sz="1350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בוגרת מחזור ינואר 25 · רופאת שיניים</a:t>
            </a:r>
            <a:endParaRPr lang="he-IL" sz="1350" dirty="0"/>
          </a:p>
        </p:txBody>
      </p:sp>
      <p:sp>
        <p:nvSpPr>
          <p:cNvPr id="9" name="Shape 5"/>
          <p:cNvSpPr/>
          <p:nvPr/>
        </p:nvSpPr>
        <p:spPr>
          <a:xfrm>
            <a:off x="640080" y="2148840"/>
            <a:ext cx="5932591" cy="1691640"/>
          </a:xfrm>
          <a:prstGeom prst="roundRect">
            <a:avLst>
              <a:gd name="adj" fmla="val 5405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0" name="Text 6"/>
          <p:cNvSpPr/>
          <p:nvPr/>
        </p:nvSpPr>
        <p:spPr>
          <a:xfrm>
            <a:off x="914400" y="2148840"/>
            <a:ext cx="5383951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500" b="1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“אם האסתטיקה בוערת בך, לא צריך לחכות – הביטחון נבנה תוך כדי הדרך.”</a:t>
            </a:r>
            <a:endParaRPr lang="he-IL" sz="1500" dirty="0"/>
          </a:p>
        </p:txBody>
      </p:sp>
      <p:sp>
        <p:nvSpPr>
          <p:cNvPr id="11" name="Text 7"/>
          <p:cNvSpPr/>
          <p:nvPr/>
        </p:nvSpPr>
        <p:spPr>
          <a:xfrm>
            <a:off x="640080" y="4069080"/>
            <a:ext cx="5932591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he-IL" altLang="en-US" sz="13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איפה היא היום:</a:t>
            </a:r>
            <a:endParaRPr lang="he-IL" sz="1300" dirty="0"/>
          </a:p>
          <a:p>
            <a:pPr rtl="1" algn="r" indent="0" marL="0">
              <a:lnSpc>
                <a:spcPct val="112000"/>
              </a:lnSpc>
              <a:spcAft>
                <a:spcPts val="900"/>
              </a:spcAft>
              <a:buNone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רוב העשייה מתמקדת באסתטיקה רפואית, ולצד זה היא עדיין עוסקת ואוהבת רפואת שיניים.</a:t>
            </a:r>
            <a:endParaRPr lang="he-IL" sz="1300" dirty="0"/>
          </a:p>
          <a:p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he-IL" altLang="en-US" sz="13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הוכיח לה שבחרה נכון:</a:t>
            </a:r>
            <a:endParaRPr lang="he-IL" sz="1300" dirty="0"/>
          </a:p>
          <a:p>
            <a:pPr rtl="1" algn="r" indent="0" marL="0">
              <a:lnSpc>
                <a:spcPct val="112000"/>
              </a:lnSpc>
              <a:spcAft>
                <a:spcPts val="900"/>
              </a:spcAft>
              <a:buNone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“כשהמטופלים חזרו אליי שוב, הבנתי שלא בניתי רק קליניקה – אלא אמון אמיתי.”</a:t>
            </a:r>
            <a:endParaRPr lang="he-IL" sz="1300" dirty="0"/>
          </a:p>
          <a:p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he-IL" altLang="en-US" sz="13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למה AAA:</a:t>
            </a:r>
            <a:endParaRPr lang="he-IL" sz="130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הרמה המקצועית, היחס האישי וההכנה האמיתית לעבודה בשטח.</a:t>
            </a:r>
            <a:endParaRPr lang="he-IL" sz="13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</a:t>
            </a:r>
            <a:endParaRPr lang="en-US" sz="1200" dirty="0"/>
          </a:p>
        </p:txBody>
      </p:sp>
      <p:pic>
        <p:nvPicPr>
          <p:cNvPr id="5" name="Image 1" descr="assets/grad-ami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5472" y="320040"/>
            <a:ext cx="4663440" cy="62179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40080" y="457200"/>
            <a:ext cx="6245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300" b="1" spc="100" kern="0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סיפורי הצלחה · בוגרות AAA</a:t>
            </a:r>
            <a:endParaRPr lang="he-IL" sz="1300" dirty="0"/>
          </a:p>
        </p:txBody>
      </p:sp>
      <p:sp>
        <p:nvSpPr>
          <p:cNvPr id="7" name="Text 3"/>
          <p:cNvSpPr/>
          <p:nvPr/>
        </p:nvSpPr>
        <p:spPr>
          <a:xfrm>
            <a:off x="640080" y="841248"/>
            <a:ext cx="6245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29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ד”ר עמית וייס</a:t>
            </a:r>
            <a:endParaRPr lang="he-IL" sz="2900" dirty="0"/>
          </a:p>
        </p:txBody>
      </p:sp>
      <p:sp>
        <p:nvSpPr>
          <p:cNvPr id="8" name="Text 4"/>
          <p:cNvSpPr/>
          <p:nvPr/>
        </p:nvSpPr>
        <p:spPr>
          <a:xfrm>
            <a:off x="640080" y="1481328"/>
            <a:ext cx="6245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he-IL" altLang="en-US" sz="1350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בוגרת מחזור יולי 25 · מתמחה בהרדמה ובעלת קליניקת Allure Aesthetics</a:t>
            </a:r>
            <a:endParaRPr lang="he-IL" sz="1350" dirty="0"/>
          </a:p>
        </p:txBody>
      </p:sp>
      <p:sp>
        <p:nvSpPr>
          <p:cNvPr id="9" name="Shape 5"/>
          <p:cNvSpPr/>
          <p:nvPr/>
        </p:nvSpPr>
        <p:spPr>
          <a:xfrm>
            <a:off x="640080" y="2148840"/>
            <a:ext cx="6245352" cy="1691640"/>
          </a:xfrm>
          <a:prstGeom prst="roundRect">
            <a:avLst>
              <a:gd name="adj" fmla="val 5405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0" name="Text 6"/>
          <p:cNvSpPr/>
          <p:nvPr/>
        </p:nvSpPr>
        <p:spPr>
          <a:xfrm>
            <a:off x="914400" y="2148840"/>
            <a:ext cx="5696712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500" b="1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“במסלול ארוך ותובעני כמו שלנו, הרגע המושלם כנראה לא יגיע. אם לא נתחיל עכשיו – כנראה שזה פשוט לא יקרה.”</a:t>
            </a:r>
            <a:endParaRPr lang="he-IL" sz="1500" dirty="0"/>
          </a:p>
        </p:txBody>
      </p:sp>
      <p:sp>
        <p:nvSpPr>
          <p:cNvPr id="11" name="Text 7"/>
          <p:cNvSpPr/>
          <p:nvPr/>
        </p:nvSpPr>
        <p:spPr>
          <a:xfrm>
            <a:off x="640080" y="4069080"/>
            <a:ext cx="6245352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he-IL" altLang="en-US" sz="13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במה היא הכי גאה:</a:t>
            </a:r>
            <a:endParaRPr lang="he-IL" sz="1300" dirty="0"/>
          </a:p>
          <a:p>
            <a:pPr rtl="1" algn="r" indent="0" marL="0">
              <a:lnSpc>
                <a:spcPct val="112000"/>
              </a:lnSpc>
              <a:spcAft>
                <a:spcPts val="900"/>
              </a:spcAft>
              <a:buNone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בניתי קליניקה משגשגת עם קו ברור של אסתטיקה: טבעית, מדויקת ומקצועית.</a:t>
            </a:r>
            <a:endParaRPr lang="he-IL" sz="1300" dirty="0"/>
          </a:p>
          <a:p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he-IL" altLang="en-US" sz="13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למה AAA:</a:t>
            </a:r>
            <a:endParaRPr lang="he-IL" sz="130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“חיפשתי מקום מקצועי, יסודי ואיכותי באמת, שמרגיש בית ומלווה לאורך זמן.”</a:t>
            </a:r>
            <a:endParaRPr lang="he-IL" sz="13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היום שאחרי הקורס – מפת הדרכים שלכם</a:t>
            </a:r>
            <a:endParaRPr lang="he-IL" sz="2600" dirty="0"/>
          </a:p>
        </p:txBody>
      </p:sp>
      <p:sp>
        <p:nvSpPr>
          <p:cNvPr id="6" name="Shape 3"/>
          <p:cNvSpPr/>
          <p:nvPr/>
        </p:nvSpPr>
        <p:spPr>
          <a:xfrm>
            <a:off x="8065008" y="1554480"/>
            <a:ext cx="3575304" cy="3931920"/>
          </a:xfrm>
          <a:prstGeom prst="roundRect">
            <a:avLst>
              <a:gd name="adj" fmla="val 2558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0680192" y="1783080"/>
            <a:ext cx="640080" cy="640080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8" name="Text 5"/>
          <p:cNvSpPr/>
          <p:nvPr/>
        </p:nvSpPr>
        <p:spPr>
          <a:xfrm>
            <a:off x="10680192" y="1783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321040" y="1828800"/>
            <a:ext cx="22951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6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הימים הראשונים</a:t>
            </a:r>
            <a:endParaRPr lang="he-IL" sz="1600" dirty="0"/>
          </a:p>
        </p:txBody>
      </p:sp>
      <p:sp>
        <p:nvSpPr>
          <p:cNvPr id="10" name="Text 7"/>
          <p:cNvSpPr/>
          <p:nvPr/>
        </p:nvSpPr>
        <p:spPr>
          <a:xfrm>
            <a:off x="8321040" y="2606040"/>
            <a:ext cx="30632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marL="342900" indent="-3429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he-IL" altLang="en-US" sz="12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מטופלות ראשונות בליווי – מתחילים עם הסביבה הקרובה</a:t>
            </a:r>
            <a:endParaRPr lang="he-IL" sz="1250" dirty="0"/>
          </a:p>
          <a:p>
            <a:pPr rtl="1" algn="r" marL="342900" indent="-3429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he-IL" altLang="en-US" sz="12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בניית תיק לפני/אחרי לפי פרוטוקול הצילום</a:t>
            </a:r>
            <a:endParaRPr lang="he-IL" sz="1250" dirty="0"/>
          </a:p>
          <a:p>
            <a:pPr rtl="1" algn="r" marL="342900" indent="-342900">
              <a:lnSpc>
                <a:spcPct val="112000"/>
              </a:lnSpc>
              <a:buSzPct val="100000"/>
              <a:buChar char="•"/>
            </a:pPr>
            <a:r>
              <a:rPr lang="he-IL" altLang="en-US" sz="12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מחירון עומד, הודעות פולו־אפ מוכנות, מסמכי הסכמה מסודרים</a:t>
            </a:r>
            <a:endParaRPr lang="he-IL" sz="1250" dirty="0"/>
          </a:p>
        </p:txBody>
      </p:sp>
      <p:sp>
        <p:nvSpPr>
          <p:cNvPr id="11" name="Shape 8"/>
          <p:cNvSpPr/>
          <p:nvPr/>
        </p:nvSpPr>
        <p:spPr>
          <a:xfrm>
            <a:off x="4306824" y="1554480"/>
            <a:ext cx="3575304" cy="3931920"/>
          </a:xfrm>
          <a:prstGeom prst="roundRect">
            <a:avLst>
              <a:gd name="adj" fmla="val 2558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922008" y="1783080"/>
            <a:ext cx="640080" cy="640080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13" name="Text 10"/>
          <p:cNvSpPr/>
          <p:nvPr/>
        </p:nvSpPr>
        <p:spPr>
          <a:xfrm>
            <a:off x="6922008" y="1783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62856" y="1828800"/>
            <a:ext cx="22951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6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אחרי 90 יום</a:t>
            </a:r>
            <a:endParaRPr lang="he-IL" sz="1600" dirty="0"/>
          </a:p>
        </p:txBody>
      </p:sp>
      <p:sp>
        <p:nvSpPr>
          <p:cNvPr id="15" name="Text 12"/>
          <p:cNvSpPr/>
          <p:nvPr/>
        </p:nvSpPr>
        <p:spPr>
          <a:xfrm>
            <a:off x="4562856" y="2606040"/>
            <a:ext cx="30632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marL="342900" indent="-3429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he-IL" altLang="en-US" sz="12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2–3 תוכניות טיפול משולבות בשבוע</a:t>
            </a:r>
            <a:endParaRPr lang="he-IL" sz="1250" dirty="0"/>
          </a:p>
          <a:p>
            <a:pPr rtl="1" algn="r" marL="342900" indent="-3429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he-IL" altLang="en-US" sz="12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סדרות ראשונות ומטופלות שחוזרות לביקורת</a:t>
            </a:r>
            <a:endParaRPr lang="he-IL" sz="1250" dirty="0"/>
          </a:p>
          <a:p>
            <a:pPr rtl="1" algn="r" marL="342900" indent="-342900">
              <a:lnSpc>
                <a:spcPct val="112000"/>
              </a:lnSpc>
              <a:buSzPct val="100000"/>
              <a:buChar char="•"/>
            </a:pPr>
            <a:r>
              <a:rPr lang="he-IL" altLang="en-US" sz="12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נוכחות עקבית ברשתות – לפני/אחרי וסיפורי מטופלות</a:t>
            </a:r>
            <a:endParaRPr lang="he-IL" sz="1250" dirty="0"/>
          </a:p>
        </p:txBody>
      </p:sp>
      <p:sp>
        <p:nvSpPr>
          <p:cNvPr id="16" name="Shape 13"/>
          <p:cNvSpPr/>
          <p:nvPr/>
        </p:nvSpPr>
        <p:spPr>
          <a:xfrm>
            <a:off x="548640" y="1554480"/>
            <a:ext cx="3575304" cy="3931920"/>
          </a:xfrm>
          <a:prstGeom prst="roundRect">
            <a:avLst>
              <a:gd name="adj" fmla="val 2558"/>
            </a:avLst>
          </a:prstGeom>
          <a:solidFill>
            <a:srgbClr val="1B1713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3163824" y="1783080"/>
            <a:ext cx="640080" cy="640080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18" name="Text 15"/>
          <p:cNvSpPr/>
          <p:nvPr/>
        </p:nvSpPr>
        <p:spPr>
          <a:xfrm>
            <a:off x="3163824" y="1783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365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804672" y="1828800"/>
            <a:ext cx="22951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600" b="1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אחרי שנה</a:t>
            </a:r>
            <a:endParaRPr lang="he-IL" sz="1600" dirty="0"/>
          </a:p>
        </p:txBody>
      </p:sp>
      <p:sp>
        <p:nvSpPr>
          <p:cNvPr id="20" name="Text 17"/>
          <p:cNvSpPr/>
          <p:nvPr/>
        </p:nvSpPr>
        <p:spPr>
          <a:xfrm>
            <a:off x="804672" y="2606040"/>
            <a:ext cx="30632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marL="342900" indent="-3429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he-IL" alt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קליניקה פעילה עם קהילת מטופלות נאמנה</a:t>
            </a:r>
            <a:endParaRPr lang="he-IL" sz="1250" dirty="0"/>
          </a:p>
          <a:p>
            <a:pPr rtl="1" algn="r" marL="342900" indent="-3429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he-IL" alt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הפניות מפה לאוזן – “חבר מביא חבר” עובד בשבילכם</a:t>
            </a:r>
            <a:endParaRPr lang="he-IL" sz="1250" dirty="0"/>
          </a:p>
          <a:p>
            <a:pPr rtl="1" algn="r" marL="342900" indent="-342900">
              <a:lnSpc>
                <a:spcPct val="112000"/>
              </a:lnSpc>
              <a:buSzPct val="100000"/>
              <a:buChar char="•"/>
            </a:pPr>
            <a:r>
              <a:rPr lang="he-IL" alt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מותג אישי שמטופלות מחפשות דווקא אותו</a:t>
            </a:r>
            <a:endParaRPr lang="he-IL" sz="1250" dirty="0"/>
          </a:p>
        </p:txBody>
      </p:sp>
      <p:sp>
        <p:nvSpPr>
          <p:cNvPr id="21" name="Text 18"/>
          <p:cNvSpPr/>
          <p:nvPr/>
        </p:nvSpPr>
        <p:spPr>
          <a:xfrm>
            <a:off x="1371600" y="5715000"/>
            <a:ext cx="10268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4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 קצב מוצע – לא מבחן. כל אחד מתקדם בקצב שלו, ואנחנו שם לאורך כל הדרך.</a:t>
            </a:r>
            <a:endParaRPr lang="he-IL" sz="14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שירות חדש לבוגרים של AAA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32588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he-IL" altLang="en-US" sz="15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רופאים ורופאות יקרים, יש לנו חדשות מרגשות עבורכם!</a:t>
            </a:r>
            <a:endParaRPr lang="he-IL" sz="155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אנו גאים להשיק שירות מותאם אישית הכולל שיווק פרסום וניהול קמפיינים במדיות החברתיות בלעדי לבוגרי הקורס שלנו</a:t>
            </a:r>
            <a:endParaRPr lang="he-IL" sz="1550" dirty="0"/>
          </a:p>
        </p:txBody>
      </p:sp>
      <p:sp>
        <p:nvSpPr>
          <p:cNvPr id="7" name="Shape 4"/>
          <p:cNvSpPr/>
          <p:nvPr/>
        </p:nvSpPr>
        <p:spPr>
          <a:xfrm>
            <a:off x="1371600" y="2514600"/>
            <a:ext cx="10268712" cy="2651760"/>
          </a:xfrm>
          <a:prstGeom prst="roundRect">
            <a:avLst>
              <a:gd name="adj" fmla="val 3448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1691640" y="2697480"/>
            <a:ext cx="9628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7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כולל השירות?</a:t>
            </a:r>
            <a:endParaRPr lang="he-IL" sz="1700" dirty="0"/>
          </a:p>
        </p:txBody>
      </p:sp>
      <p:sp>
        <p:nvSpPr>
          <p:cNvPr id="9" name="Text 6"/>
          <p:cNvSpPr/>
          <p:nvPr/>
        </p:nvSpPr>
        <p:spPr>
          <a:xfrm>
            <a:off x="1691640" y="3200400"/>
            <a:ext cx="962863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ניהול קמפיין בפייסבוק ובאינסטגרם: 800 שח</a:t>
            </a:r>
            <a:endParaRPr lang="he-IL" sz="1450" dirty="0"/>
          </a:p>
          <a:p>
            <a:pPr rtl="1" algn="r"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ניהול יומן מלא, תיאום תורים: 15% מכל טיפול שנסגר מול המטופלת</a:t>
            </a:r>
            <a:endParaRPr lang="he-IL" sz="1450" dirty="0"/>
          </a:p>
          <a:p>
            <a:pPr rtl="1" algn="r"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השכרת חדר טיפולים באקדמיה של AAA בראשון לציון: 100 שח לשעה+מע”מ</a:t>
            </a:r>
            <a:endParaRPr lang="he-IL" sz="1450" dirty="0"/>
          </a:p>
          <a:p>
            <a:pPr rtl="1" algn="r"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ליווי סושיאל ליום של 6 שעות: 1500 שח</a:t>
            </a:r>
            <a:endParaRPr lang="he-IL" sz="1450" dirty="0"/>
          </a:p>
          <a:p>
            <a:pPr rtl="1" algn="r" marL="342900" indent="-342900">
              <a:lnSpc>
                <a:spcPct val="112000"/>
              </a:lnSpc>
              <a:buSzPct val="100000"/>
              <a:buChar char="•"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ליווי ייעוץ מכירות לאורך יום הטיפולים: 2500 שח</a:t>
            </a:r>
            <a:endParaRPr lang="he-IL" sz="1450" dirty="0"/>
          </a:p>
        </p:txBody>
      </p:sp>
      <p:sp>
        <p:nvSpPr>
          <p:cNvPr id="10" name="Text 7"/>
          <p:cNvSpPr/>
          <p:nvPr/>
        </p:nvSpPr>
        <p:spPr>
          <a:xfrm>
            <a:off x="548640" y="53492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15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זה בעלויות נמוכות עם רווח מקסימלי עבורכם</a:t>
            </a:r>
            <a:endParaRPr lang="he-IL" sz="1500" dirty="0"/>
          </a:p>
          <a:p>
            <a:pPr rtl="1" algn="r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תתחילו לנצל את היתרונות של שירות ייחודי ובלעדי זה</a:t>
            </a:r>
            <a:endParaRPr lang="he-IL" sz="150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5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להצלחה שלכם!</a:t>
            </a:r>
            <a:endParaRPr lang="he-IL" sz="15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יום פרקטיקה פרטני לבוגרי AAA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1097280" y="1078992"/>
            <a:ext cx="10543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700" b="1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מרגישים שאתם זקוקים לתרגול נוסף?</a:t>
            </a:r>
            <a:endParaRPr lang="he-IL" sz="1700" dirty="0"/>
          </a:p>
        </p:txBody>
      </p:sp>
      <p:sp>
        <p:nvSpPr>
          <p:cNvPr id="7" name="Text 4"/>
          <p:cNvSpPr/>
          <p:nvPr/>
        </p:nvSpPr>
        <p:spPr>
          <a:xfrm>
            <a:off x="5943600" y="1691640"/>
            <a:ext cx="569671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spcAft>
                <a:spcPts val="5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אנו מציעים יום הכולל 6 שעות בצמוד לאחד ממרצי הקורס</a:t>
            </a:r>
            <a:endParaRPr lang="he-IL" sz="1500" dirty="0"/>
          </a:p>
          <a:p>
            <a:pPr rtl="1" algn="r" indent="0" marL="0">
              <a:lnSpc>
                <a:spcPct val="116000"/>
              </a:lnSpc>
              <a:spcAft>
                <a:spcPts val="5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 אתם מגדירים מראש אילו אינדיקציות/אזורים תרצו לתרגל, ואנו מספקים מודגמות בהתאם לדרישה.</a:t>
            </a:r>
            <a:endParaRPr lang="he-IL" sz="1500" dirty="0"/>
          </a:p>
          <a:p>
            <a:pPr rtl="1" algn="r" indent="0" marL="0">
              <a:lnSpc>
                <a:spcPct val="116000"/>
              </a:lnSpc>
              <a:spcAft>
                <a:spcPts val="500"/>
              </a:spcAft>
              <a:buNone/>
            </a:pPr>
            <a:r>
              <a:rPr lang="he-IL" altLang="en-US" sz="1500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(בין 5-6 מודגמות)</a:t>
            </a:r>
            <a:endParaRPr lang="he-IL" sz="1500" dirty="0"/>
          </a:p>
          <a:p>
            <a:pPr rtl="1" algn="r" indent="0" marL="0">
              <a:lnSpc>
                <a:spcPct val="116000"/>
              </a:lnSpc>
              <a:spcAft>
                <a:spcPts val="5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היום יתבצע בצמוד לאחד ממרצי הקורס,</a:t>
            </a:r>
            <a:endParaRPr lang="he-IL" sz="1500" dirty="0"/>
          </a:p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וכמובן כולל תיעוד והרחבת תיק העבודות שלכם.</a:t>
            </a:r>
            <a:endParaRPr lang="he-IL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1691640"/>
            <a:ext cx="5120640" cy="2651760"/>
          </a:xfrm>
          <a:prstGeom prst="roundRect">
            <a:avLst>
              <a:gd name="adj" fmla="val 3448"/>
            </a:avLst>
          </a:prstGeom>
          <a:solidFill>
            <a:srgbClr val="1B1713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68680" y="1920240"/>
            <a:ext cx="448056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1250" dirty="0">
                <a:solidFill>
                  <a:srgbClr val="D8CC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עלות היום היא</a:t>
            </a:r>
            <a:endParaRPr lang="he-IL" sz="1250" dirty="0"/>
          </a:p>
          <a:p>
            <a:pPr rtl="1" algn="r"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he-IL" alt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5000 שח + מע”מ</a:t>
            </a:r>
            <a:endParaRPr lang="he-IL" sz="1250" dirty="0"/>
          </a:p>
          <a:p>
            <a:pPr rtl="1" algn="r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החדר עומד לרשותכם כולל מתכלים: אלכוהול, קנולות, מחטים, מזרקי שאיבה, גאזות.</a:t>
            </a:r>
            <a:endParaRPr lang="he-IL" sz="125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בוטוקס וחומרי הזרקה תוכלו להביא איתכם באופן עצמאי או לרכוש מאיתנו בעלויות נמוכות פר שימוש.</a:t>
            </a:r>
            <a:endParaRPr lang="he-IL" sz="1250" dirty="0"/>
          </a:p>
        </p:txBody>
      </p:sp>
      <p:sp>
        <p:nvSpPr>
          <p:cNvPr id="10" name="Shape 7"/>
          <p:cNvSpPr/>
          <p:nvPr/>
        </p:nvSpPr>
        <p:spPr>
          <a:xfrm>
            <a:off x="1371600" y="4709160"/>
            <a:ext cx="10268712" cy="1371600"/>
          </a:xfrm>
          <a:prstGeom prst="roundRect">
            <a:avLst>
              <a:gd name="adj" fmla="val 6667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1691640" y="4892040"/>
            <a:ext cx="96286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he-IL" altLang="en-US" sz="15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זה בעלויות נמוכות עם רווח מקסימלי עבורכם</a:t>
            </a:r>
            <a:endParaRPr lang="he-IL" sz="150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5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תתחילו לנצל את היתרונות של שירות ייחודי ובלעדי זה להצלחה שלכם!</a:t>
            </a:r>
            <a:endParaRPr lang="he-IL" sz="15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B17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4206240"/>
            <a:ext cx="4389120" cy="4389120"/>
          </a:xfrm>
          <a:prstGeom prst="ellipse">
            <a:avLst/>
          </a:prstGeom>
          <a:solidFill>
            <a:srgbClr val="A3866A">
              <a:alpha val="10000"/>
            </a:srgbClr>
          </a:solidFill>
          <a:ln/>
        </p:spPr>
      </p:sp>
      <p:pic>
        <p:nvPicPr>
          <p:cNvPr id="3" name="Image 0" descr="assets/he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325880"/>
            <a:ext cx="4251960" cy="2834640"/>
          </a:xfrm>
          <a:prstGeom prst="rect">
            <a:avLst/>
          </a:prstGeom>
        </p:spPr>
      </p:pic>
      <p:pic>
        <p:nvPicPr>
          <p:cNvPr id="4" name="Image 1" descr="assets/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520" y="4343400"/>
            <a:ext cx="2057400" cy="20574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394960" y="1143000"/>
            <a:ext cx="626364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he-IL" altLang="en-US" sz="2800" b="1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ותזכרו</a:t>
            </a:r>
            <a:endParaRPr lang="he-IL" sz="1800" dirty="0"/>
          </a:p>
          <a:p>
            <a:pPr rtl="1" algn="r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he-IL" alt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אף רופא לא נולד עם מזרק ביד, ואף אחד לא נכנס לקליניקה משגשגת ביום הראשון</a:t>
            </a:r>
            <a:endParaRPr lang="he-IL" sz="1800" dirty="0"/>
          </a:p>
          <a:p>
            <a:pPr rtl="1" algn="r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he-IL" alt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 מסע – של התפתחות, למידה והתנסות</a:t>
            </a:r>
            <a:endParaRPr lang="he-IL" sz="1800" dirty="0"/>
          </a:p>
          <a:p>
            <a:pPr rtl="1" algn="r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he-IL" alt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ואתם לא לבד בו!!</a:t>
            </a:r>
            <a:endParaRPr lang="he-IL" sz="1800" dirty="0"/>
          </a:p>
          <a:p>
            <a:pPr rtl="1" algn="r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he-IL" altLang="en-US" sz="1800" b="1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אנחנו כאן בשבילכם – תמיד</a:t>
            </a:r>
            <a:endParaRPr lang="he-IL" sz="1800" dirty="0"/>
          </a:p>
          <a:p>
            <a:pPr rtl="1" algn="r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he-IL" alt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הבית לשאול, להתייעץ, לקבל גב</a:t>
            </a:r>
            <a:endParaRPr lang="he-IL" sz="1800" dirty="0"/>
          </a:p>
          <a:p>
            <a:pPr rtl="1" algn="r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he-IL" alt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ולצמוח יד ביד</a:t>
            </a:r>
            <a:endParaRPr lang="he-IL" sz="1800" dirty="0"/>
          </a:p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עד שתהיו הרופאים שאתם חולמים להיות</a:t>
            </a:r>
            <a:endParaRPr lang="he-IL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2026-08-03T10:37:35Z</dcterms:created>
  <dcterms:modified xsi:type="dcterms:W3CDTF">2026-08-03T10:37:35Z</dcterms:modified>
</cp:coreProperties>
</file>