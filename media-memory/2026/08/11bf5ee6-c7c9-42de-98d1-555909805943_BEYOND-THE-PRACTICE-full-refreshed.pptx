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עובר עלינו היום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725912" y="1783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8" name="Text 5"/>
          <p:cNvSpPr/>
          <p:nvPr/>
        </p:nvSpPr>
        <p:spPr>
          <a:xfrm>
            <a:off x="1072591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1554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כרופא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מהסיפור האישי למותג – חוזקות, בידול והדרך לעצמאות</a:t>
            </a:r>
            <a:endParaRPr lang="he-IL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725912" y="2926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2" name="Text 9"/>
          <p:cNvSpPr/>
          <p:nvPr/>
        </p:nvSpPr>
        <p:spPr>
          <a:xfrm>
            <a:off x="10725912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2697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והשיחה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מאמון ועד סגירה ומעקב – שיקוף, ייעוץ, פולו־אפ ופרוטוקולים</a:t>
            </a:r>
            <a:endParaRPr lang="he-IL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725912" y="4069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6" name="Text 13"/>
          <p:cNvSpPr/>
          <p:nvPr/>
        </p:nvSpPr>
        <p:spPr>
          <a:xfrm>
            <a:off x="10725912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3840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ותוכניות טיפול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לצאת ממשחק “כמה עולה מזרק” – תוכניות משולבות, עלויות ורווח</a:t>
            </a:r>
            <a:endParaRPr lang="he-IL" sz="1600" dirty="0"/>
          </a:p>
        </p:txBody>
      </p:sp>
      <p:sp>
        <p:nvSpPr>
          <p:cNvPr id="18" name="Shape 15"/>
          <p:cNvSpPr/>
          <p:nvPr/>
        </p:nvSpPr>
        <p:spPr>
          <a:xfrm>
            <a:off x="548640" y="4983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0725912" y="5212080"/>
            <a:ext cx="548640" cy="54864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20" name="Text 17"/>
          <p:cNvSpPr/>
          <p:nvPr/>
        </p:nvSpPr>
        <p:spPr>
          <a:xfrm>
            <a:off x="10725912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68680" y="4983480"/>
            <a:ext cx="9491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ידע, כלים והבית של AAA</a:t>
            </a:r>
            <a:endParaRPr lang="he-IL" sz="160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חומרים, התנגדויות, סיפורי בוגרות והשירותים שלנו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77724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spc="3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ראשון</a:t>
            </a:r>
            <a:endParaRPr lang="he-IL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כרופא – מהסיפור האישי למותג</a:t>
            </a:r>
            <a:endParaRPr lang="he-IL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45920"/>
            <a:ext cx="5239512" cy="4297680"/>
          </a:xfrm>
          <a:prstGeom prst="roundRect">
            <a:avLst>
              <a:gd name="adj" fmla="val 2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84708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331720"/>
            <a:ext cx="4617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557784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8470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331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250" dirty="0"/>
          </a:p>
          <a:p>
            <a:pPr rtl="1" algn="r"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250" dirty="0"/>
          </a:p>
          <a:p>
            <a:pPr rtl="1" algn="r"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250" dirty="0"/>
          </a:p>
          <a:p>
            <a:pPr rtl="1" algn="r" marL="342900" indent="-3429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250" dirty="0"/>
          </a:p>
          <a:p>
            <a:pPr rtl="1" algn="r" marL="342900" indent="-342900">
              <a:lnSpc>
                <a:spcPct val="108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77724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spc="3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שני</a:t>
            </a:r>
            <a:endParaRPr lang="he-IL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והשיחה – מאמון ועד סגירה ומעקב</a:t>
            </a:r>
            <a:endParaRPr lang="he-IL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960120"/>
            <a:ext cx="10543032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960120"/>
            <a:ext cx="10543032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אמרה “אני אחשוב על זה”? כך נראה פולו־אפ נכון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העיקרון: לא רודפים – מלווים. כל הודעה נותנת ערך, אף הודעה לא לוחצת.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83794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24 שעות – סיכום אישי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“היי [שם], שמחתי שנפגשנו. מצרפת את תוכנית הטיפול שבנינו יחד – היא שמורה לך. כאן לכל שאלה.”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182112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72 שעות – ערך, לא תזכורת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“ראיתי היום מקרה דומה לשלך עם תוצאה ממש יפה – אם תרצי, אשמח להראות לך לפני/אחרי בפגישה קצרה.”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79976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5262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שבוע – פתח יציאה מכובד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זה לא הזמן – זה לגמרי בסדר. התוכנית שמורה לך, ואני כאן כשתרגישי מוכנה.”</a:t>
            </a:r>
            <a:endParaRPr lang="he-IL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580644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עד שלוש הודעות. מי שלא הבשילה עכשיו – תחזור דווקא למי שנשאר מקצועי ונעים.</a:t>
            </a:r>
            <a:endParaRPr lang="he-IL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הסתיים? כאן נבנית הנאמנות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בין עסקה חד־פעמית למטופלת קבועה נמצא במעקב – לא במזרק.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830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56248" y="196596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ביום הטיפול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הנחיות לאחר הטיפול + תזכורת שאתם זמינים לכל שאלה.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196596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יום 3 – צ'ק־אין יזום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“איך את מרגישה? רגישות קלה היא צפויה – אם משהו מטריד אותך, אני כאן.”</a:t>
            </a:r>
            <a:endParaRPr lang="he-IL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6248" y="388620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שבוע 2 – ביקורת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לביקורת + צילום תמונות אחרי. תיקון טאצ'־אפ כלול עד חודש – השתמשו בזה כעוגן לפגישה.</a:t>
            </a:r>
            <a:endParaRPr lang="he-IL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88620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חודש – בונים המשך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תוצאה מול תמונות הלפני, והצעד הבא: השלב הבא בתוכנית או תזכורת לסדרה.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המעקב הוא חלק מהטיפול – הוא ההבדל בין תוצאה חד־פעמית לבין מטופלת שנשארת איתכם שנים.</a:t>
            </a:r>
            <a:endParaRPr lang="he-IL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פרוטוקול צילום לפני/אחרי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אמרנו “באותה תאורה ובאותה זווית” – כך עושים את זה בפועל: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37360"/>
            <a:ext cx="5376672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1938528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חדר, רקע אחיד ובהיר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תאורה קבועה מלפנים – בלי חלון ובלי פלאש ישיר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זוויות: פרונט, 45°, פרופיל – באותו גובה מצלמה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פנים רפויות, בלי איפור ובלי פילטרים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3852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מצלמים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בביקורת של שבוע 2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כל סדרה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727448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קריטי: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הכלי שמנצח את “לא רואים כלום”, ההגנה המקצועית שלכם – ותיק העבודות שבונה את המותג.</a:t>
            </a:r>
            <a:endParaRPr lang="he-IL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שפתיים והאזור הפריאורלי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“רק מילוי שפתיים”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מזרק בודד – תוכנית הוליסטית לכל האזור: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של השפתיים – נפח, הגדרה וסימטריה (מזרק חומצה היאלורונית, אזור מורכב)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סביב הפה – שיפור מרקם העור וטיפול בקמטוטים הפריאורליים (1 מ”ל)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איזון זוויות הפה – חלוקת החומר לפי המבנה, לא רק “למלא שפה”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78892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מזרק מילוי 330 + סלבוסטר 1 מ”ל 83 + ציוד מתכלה כ־50 = 463 ש”ח | לבוגרי הקורס: 360 ש”ח</a:t>
            </a:r>
            <a:endParaRPr lang="he-IL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93192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מילוי שפתיים 1,800 ₪ + סלבוסטר 1,500 ₪ = 3,300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2,500 ₪ – המטופלת מקבלת תוכנית שלמה במחיר משתלם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2,037 ש”ח (81.5%) | לבוגר קורס: 2,140 ש”ח (85.6%)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כמעט פי 1.5 מהרווח על מזרק שפתיים בודד – עם תוצאה מקיפה יותר ופתח להמשכיות.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הרמוניה של השליש התחתון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לקמט הנאזולביאלי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הקמט הוא הסימפטום – בשליש התחתון בונים מענה שלם, לא רק ממלאים קו: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שחזור נפח בעצמות הלחיים ותמיכה במבנה – בשליש התחתון מדובר במינימום 3 מזרקי חומצה היאלורונית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לשריר ה-DAO – לשחרור המשיכה של זוויות הפה כלפי מטה, וליצירת אפקט הרמה טבעי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– שיפור מרקם העור, לחות וטיפול בקמטוטים עדינים סביב הפה (1 מ”ל)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89864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3 מזרקי מילוי 990 + סלבוסטר 1 מ”ל 83 + ציוד מתכלה כ־50 = 1,123 ש”ח | לבוגרי הקורס: 860 ש”ח</a:t>
            </a:r>
            <a:endParaRPr lang="he-IL" sz="13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יחידות הבוטוקס לפי השימוש בפועל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023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3 מזרקים (אזורים כלליים) 4,000 ₪ + בוטוקס אזור אחד 500 ₪ + סלבוסטר 1,500 ₪ = 6,000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5,000 ₪ (בקו אחד עם מדיניות החבילות – מעל 5,000 ₪: 15% הנחה)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66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3,877 ש”ח (77.5%) | לבוגר קורס: 4,140 ש”ח (82.8%)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מודליות – נפח, שריר ואיכות עור – במקום קו אחד מלא. תוצאה הרמונית, ועסקה של 5,000 ₪ במקום 1,400 ₪.</a:t>
            </a:r>
            <a:endParaRPr lang="he-IL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מהטיפול הבודד לחודש עבודה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תוכנית שקעי העיניים (2,000 ש”ח לטיפול, רווח של 1,537–1,640 ש”ח) ונראה מה קורה בחודש:</a:t>
            </a:r>
            <a:endParaRPr lang="he-IL" sz="1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2194560"/>
                <a:gridCol w="231343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לבוגר קורס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רגיל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טיפולים בחודש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תוכניות טיפול בשבוע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13,120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12,296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19,680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18,444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32,800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30,740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0292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עוד לפני בוטוקס, סדרות סלבוסטר וטיפולי המשך.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סימולציה להמחשה בלבד – מבוסס על 4 שבועות, לפני מע”מ, עלויות קליניקה ומסים.</a:t>
            </a:r>
            <a:endParaRPr lang="he-IL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(1/2)</a:t>
            </a:r>
            <a:endParaRPr lang="he-IL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אזור אחד (מצח, בין הגבות או צידי העיניים)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מבצע מיוחד לרגל השקת הקליניקה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שלושה אזורים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 (קמטי נאזולביאל, מריונטה, רקות, עצמות לחיים)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 (שקעי עיניים, עיצוב ופיסול אף, מילוי שפתיים)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600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(2/2)</a:t>
            </a:r>
            <a:endParaRPr lang="he-IL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1,500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 (בסגירה מראש)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300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1,000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6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90118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חשובות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הטיפולים מותאמים באופן אישי, תוך דגש על מראה טבעי והרמוני.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תיקוני טאצ'־אפ כלולים במסגרת ביקורת עד חודש מהטיפול.</a:t>
            </a:r>
            <a:endParaRPr lang="he-IL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 מיוחדים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מבצע “חבר מביא חבר”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 מקבל 10% הנחה על הטיפול הראשון.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15% הנחה על הטיפול הבא שלך.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4306824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62856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מבצע טיפול ראשון</a:t>
            </a:r>
            <a:endParaRPr lang="he-IL" sz="1550" dirty="0"/>
          </a:p>
        </p:txBody>
      </p:sp>
      <p:sp>
        <p:nvSpPr>
          <p:cNvPr id="11" name="Text 8"/>
          <p:cNvSpPr/>
          <p:nvPr/>
        </p:nvSpPr>
        <p:spPr>
          <a:xfrm>
            <a:off x="4562856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חדשים? 10% הנחה על הטיפול הראשון מכל סוג (לא כולל מבצעים מיוחדים).</a:t>
            </a:r>
            <a:endParaRPr lang="he-IL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חבילת טיפולים מותאמת אישית</a:t>
            </a:r>
            <a:endParaRPr lang="he-IL" sz="1550" dirty="0"/>
          </a:p>
        </p:txBody>
      </p:sp>
      <p:sp>
        <p:nvSpPr>
          <p:cNvPr id="14" name="Text 11"/>
          <p:cNvSpPr/>
          <p:nvPr/>
        </p:nvSpPr>
        <p:spPr>
          <a:xfrm>
            <a:off x="804672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3,000 ₪: 10% הנחה על כל החבילה.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5,000 ₪: 15% הנחה.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0292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היא כלי – לא ברירת מחדל. השתמשו בה כדי לפתוח דלת, לתגמל נאמנות ולסגור חבילות – לא כדי להתחרות על מחיר.</a:t>
            </a:r>
            <a:endParaRPr lang="he-IL" sz="14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77724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spc="3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רביעי</a:t>
            </a:r>
            <a:endParaRPr lang="he-IL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ידע, כלים והבית של AAA</a:t>
            </a:r>
            <a:endParaRPr lang="he-IL" sz="3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התנגדויות נפוצות – שאינן קשורות למחיר</a:t>
            </a:r>
            <a:endParaRPr lang="he-IL" sz="2400" dirty="0"/>
          </a:p>
        </p:txBody>
      </p:sp>
      <p:sp>
        <p:nvSpPr>
          <p:cNvPr id="6" name="Shape 3"/>
          <p:cNvSpPr/>
          <p:nvPr/>
        </p:nvSpPr>
        <p:spPr>
          <a:xfrm>
            <a:off x="6263640" y="1371600"/>
            <a:ext cx="5376672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56248" y="1600200"/>
            <a:ext cx="479145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צריכה לחשוב על זה”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זה: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זו לא באמת מחשבה – זה חשש שלא נאמר: מהתוצאה, מהתקציב, או ממה יגידו.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“ברור, זו החלטה שצריכה להרגיש נכונה. אפשר לשאול מה הכי מעסיק אותך – התוצאה, התקציב או משהו אחר?”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עושים בפועל: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מזהים את החשש האמיתי ונותנים לו מענה נקודתי. קובעים נקודת המשך מוגדרת (“אשלח לך את התוכנית ונדבר ביום חמישי”) – ומשם פרוטוקול הפולו־אפ שכבר בניתם.</a:t>
            </a:r>
            <a:endParaRPr lang="he-IL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600200"/>
            <a:ext cx="4855464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מפחדת שיראו שעשיתי / שזה ייראה מלאכותי”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זה: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פחד מאיבוד זהות ומשיפוט חברתי – לא התנגדות לטיפול עצמו.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2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בזה.”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עושים בפועל: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מדורגת שמתחילה בעדין (הצעת ה”טעימה”), לפני/אחרי של מקרים טבעיים ודומים – ותזכורת שביקורת וטאצ'־אפ כלולים. הביטחון שלה נבנה שלב אחרי שלב.</a:t>
            </a:r>
            <a:endParaRPr lang="he-IL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pic>
        <p:nvPicPr>
          <p:cNvPr id="5" name="Image 1" descr="assets/grad-li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ליאם אביטן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AAA · רופאה בצבא ובעלת עשייה אסתטית פעילה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“פחדתי להתחייב לתהליך, לפתוח עסק ולשווק את עצמי. אבל מי שרוצה ומתאמץ – בסוף מצליח.”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רופאה בצבא ב-60%, ואת האסתטיקה עושה 2-3 פעמים בשבוע – וזו הפכה לפרנסה העיקרית שלה.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שזה הצעד הנכון: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הלקוחות מגיעות מפה לאוזן ומהרשתות – ומחפשות דווקא אותה.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מקיף ויסודי… הרגשתי שיש לי בית.”</a:t>
            </a:r>
            <a:endParaRPr lang="he-IL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pic>
        <p:nvPicPr>
          <p:cNvPr id="5" name="Image 1" descr="assets/grad-l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ליאן מזרחי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ינואר 25 · רופאת שיניים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האסתטיקה בוערת בך, לא צריך לחכות – הביטחון נבנה תוך כדי הדרך.”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העשייה מתמקדת באסתטיקה רפואית, ולצד זה היא עדיין עוסקת ואוהבת רפואת שיניים.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שבחרה 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“כשהמטופלים חזרו אליי שוב, הבנתי שלא בניתי רק קליניקה – אלא אמון אמיתי.”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הרמה המקצועית, היחס האישי וההכנה האמיתית לעבודה בשטח.</a:t>
            </a:r>
            <a:endParaRPr lang="he-IL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200" dirty="0"/>
          </a:p>
        </p:txBody>
      </p:sp>
      <p:pic>
        <p:nvPicPr>
          <p:cNvPr id="5" name="Image 1" descr="assets/grad-a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472" y="320040"/>
            <a:ext cx="4663440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6245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עמית וייס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6245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יולי 25 · מתמחה בהרדמה ובעלת קליניקת Allure Aesthetics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6245352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6967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“במסלול ארוך ותובעני כמו שלנו, הרגע המושלם כנראה לא יגיע. אם לא נתחיל עכשיו – כנראה שזה פשוט לא יקרה.”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62453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במה היא הכי גאה: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בניתי קליניקה משגשגת עם קו ברור של אסתטיקה: טבעית, מדויקת ומקצועית.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יסודי ואיכותי באמת, שמרגיש בית ומלווה לאורך זמן.”</a:t>
            </a:r>
            <a:endParaRPr lang="he-IL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שאחרי הקורס – מפת הדרכים שלכם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680192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8" name="Text 5"/>
          <p:cNvSpPr/>
          <p:nvPr/>
        </p:nvSpPr>
        <p:spPr>
          <a:xfrm>
            <a:off x="10680192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21040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הימים הראשונים</a:t>
            </a:r>
            <a:endParaRPr lang="he-IL" sz="1600" dirty="0"/>
          </a:p>
        </p:txBody>
      </p:sp>
      <p:sp>
        <p:nvSpPr>
          <p:cNvPr id="10" name="Text 7"/>
          <p:cNvSpPr/>
          <p:nvPr/>
        </p:nvSpPr>
        <p:spPr>
          <a:xfrm>
            <a:off x="8321040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מטופלות ראשונות בליווי – מתחילים עם הסביבה הקרובה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תיק לפני/אחרי לפי פרוטוקול הצילום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מחירון עומד, הודעות פולו־אפ מוכנות, מסמכי הסכמה מסודרים</a:t>
            </a:r>
            <a:endParaRPr lang="he-IL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922008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3" name="Text 10"/>
          <p:cNvSpPr/>
          <p:nvPr/>
        </p:nvSpPr>
        <p:spPr>
          <a:xfrm>
            <a:off x="6922008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62856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90 יום</a:t>
            </a:r>
            <a:endParaRPr lang="he-IL" sz="1600" dirty="0"/>
          </a:p>
        </p:txBody>
      </p:sp>
      <p:sp>
        <p:nvSpPr>
          <p:cNvPr id="15" name="Text 12"/>
          <p:cNvSpPr/>
          <p:nvPr/>
        </p:nvSpPr>
        <p:spPr>
          <a:xfrm>
            <a:off x="4562856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תוכניות טיפול משולבות בשבוע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סדרות ראשונות ומטופלות שחוזרות לביקורת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נוכחות עקבית ברשתות – לפני/אחרי וסיפורי מטופלות</a:t>
            </a:r>
            <a:endParaRPr lang="he-IL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1554480"/>
            <a:ext cx="3575304" cy="3931920"/>
          </a:xfrm>
          <a:prstGeom prst="roundRect">
            <a:avLst>
              <a:gd name="adj" fmla="val 255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163824" y="1783080"/>
            <a:ext cx="640080" cy="640080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8" name="Text 15"/>
          <p:cNvSpPr/>
          <p:nvPr/>
        </p:nvSpPr>
        <p:spPr>
          <a:xfrm>
            <a:off x="3163824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04672" y="1828800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שנה</a:t>
            </a:r>
            <a:endParaRPr lang="he-IL" sz="1600" dirty="0"/>
          </a:p>
        </p:txBody>
      </p:sp>
      <p:sp>
        <p:nvSpPr>
          <p:cNvPr id="20" name="Text 17"/>
          <p:cNvSpPr/>
          <p:nvPr/>
        </p:nvSpPr>
        <p:spPr>
          <a:xfrm>
            <a:off x="804672" y="260604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פעילה עם קהילת מטופלות נאמנה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הפניות מפה לאוזן – “חבר מביא חבר” עובד בשבילכם</a:t>
            </a:r>
            <a:endParaRPr lang="he-IL" sz="12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מותג אישי שמטופלות מחפשות דווקא אותו</a:t>
            </a:r>
            <a:endParaRPr lang="he-IL" sz="1250" dirty="0"/>
          </a:p>
        </p:txBody>
      </p:sp>
      <p:sp>
        <p:nvSpPr>
          <p:cNvPr id="21" name="Text 18"/>
          <p:cNvSpPr/>
          <p:nvPr/>
        </p:nvSpPr>
        <p:spPr>
          <a:xfrm>
            <a:off x="1371600" y="571500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קצב מוצע – לא מבחן. כל אחד מתקדם בקצב שלו, ואנחנו שם לאורך כל הדרך.</a:t>
            </a:r>
            <a:endParaRPr lang="he-IL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מספרים שמנהלים את הקליניקה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6263640" y="1463040"/>
            <a:ext cx="5376672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56248" y="1645920"/>
            <a:ext cx="4791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אחוז הגעה (Show-Rate)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מהפגישות שנקבעו באמת מתקיימות.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תזכורות אישיות והודעות הפולו־אפ.</a:t>
            </a:r>
            <a:endParaRPr lang="he-IL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645920"/>
            <a:ext cx="4855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אחוז סגירה מייעוץ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שיחות ייעוץ הופכות לטיפול בפועל.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מבנה שיחת הייעוץ, שיקוף והצעת ה”טעימה”.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3566160"/>
            <a:ext cx="5376672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556248" y="3749040"/>
            <a:ext cx="4791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ממוצע לעסקה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שווה טיפול ממוצע אצלכם.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תוכניות משולבות במקום מזרקים בודדים.</a:t>
            </a:r>
            <a:endParaRPr lang="he-IL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" y="3749040"/>
            <a:ext cx="48554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אחוז מטופלות חוזרות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2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מטופלות חוזרות לטיפול נוסף או לסדרה.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משפרים: מעקב אחרי הטיפול, ביקורות וסדרות.</a:t>
            </a:r>
            <a:endParaRPr lang="he-IL" sz="1250" dirty="0"/>
          </a:p>
        </p:txBody>
      </p:sp>
      <p:sp>
        <p:nvSpPr>
          <p:cNvPr id="14" name="Text 11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מודדים – לא משתפר. חמש דקות של מעקב בסוף כל שבוע מספיקות.</a:t>
            </a:r>
            <a:endParaRPr lang="he-IL" sz="14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לוקחים מהיום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789920" y="16093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8" name="Text 5"/>
          <p:cNvSpPr/>
          <p:nvPr/>
        </p:nvSpPr>
        <p:spPr>
          <a:xfrm>
            <a:off x="10789920" y="16093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הסיפור שלכם הוא נכס עסקי – אותנטיות מנצחת.</a:t>
            </a:r>
            <a:endParaRPr lang="he-IL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774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789920" y="25237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2" name="Text 9"/>
          <p:cNvSpPr/>
          <p:nvPr/>
        </p:nvSpPr>
        <p:spPr>
          <a:xfrm>
            <a:off x="10789920" y="25237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8680" y="23774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אמון: הקשבה, שיקוף, הובלה.</a:t>
            </a:r>
            <a:endParaRPr lang="he-IL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789920" y="34381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16" name="Text 13"/>
          <p:cNvSpPr/>
          <p:nvPr/>
        </p:nvSpPr>
        <p:spPr>
          <a:xfrm>
            <a:off x="10789920" y="34381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32918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מוכרים מזרק – בונים תוכנית טיפול משולבת, ומתמחרים לפי ערך.</a:t>
            </a:r>
            <a:endParaRPr lang="he-IL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2062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0789920" y="43525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20" name="Text 17"/>
          <p:cNvSpPr/>
          <p:nvPr/>
        </p:nvSpPr>
        <p:spPr>
          <a:xfrm>
            <a:off x="10789920" y="43525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68680" y="42062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הסגירה לא נגמרת בפגישה – פולו־אפ, מעקב וצילום נכון בונים נאמנות.</a:t>
            </a:r>
            <a:endParaRPr lang="he-IL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789920" y="5266944"/>
            <a:ext cx="484632" cy="484632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24" name="Text 21"/>
          <p:cNvSpPr/>
          <p:nvPr/>
        </p:nvSpPr>
        <p:spPr>
          <a:xfrm>
            <a:off x="10789920" y="526694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68680" y="5120640"/>
            <a:ext cx="9537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לבד – ליווי, קהילה וכלים לאורך כל הדרך.</a:t>
            </a:r>
            <a:endParaRPr lang="he-IL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2026-08-03T11:13:30Z</dcterms:created>
  <dcterms:modified xsi:type="dcterms:W3CDTF">2026-08-03T11:13:30Z</dcterms:modified>
</cp:coreProperties>
</file>