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A3866A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5120640"/>
            <a:ext cx="3108960" cy="3108960"/>
          </a:xfrm>
          <a:prstGeom prst="ellipse">
            <a:avLst/>
          </a:prstGeom>
          <a:solidFill>
            <a:srgbClr val="A3866A">
              <a:alpha val="8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91640"/>
            <a:ext cx="3474720" cy="3474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937760" y="31546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600" kern="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4937760" y="4343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400" kern="0" dirty="0">
                <a:solidFill>
                  <a:srgbClr val="CBB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AESTHETIC ACADEMY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הסיפור שלי – ואיך הוא הופך לנכס העסקי הכי חשוב שלי?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המעבר מרופא מקצועי לבעל קליניקה מצליח מתחיל בהיכרות עמוקה עם עצמך!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רק מה אתה יודע – אלא איך אתה מציג את זה לעולם.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השלב הראשון: להבין מה אני מביא לשולחן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לזהות חוזקות שמאפיינות אותי כאדם וכרופא, ולצידן נקודות בהן יש לי הזדמנות לצמוח.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החוזקות שלי הן לא רק מיומנויות – הן הכלי השיווקי הכי חזק שלי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כשאני מדגיש אותן, אני יוצר בידול בראיונות עבודה, בשיחה עם מטופלת חדשה או בשיתוף פעולה עם גורמים מסחריים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האותנטיות מנצחת.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4983480"/>
            <a:ext cx="10268712" cy="1234440"/>
          </a:xfrm>
          <a:prstGeom prst="roundRect">
            <a:avLst>
              <a:gd name="adj" fmla="val 740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45920" y="5120640"/>
            <a:ext cx="9720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שתהיו מחוברים יותר לסיפור שלכם, כך תצליחו לשדר ביטחון, מקצועיות ואמון – ולהפוך את עצמכם למותג אישי שמטופלות זוכרות ובוחרות</a:t>
            </a:r>
            <a:endParaRPr lang="he-IL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מתאים לי כרופא/ה חדש/ה?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078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השתלבות בעבודה ברשת או בקליניקה קיימת 💼</a:t>
            </a:r>
            <a:endParaRPr lang="he-IL" sz="1700" dirty="0"/>
          </a:p>
        </p:txBody>
      </p:sp>
      <p:sp>
        <p:nvSpPr>
          <p:cNvPr id="7" name="Shape 4"/>
          <p:cNvSpPr/>
          <p:nvPr/>
        </p:nvSpPr>
        <p:spPr>
          <a:xfrm>
            <a:off x="6400800" y="1691640"/>
            <a:ext cx="5239512" cy="4160520"/>
          </a:xfrm>
          <a:prstGeom prst="roundRect">
            <a:avLst>
              <a:gd name="adj" fmla="val 219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720840" y="192024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יתרונות</a:t>
            </a:r>
            <a:endParaRPr lang="he-IL" sz="1800" dirty="0"/>
          </a:p>
        </p:txBody>
      </p:sp>
      <p:sp>
        <p:nvSpPr>
          <p:cNvPr id="9" name="Text 6"/>
          <p:cNvSpPr/>
          <p:nvPr/>
        </p:nvSpPr>
        <p:spPr>
          <a:xfrm>
            <a:off x="6720840" y="2423160"/>
            <a:ext cx="46177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מאפשרת לי “לרוץ על אוטומט” – בלי לעסוק באדמיניסטרציה, שיווק, מכירות, ניהול מלאי או ניהול עסקי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יכול/ה להתמקד בטיפולים בלבד – בלי דאגות של ניהול שוטף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צבירת ניסיון מעשי בסביבה קיימת וממוסדת</a:t>
            </a:r>
            <a:endParaRPr lang="he-IL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1691640"/>
            <a:ext cx="557784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1920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חסרונות</a:t>
            </a:r>
            <a:endParaRPr lang="he-IL" sz="1800" dirty="0"/>
          </a:p>
        </p:txBody>
      </p:sp>
      <p:sp>
        <p:nvSpPr>
          <p:cNvPr id="12" name="Text 9"/>
          <p:cNvSpPr/>
          <p:nvPr/>
        </p:nvSpPr>
        <p:spPr>
          <a:xfrm>
            <a:off x="868680" y="2423160"/>
            <a:ext cx="49377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הרשתות דורשות התחייבות ארוכת טווח – מה שעלול להגביל אותי ביציאה לדרך עצמאית בעתיד הקרוב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למרות שאני הסמכות הרפואית – ההחלטות מתקבלות מעליי, ולעיתים בניגוד לגישה או לערכים שלי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העבודה אינה בבעלותי – אני בונה עסק עבור מישהו אחר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קיימת אפשרות שיתבקש ממני לבצע טיפולים או החלטות שאני פחות מתחבר/ת אליהן מקצועית או אתית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התמורה הכספית מוגבלת יחסית לערך שאני מייצר בפועל</a:t>
            </a:r>
            <a:endParaRPr lang="he-IL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קליניקה קיימת מול יציאה לעצמאות מלאה</a:t>
            </a:r>
            <a:endParaRPr lang="he-IL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4416552"/>
                <a:gridCol w="2011680"/>
              </a:tblGrid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יציאה לעצמאות מלאה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עבודה בקליניקה קיימת / רשת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היבט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מלאה – כל החלטה בידיים שלך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מוגבלת – ההחלטות מתקבלות ע״י מנהלים או הבעלים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שליטה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את/ה בוחר/ת את קווי השירות, סוג הטיפולים וסגנון העבודה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כפוף לפרוטוקולים ומדיניות הקליניקה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חופש מקצועי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נדרש/ת לנהל: מלאי, שיווק, שירות לקוחות, כספים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ללא התעסקות – הכול מנוהל עבורך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אדמיניסטרציה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פוטנציאל הכנסה גבוה – תלוי בך בלבד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קבוע, לרוב נמוך ביחס לפוטנציאל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תזרים והכנסה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גבוה יותר – נדרש זמן לבנייה והתבססות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נמוך – יציבות תעסוקתית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סיכון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גבוהה – בניית מותג אישי וצמיחה עסקית אמיתית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מוגבלת – התפתחות בתוך מסגרת קיימת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צמיחה אישית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מלאה – אתה הבעלים, המנהל והפנים של הקליניקה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אין – אתה עובד בעסק של מישהו אחר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תחושת בעלות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נקודת ההתחלה של כל טיפול – היא ההבנה שהמטופלת מולכם לא מחפשת רק שינוי, אלא תחושת ערך עצמי מחודשת.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548640" y="1600200"/>
            <a:ext cx="110916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 היא מגיעה עם רצון לשפר אזור מסוים</a:t>
            </a:r>
            <a:endParaRPr lang="he-IL" sz="16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מאחורי הבקשה מסתתרות גם חוויות, רגישויות ולעיתים אפילו סבל רגשי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ברפואה אסתטית אין מטרה שהיא רק “קוסמטית”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שינוי חיצוני טומן בתוכו השפעה עמוקה – על הדימוי העצמי, על הביטחון, ועל איכות החיים.</a:t>
            </a:r>
            <a:endParaRPr lang="he-IL" sz="160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לכן חשוב לזכור: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הטיפול האמיתי מתחיל הרבה לפני המזרק.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 מתחיל בהקשבה. ביכולת לזהות את הגבול בין מה שהיא רוצה – למה שהיא באמת צריכה.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4754880"/>
            <a:ext cx="10268712" cy="1463040"/>
          </a:xfrm>
          <a:prstGeom prst="roundRect">
            <a:avLst>
              <a:gd name="adj" fmla="val 625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45920" y="4937760"/>
            <a:ext cx="97200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תזכור את הדרך לא פחות מהתוצאה.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תזכור אם ראיתם אותה באמת, אם הסברתם לה בכנות, אם ידעתם להציב גבולות – גם כשהיא לא ידעה להציבם לעצמה.</a:t>
            </a:r>
            <a:endParaRPr lang="he-IL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מוכרים טיפול – אתם בונים אמון.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263640" y="1554480"/>
            <a:ext cx="5376672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ברפואה אסתטית, הקסם לא מתחיל במזרק – אלא בחיבור האנושי.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בוחרת בכם לא בגלל המחיר – אלא בגלל התחושה שאתם מעניקים לה.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שתהיו נוכחים, קשובים ואותנטיים – כך תצליחו לייצר חוויה מנצחת.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 שמבוססת על קשר אישי, על הקשבה אמיתית לחששות, ועל הובלה מקצועית עם רגישות.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זכרו: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שמוכר בזול – מתחרה על מחיר.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שמוביל ברגש ובערך – הופך לבחירה הברורה.</a:t>
            </a:r>
            <a:endParaRPr lang="he-IL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5440680" cy="4709160"/>
          </a:xfrm>
          <a:prstGeom prst="roundRect">
            <a:avLst>
              <a:gd name="adj" fmla="val 194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459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כן חשוב להדגיש בשיחה עם מטופלת חדשה?</a:t>
            </a:r>
            <a:endParaRPr lang="he-IL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2423160"/>
            <a:ext cx="4800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להבהיר לה שאתם כאן כדי להבין את הרצון האישי שלה – לא רק את הבעיה הטכנית.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לנסח יחד ציפיות מדויקות ונכונות – ולתכנן תוצאה שמתאימה לה, לא לאחרות.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והכי חשוב: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טוב הוא כזה שמייצר קשר, ולא רק תוצאה.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בסוף, התחושה שהענקתם לה – תלווה אותה הרבה אחרי שהתוצאה תתייצב.</a:t>
            </a:r>
            <a:endParaRPr lang="he-IL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תפקידכם כרופאים ברפואה האסתטית?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852160" y="1463040"/>
            <a:ext cx="578815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לתרגם את הרצון – לפרוטוקול טיפולי אחראי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מה שהמטופלת מבקשת – נכון לה.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האחריות שלכם היא לדעת מתי להגיד “לא”, מתי להמליץ על תהליך הדרגתי,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ומתי להסביר לה שהשינוי האמיתי יקרה לא רק בפנים – אלא בתחושה.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לראות את המטופלת – ולא רק את הקמט.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לשאול את עצמכם: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באמת עומד מאחורי הבקשה שלה?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היא מחפשת שיראו בה – כשהיא מבקשת לשנות?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לטפל מתוך חמלה, אבל גם מתוך גבולות בריאים.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שמגיעה עם ציפיות לא ריאליות – זקוקה לרופא שלא רק “מבצע”, אלא גם מוביל.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 רופא טוב יודע גם מתי לא להזריק.</a:t>
            </a:r>
            <a:endParaRPr lang="he-IL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5029200" cy="2743200"/>
          </a:xfrm>
          <a:prstGeom prst="roundRect">
            <a:avLst>
              <a:gd name="adj" fmla="val 3333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148840"/>
            <a:ext cx="4389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בסופו של דבר – רפואה אסתטית היא שליחות.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רק משפיעים על מראה – אתם נוגעים בזהות.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שתפעלו מתוך מקצועיות, יושרה וחיבור אנושי –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תיצרו טיפולים משני חיים, ולא רק משני פנים.</a:t>
            </a:r>
            <a:endParaRPr lang="he-IL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לעלות מדרגה – ולהוביל את הטיפול, גם כשהמטופלת “כבר יודעת מה היא רוצה”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יותר ויותר מטופלות מגיעות עם תוכנית טיפול מוכנה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הן חושבות שהן יודעות איזה חומר הן צריכות, באיזו אינדיקציה, ובאיזה אזור להזריק.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הן לא תמיד טועות – אבל לרוב הן מושפעות מתוכן ברשתות, המלצות של חברות או ניסיון עבר, ולא מהבנה קלינית אמיתית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כאן נכנס התפקיד הקריטי שלכם כרופאים.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התפקיד שלכם הוא לעצור – ולבחון מחדש את מה שהיא מבקשת.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להבין את מקור הרצון, לחשוף את הצורך האמיתי, ולבנות תוכנית טיפול מקצועית, מותאמת, הדרגתית ואחראית.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434340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526280"/>
            <a:ext cx="10451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מהקליניקה: מטופלת שמבקשת הזרקה לקמט ספציפי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ייתכן שהבעיה האמיתית בכלל נובעת מהשקע הטבעי במרכז הפנים או משינויים במבנה העצמות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תיארה “קמט”, אבל אתם כרופאים רואים חוסר נפח או שקיעה במבנה תומך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 שתסבירו לה את ההבדל, תובילו אותה למקום הנכון – גם אם זה שונה ממה שביקשה</a:t>
            </a:r>
            <a:endParaRPr lang="he-IL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חשוב: להוביל תכנון משולב – גם מהיבט קליני וגם מהיבט כלכלי.</a:t>
            </a:r>
            <a:endParaRPr lang="he-IL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השאיפה היא לבנות טיפול הוליסטי – כזה שמבוסס על האבחנה הקלינית,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אך גם על היכולת של המטופלת לעמוד בו לאורך זמן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מושכל באסטרטגיית שילוב (חומרים/אזורים/אינדיקציות) יאפשר לכם למקסם את האפקט – וגם לדרג את המחיר באופן חכם ולא מאיים.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טיפולים שמובנים בשלבים, עם התאמה תקציבית – יסייעו למטופלת להתחייב רגשית וכלכלית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ולהרגיש שהיא מובלת ולא “נמכרת לה הזרקה”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429768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52628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לשילובים חכמים – לא “למכור מזרק”, אלא לבנות טיפול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“למכור מזרק למילוי”, עברו לחשוב במונחים של טיפול הוליסטי לאזור שלם – כזה שמתייחס למרקם העור, למבנה התומך, לשרירים ולגוון.</a:t>
            </a:r>
            <a:endParaRPr lang="he-IL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🪞 טכניקת שיקוף – כלי תקשורתי קריטי לרופאי אסתטיקה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1732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שיקוף?</a:t>
            </a:r>
            <a:endParaRPr lang="he-IL" sz="160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 זו טכניקה מעולם הטיפול והאימון בה משקפים למטופלת את מה שהיא אומרת/מרגישה – אבל בשפה נקייה, רגשית, ולעיתים גם רפואית.</a:t>
            </a:r>
            <a:endParaRPr lang="he-IL" sz="160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המטרה: לגרום לה להרגיש שמבינים אותה, מבלי להסכים בהכרח, ובו זמנית להוביל אותה להבנה מקצועית ונכונה יותר של המצב.</a:t>
            </a:r>
            <a:endParaRPr lang="he-IL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34290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✳️ דוגמאות קליניות:</a:t>
            </a:r>
            <a:endParaRPr lang="he-IL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3931920"/>
            <a:ext cx="11091672" cy="2240280"/>
          </a:xfrm>
          <a:prstGeom prst="roundRect">
            <a:avLst>
              <a:gd name="adj" fmla="val 408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4114800"/>
            <a:ext cx="104515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מטופלת: “אני מרגישה שעשיתי ולא רואים כלום!”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נשמע שאת מרגישה שהתוצאה עדיין לא בולטת כמו שציפית – וזה יכול לתסכל, בטח כשאת משקיעה זמן וכסף.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בואי נסתכל ביחד בתמונות ונבדוק את ההבדל.”</a:t>
            </a:r>
            <a:endParaRPr lang="he-IL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263640" y="960120"/>
            <a:ext cx="5376672" cy="3200400"/>
          </a:xfrm>
          <a:prstGeom prst="roundRect">
            <a:avLst>
              <a:gd name="adj" fmla="val 285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8872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מטופלת: “אני רוצה רק מילוי בשפתיים למעלה”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שומעת שאת מאוד ממוקדת באזור אחד שאת רואה מול העיניים – השפה העליונה.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 מה שאנחנו רואים מול המראה זה רק חלק מהתמונה המלאה.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רוצה לבדוק איתך אם את פתוחה שנביט יחד בפרופורציות הכלליות של הפנים, ואז אראה לך את ההמלצה הרפואית שלי.”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960120"/>
            <a:ext cx="5440680" cy="3200400"/>
          </a:xfrm>
          <a:prstGeom prst="roundRect">
            <a:avLst>
              <a:gd name="adj" fmla="val 285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18872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מטופלת: “מה שחשוב לי זה שלא יראו שעשיתי כלום!”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לך שיראו אותך – לא את ההזרקה. אני איתך בזה.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יכולים לבנות תוכנית מדויקת מאוד שתחזק את מה שיש, בלי להיראות ‘עשוי’.”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34340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526280"/>
            <a:ext cx="104515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4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כללי זהב לשיקוף: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להתחיל ב-“אני שומע/ת ש…” או “נשמע ש…”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להזדהות עם הרגש – לא עם הדרישה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להוביל לתחום שלך: “בואי אראה לך איך אני רואה את זה מקצועית”</a:t>
            </a:r>
            <a:endParaRPr lang="he-IL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בניית תוכנית טיפול מול מטופלת “יודעת הכול”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סיטואציה נפוצה: מטופלת באה עם רשימת דרישות: “תעשה לי רק לחיים, בוטוקס כאן, ומילוי פה” כאילו מדובר בתפריט.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הסכנה: איבוד הסמכות המקצועית, פגיעה בתוצאה, אחריות על החלטות לא רפואיות.</a:t>
            </a:r>
            <a:endParaRPr lang="he-IL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2606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איך לנהל את הסיטואציה?</a:t>
            </a:r>
            <a:endParaRPr lang="he-IL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306324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שיקוף הציפייה שלה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רואה שכבר יש לך רעיון ברור מה את רוצה – זה מצוין, זה אומר שאת יודעת מה מפריע לך.”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להחזיר את הכוח למומחיות שלך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“התפקיד שלי כרופא הוא לראות גם את מה שלא רואים מול המראה. אם את מסכימה – נבדוק יחד את כל הפרופורציות ונבנה תוכנית שתשלב את הרצונות שלך עם מה שייתן לך תוצאה טבעית, הרמונית ולטווח ארוך.”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המחשה ויזואלית (תמונות של אחרים, הסבר על אנטומיה)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לתעד ולהחתים – ולכתוב שזו החלטה רפואית על בסיס תוכנית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(משפט שחשוב להכניס גם במסמכי הסכמה מדעת)</a:t>
            </a:r>
            <a:endParaRPr lang="he-IL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👀 כשהמטופלת לא רואה תוצאה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263640" y="1463040"/>
            <a:ext cx="5376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תחושת “לא רואים כלום” יכולה לנבוע מ-3 סיבות: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התרגלות הדרגתית – ראייה יומיומית במראה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ציפייה לא ריאלית – רצתה “וואו” מטיפול עדין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השוואה לחברות / לרשתות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5440680" cy="4754880"/>
          </a:xfrm>
          <a:prstGeom prst="roundRect">
            <a:avLst>
              <a:gd name="adj" fmla="val 1923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91640"/>
            <a:ext cx="48006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כלים להתמודדות: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שיקוף: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שומעת שאת מרגישה שלא רואים שינוי משמעותי – וזה לגמרי מובן.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 לי שנעבור יחד על התמונות מלפני, כדי שתראי את ההבדלים – גם אם הם עדינים.”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להציג לפני/אחרי (באותה תאורה וזווית!)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לחזק את הבחירה שלה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בדיוק מה שבחרנו מראש – שינוי עדין, עם תוצאה טבעית.”</a:t>
            </a:r>
            <a:endParaRPr lang="he-IL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איך להפוך פגישת ייעוץ לטיפול בפועל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הבנה בסיסית: ייעוץ הוא לא אינפורמציה בלבד – הוא תהליך של חיבור רגשי, מקצועי ואסתטי.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2011680"/>
            <a:ext cx="5376672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0" y="219456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🧠 שינוי גישה – לא “להסביר”, אלא לנווט!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באנו “לשכנע” אלא להוביל את המטופלת לתחושת ביטחון בהחלטה.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המטרה: שהיא תבין למה כדאי להתחיל כבר עכשיו – ולא “לחשוב על זה בבית”.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5440680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219456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📋 מבנה שיחת ייעוץ אפקטיבית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 להפוך ייעוץ לטיפול בפועל, חשוב להבין שמדובר בתהליך מובנה – לא רק מתן מידע.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הנה השלבים שמומלץ לעבור איתם במהלך הפגישה:</a:t>
            </a:r>
            <a:endParaRPr lang="he-IL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438912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פתיחה רגשית:</a:t>
            </a:r>
            <a:endParaRPr lang="he-IL" sz="1500" dirty="0"/>
          </a:p>
          <a:p>
            <a:pPr rtl="1" algn="r" indent="0" marL="0">
              <a:lnSpc>
                <a:spcPct val="118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התחילי ביצירת חיבור אישי עם המטופלת שאלי שאלות שמזמינות אותה לספר על עצמה</a:t>
            </a:r>
            <a:endParaRPr lang="he-IL" sz="150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ולא רק “מה היא רוצה”. למשל:</a:t>
            </a:r>
            <a:endParaRPr lang="he-IL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502920"/>
            <a:ext cx="1109167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גרם לך לקבוע את הפגישה דווקא עכשיו?”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“יש משהו שהתלבטת לגביו הרבה זמן?”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הקשבה אקטיבית: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הקשיבי למה שמפריע לה – לא רק באסתטיקה, אלא גם בתחושת הביטחון.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תני לה מקום, בלי לקטוע או למהר להציע פתרונות.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כמו: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הכי מפריע לך כשאת מסתכלת במראה?”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“מתי את הכי מרגישה בזה – בתמונות? באור מסוים?”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שיקוף והעצמה: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שקפי לה את הדברים שהיא אמרה – כדי שתבין שאת איתה. זה בונה אמון ויוצר חיבור רגשי.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“אז אני מבינה שהכי מפריע לך זה הנפילה כאן בלחיים, וזה משהו שאת מרגישה אותו כבר תקופה, נכון?”</a:t>
            </a:r>
            <a:endParaRPr lang="he-IL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502920"/>
            <a:ext cx="1109167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הסבר מקצועי ממוקד: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הסבירי את ההמלצה שלך בצורה פשוטה, ברורה, ולא טכנית מדי –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להיעזר גם בתמונות “לפני ואחרי” של מקרים דומים.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“מבחינה רפואית, הנפילה שאת רואה בשליש התחתון מגיעה מ… . אני ממליצה לטפל קודם בזה, ואז נוכל לראות שינוי משמעותי.”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הצעה ממוקדת לפעולה ראשונה: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תתפזרי – הציעי התחלה ברורה ובטוחה.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“בואי נתחיל בטיפול עדין באזור הרקות – זה שינוי שנראה לעין, בלי להעמיס על הפנים.”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יצירת תחושת דחיפות עדינה: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“למכור”, נסי להראות לה למה כדאי להתחיל כבר עכשיו – למשל בזמינות,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בתקופת התאוששות מינימלית, או במחיר זמני.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טיפול בלי צורך בהחלמה – תוכלי לחזור לשגרה מיד. אם את רוצה, יש לי אפשרות כבר היום להתחיל.”</a:t>
            </a:r>
            <a:endParaRPr lang="he-IL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🛠️ כלים פרקטיים להגברת סגירת טיפול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581912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הצעת “טעימה”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“במקום הכל עכשיו – אפשר להתחיל במשהו קטן, כמו הרמה עדינה בלחיים. תרגישי, תראי, ותחליטי אם להמשיך.”</a:t>
            </a:r>
            <a:endParaRPr lang="he-IL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8803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044952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מחיר מיוחד למתלבטים במקום: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לוחצת – אבל למי שסוגרת בטווח של 24 שעות, אני נותנת גם טיפול איכות עור נקודתי ללא עלות.”</a:t>
            </a:r>
            <a:endParaRPr lang="he-IL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4343400"/>
            <a:ext cx="11091672" cy="1554480"/>
          </a:xfrm>
          <a:prstGeom prst="roundRect">
            <a:avLst>
              <a:gd name="adj" fmla="val 588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4507992"/>
            <a:ext cx="104515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שימוש בחומרים פותחים (AMPULAS)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להתחיל היום ממש במשהו עדין – כמו סקין בוסטר או מילוי נקודתי בלי מזרק מלא.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ייתן לנו התחלה בטוחה, תראי איך זה מרגיש.”</a:t>
            </a:r>
            <a:endParaRPr lang="he-IL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263640" y="914400"/>
            <a:ext cx="5376672" cy="2194560"/>
          </a:xfrm>
          <a:prstGeom prst="roundRect">
            <a:avLst>
              <a:gd name="adj" fmla="val 416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15568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שפת גוף ונוכחות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תנועות איטיות, טון בטוח, קשר עין.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לשבת לצד המטופלת מול המראה, לא מולה בעמדה שיפוטית.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לצייר תוכנית טיפול ביד – זה יוצר תוקף וסמכות.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5440680" cy="2971800"/>
          </a:xfrm>
          <a:prstGeom prst="roundRect">
            <a:avLst>
              <a:gd name="adj" fmla="val 307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115568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🗣️ משפטים חזקים לסגירה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כאן למכור לך – אלא לבנות איתך תוצאה שאת תאהבי להסתכל עליה כל בוקר.”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לי שתצאי עם הרגשה טובה – ואם נתחיל כבר היום, תוך ימים ספורים תתחילי לראות שינוי.”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יכולה לומר שברוב המקרים ברגע שמתחילים - לא תביני איך התלבטת והיססת.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זאת בחירה שלך, בקצב שלך”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224528"/>
            <a:ext cx="10451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אם משא ומתן או שיח על מחיר מרגיש לכם לא טבעי, לא נעים, או מחוץ לאזור הנוחות שלכם – תזכרו: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דוחפים טיפול, אתם מציעים מענה מדויק ומקצועי למישהי שפנתה אליכם מרצונה.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דווקא שם – במקום שבו קשה לכם – נמצא לעיתים הרגע הכי משמעותי לבניית אמון.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שתרגישו יותר בנוח עם השיח הזה, כך תצליחו יותר ללוות מטופלות בתהליך אמיתי ומשמעותי.</a:t>
            </a:r>
            <a:endParaRPr lang="he-IL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754880"/>
            <a:ext cx="3474720" cy="34747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4416" y="685800"/>
            <a:ext cx="960120" cy="960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377440"/>
            <a:ext cx="103601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he-IL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הדרך היחידה לצאת ממשחק ה’כמה יעלה לי מזרק?’ –</a:t>
            </a:r>
            <a:endParaRPr lang="he-IL" sz="32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36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טיפול הוליסטית</a:t>
            </a:r>
            <a:endParaRPr lang="he-IL" sz="3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דוגמה: שקעי עיניים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172200" y="1463040"/>
            <a:ext cx="546811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מזרק אחד למילוי השקע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הזמן לשנות את השיח – ולהציע פתרון מקיף ואפקטיבי הרבה יותר</a:t>
            </a:r>
            <a:endParaRPr lang="he-IL" sz="1450" dirty="0"/>
          </a:p>
          <a:p>
            <a:pPr rtl="1" algn="r" marL="342900" indent="-342900">
              <a:lnSpc>
                <a:spcPct val="114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שיפור טקסטורת העור – טיפול בקמטוטים ובעור העודף באמצעות סלבוסטר או חומרים ביו-רבאליים</a:t>
            </a:r>
            <a:endParaRPr lang="he-IL" sz="1450" dirty="0"/>
          </a:p>
          <a:p>
            <a:pPr rtl="1" algn="r" marL="342900" indent="-342900">
              <a:lnSpc>
                <a:spcPct val="114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בצידי העיניים – לשחרור השריר שמושך את האזור כלפי מטה, וליצירת אפקט הרמה טבעי</a:t>
            </a:r>
            <a:endParaRPr lang="he-IL" sz="1450" dirty="0"/>
          </a:p>
          <a:p>
            <a:pPr rtl="1" algn="r" marL="342900" indent="-342900">
              <a:lnSpc>
                <a:spcPct val="114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מילוי מדויק באמצעות חומצה היאלורונית – לשחזור נפח ואיזון השקע</a:t>
            </a:r>
            <a:endParaRPr lang="he-IL" sz="14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בכהויות – עם סלבוסטר, אנטיאז' או חומרים מתקדמים נוספים, לפי הצורך האישי</a:t>
            </a:r>
            <a:endParaRPr lang="he-IL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5349240" cy="4800600"/>
          </a:xfrm>
          <a:prstGeom prst="roundRect">
            <a:avLst>
              <a:gd name="adj" fmla="val 190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9164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יוצא לכם מזה</a:t>
            </a:r>
            <a:endParaRPr lang="he-IL" sz="1700" dirty="0"/>
          </a:p>
        </p:txBody>
      </p:sp>
      <p:sp>
        <p:nvSpPr>
          <p:cNvPr id="9" name="Text 6"/>
          <p:cNvSpPr/>
          <p:nvPr/>
        </p:nvSpPr>
        <p:spPr>
          <a:xfrm>
            <a:off x="868680" y="2194560"/>
            <a:ext cx="4709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למכור מזרק ב-1,500–1,800 ₪ כמו כולם,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מציעים טיפול משולב, מדורג, מקצועי ומבדל –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תמחור מתאים שמייצג את הערך האמיתי של מה שהמטופלת מקבלת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אתם: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יוצאים מהשיח של “מחיר למזרק”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ממקסמים את תוצאות הטיפול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מייצרים תהליך טיפולי מתמשך שמעמיק את הקשר עם המטופלת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ומבדלים את עצמכם כאנשי מקצוע שנותנים מענה שלם – לא פתרון נקודתי</a:t>
            </a:r>
            <a:endParaRPr lang="he-IL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ניקח את הדוגמה לתוכנית הטיפול הזו ונלמד איך נכון לתמחר אותה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1097280" y="12801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ראשון – מתחילים בעלויות החומרים:</a:t>
            </a:r>
            <a:endParaRPr lang="he-IL" sz="1700" dirty="0"/>
          </a:p>
        </p:txBody>
      </p:sp>
      <p:sp>
        <p:nvSpPr>
          <p:cNvPr id="7" name="Shape 4"/>
          <p:cNvSpPr/>
          <p:nvPr/>
        </p:nvSpPr>
        <p:spPr>
          <a:xfrm>
            <a:off x="6263640" y="2057400"/>
            <a:ext cx="5376672" cy="3063240"/>
          </a:xfrm>
          <a:prstGeom prst="roundRect">
            <a:avLst>
              <a:gd name="adj" fmla="val 298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למילוי</a:t>
            </a:r>
            <a:endParaRPr lang="he-IL" sz="1800" dirty="0"/>
          </a:p>
        </p:txBody>
      </p:sp>
      <p:sp>
        <p:nvSpPr>
          <p:cNvPr id="9" name="Text 6"/>
          <p:cNvSpPr/>
          <p:nvPr/>
        </p:nvSpPr>
        <p:spPr>
          <a:xfrm>
            <a:off x="6583680" y="29260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ש”ח + מע”מ</a:t>
            </a:r>
            <a:endParaRPr lang="he-IL" sz="3200" dirty="0"/>
          </a:p>
        </p:txBody>
      </p:sp>
      <p:sp>
        <p:nvSpPr>
          <p:cNvPr id="10" name="Text 7"/>
          <p:cNvSpPr/>
          <p:nvPr/>
        </p:nvSpPr>
        <p:spPr>
          <a:xfrm>
            <a:off x="6583680" y="379476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ברכישה של 30 מזרקים ומעלה, מחיר מבצע עומד על כ־330 ש”ח + מע”מ</a:t>
            </a:r>
            <a:endParaRPr lang="he-IL" sz="14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 – המחיר המוזל הוא 250 ש”ח</a:t>
            </a:r>
            <a:endParaRPr lang="he-IL" sz="1450" dirty="0"/>
          </a:p>
        </p:txBody>
      </p:sp>
      <p:sp>
        <p:nvSpPr>
          <p:cNvPr id="11" name="Shape 8"/>
          <p:cNvSpPr/>
          <p:nvPr/>
        </p:nvSpPr>
        <p:spPr>
          <a:xfrm>
            <a:off x="548640" y="2057400"/>
            <a:ext cx="5349240" cy="3063240"/>
          </a:xfrm>
          <a:prstGeom prst="roundRect">
            <a:avLst>
              <a:gd name="adj" fmla="val 298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2331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בקבוקון סלבוסטר</a:t>
            </a:r>
            <a:endParaRPr lang="he-IL" sz="1800" dirty="0"/>
          </a:p>
        </p:txBody>
      </p:sp>
      <p:sp>
        <p:nvSpPr>
          <p:cNvPr id="13" name="Text 10"/>
          <p:cNvSpPr/>
          <p:nvPr/>
        </p:nvSpPr>
        <p:spPr>
          <a:xfrm>
            <a:off x="868680" y="292608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ש”ח + מע”מ</a:t>
            </a:r>
            <a:endParaRPr lang="he-IL" sz="3200" dirty="0"/>
          </a:p>
        </p:txBody>
      </p:sp>
      <p:sp>
        <p:nvSpPr>
          <p:cNvPr id="14" name="Text 11"/>
          <p:cNvSpPr/>
          <p:nvPr/>
        </p:nvSpPr>
        <p:spPr>
          <a:xfrm>
            <a:off x="868680" y="3794760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נמכר לרוב בכ־250 ש”ח + מע”מ לרופא (במבצע)</a:t>
            </a:r>
            <a:endParaRPr lang="he-IL" sz="14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ולבוגרי הקורס – המחיר המוזל הוא 180 ש”ח</a:t>
            </a:r>
            <a:endParaRPr lang="he-IL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עלויות נלוות לטיפול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6263640" y="1417320"/>
            <a:ext cx="5376672" cy="2286000"/>
          </a:xfrm>
          <a:prstGeom prst="roundRect">
            <a:avLst>
              <a:gd name="adj" fmla="val 400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583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המקום בו מתקיים הטיפול:</a:t>
            </a:r>
            <a:endParaRPr lang="he-IL" sz="1600" dirty="0"/>
          </a:p>
        </p:txBody>
      </p:sp>
      <p:sp>
        <p:nvSpPr>
          <p:cNvPr id="8" name="Text 5"/>
          <p:cNvSpPr/>
          <p:nvPr/>
        </p:nvSpPr>
        <p:spPr>
          <a:xfrm>
            <a:off x="6583680" y="214884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לחשב לפי חלוקת עלות שכירות, ארנונה, חשמל, שכר עובדים וכדומה – לפי מספר ימי העבודה בפועל</a:t>
            </a:r>
            <a:endParaRPr lang="he-IL" sz="1450" dirty="0"/>
          </a:p>
        </p:txBody>
      </p:sp>
      <p:sp>
        <p:nvSpPr>
          <p:cNvPr id="9" name="Shape 6"/>
          <p:cNvSpPr/>
          <p:nvPr/>
        </p:nvSpPr>
        <p:spPr>
          <a:xfrm>
            <a:off x="548640" y="141732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164592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ציוד מתכלה:</a:t>
            </a:r>
            <a:endParaRPr lang="he-IL" sz="1600" dirty="0"/>
          </a:p>
        </p:txBody>
      </p:sp>
      <p:sp>
        <p:nvSpPr>
          <p:cNvPr id="11" name="Text 8"/>
          <p:cNvSpPr/>
          <p:nvPr/>
        </p:nvSpPr>
        <p:spPr>
          <a:xfrm>
            <a:off x="868680" y="214884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גזות, אלכוהול, קנולות וכו'</a:t>
            </a:r>
            <a:endParaRPr lang="he-IL" sz="14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עולים יותר מ־50 ש”ח לטיפול</a:t>
            </a:r>
            <a:endParaRPr lang="he-IL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4069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חישוב עלות חומרית – דוגמה לטיפול הוליסטי בשקעי עיניים</a:t>
            </a:r>
            <a:endParaRPr lang="he-IL" sz="1800" dirty="0"/>
          </a:p>
        </p:txBody>
      </p:sp>
      <p:sp>
        <p:nvSpPr>
          <p:cNvPr id="13" name="Text 10"/>
          <p:cNvSpPr/>
          <p:nvPr/>
        </p:nvSpPr>
        <p:spPr>
          <a:xfrm>
            <a:off x="548640" y="46177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ניקח את הנתונים ונבדוק מהי העלות החומרית של הטיפול בלבד, תוך התייחסות לשאלה חשובה: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האם כל 3 מ”ל הסלבוסטר נוצלו בטיפול אחד, או נשאר חומר להמשך סדרת הטיפול?</a:t>
            </a:r>
            <a:endParaRPr lang="he-IL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ב־1 מ”ל בלבד בטיפול הראשון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6245352" y="1554480"/>
            <a:ext cx="5394960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519672" y="17373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1 מ”ל סלבוסטר</a:t>
            </a:r>
            <a:endParaRPr lang="he-IL" sz="1550" dirty="0"/>
          </a:p>
        </p:txBody>
      </p:sp>
      <p:sp>
        <p:nvSpPr>
          <p:cNvPr id="8" name="Text 5"/>
          <p:cNvSpPr/>
          <p:nvPr/>
        </p:nvSpPr>
        <p:spPr>
          <a:xfrm>
            <a:off x="6519672" y="226771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ש”ח</a:t>
            </a:r>
            <a:endParaRPr lang="he-IL" sz="2600" dirty="0"/>
          </a:p>
        </p:txBody>
      </p:sp>
      <p:sp>
        <p:nvSpPr>
          <p:cNvPr id="9" name="Text 6"/>
          <p:cNvSpPr/>
          <p:nvPr/>
        </p:nvSpPr>
        <p:spPr>
          <a:xfrm>
            <a:off x="6519672" y="29718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60 ש”ח לבוגרי הקורס</a:t>
            </a:r>
            <a:endParaRPr lang="he-IL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1554480"/>
            <a:ext cx="5394960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22960" y="17373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מילוי</a:t>
            </a:r>
            <a:endParaRPr lang="he-IL" sz="1550" dirty="0"/>
          </a:p>
        </p:txBody>
      </p:sp>
      <p:sp>
        <p:nvSpPr>
          <p:cNvPr id="12" name="Text 9"/>
          <p:cNvSpPr/>
          <p:nvPr/>
        </p:nvSpPr>
        <p:spPr>
          <a:xfrm>
            <a:off x="822960" y="226771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ש”ח</a:t>
            </a:r>
            <a:endParaRPr lang="he-IL" sz="2600" dirty="0"/>
          </a:p>
        </p:txBody>
      </p:sp>
      <p:sp>
        <p:nvSpPr>
          <p:cNvPr id="13" name="Text 10"/>
          <p:cNvSpPr/>
          <p:nvPr/>
        </p:nvSpPr>
        <p:spPr>
          <a:xfrm>
            <a:off x="822960" y="29718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250 ש”ח לבוגרים</a:t>
            </a:r>
            <a:endParaRPr lang="he-IL" sz="1500" dirty="0"/>
          </a:p>
        </p:txBody>
      </p:sp>
      <p:sp>
        <p:nvSpPr>
          <p:cNvPr id="14" name="Shape 11"/>
          <p:cNvSpPr/>
          <p:nvPr/>
        </p:nvSpPr>
        <p:spPr>
          <a:xfrm>
            <a:off x="6245352" y="3886200"/>
            <a:ext cx="5394960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519672" y="4069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סה”כ עלות חומרים</a:t>
            </a:r>
            <a:endParaRPr lang="he-IL" sz="1550" dirty="0"/>
          </a:p>
        </p:txBody>
      </p:sp>
      <p:sp>
        <p:nvSpPr>
          <p:cNvPr id="16" name="Text 13"/>
          <p:cNvSpPr/>
          <p:nvPr/>
        </p:nvSpPr>
        <p:spPr>
          <a:xfrm>
            <a:off x="6519672" y="459943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רגיל: 413 ש”ח</a:t>
            </a:r>
            <a:endParaRPr lang="he-IL" sz="2600" dirty="0"/>
          </a:p>
        </p:txBody>
      </p:sp>
      <p:sp>
        <p:nvSpPr>
          <p:cNvPr id="17" name="Text 14"/>
          <p:cNvSpPr/>
          <p:nvPr/>
        </p:nvSpPr>
        <p:spPr>
          <a:xfrm>
            <a:off x="6519672" y="5303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הקורס: 310 ש”ח</a:t>
            </a:r>
            <a:endParaRPr lang="he-IL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3886200"/>
            <a:ext cx="5394960" cy="2103120"/>
          </a:xfrm>
          <a:prstGeom prst="roundRect">
            <a:avLst>
              <a:gd name="adj" fmla="val 434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22960" y="4069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בתוספת ציוד מתכלה (כ־50 ש”ח)</a:t>
            </a:r>
            <a:endParaRPr lang="he-IL" sz="1550" dirty="0"/>
          </a:p>
        </p:txBody>
      </p:sp>
      <p:sp>
        <p:nvSpPr>
          <p:cNvPr id="20" name="Text 17"/>
          <p:cNvSpPr/>
          <p:nvPr/>
        </p:nvSpPr>
        <p:spPr>
          <a:xfrm>
            <a:off x="822960" y="459943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רגיל: 463 ש”ח</a:t>
            </a:r>
            <a:endParaRPr lang="he-IL" sz="2600" dirty="0"/>
          </a:p>
        </p:txBody>
      </p:sp>
      <p:sp>
        <p:nvSpPr>
          <p:cNvPr id="21" name="Text 18"/>
          <p:cNvSpPr/>
          <p:nvPr/>
        </p:nvSpPr>
        <p:spPr>
          <a:xfrm>
            <a:off x="822960" y="5303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D8CC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הקורס: 360 ש”ח</a:t>
            </a:r>
            <a:endParaRPr lang="he-IL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מוכרים בפועל?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זהו לא מזרק בודד – זהו טיפול שלם, הוליסטי, עם מענה כולל לכל פרמטר באזור שקעי העיניים</a:t>
            </a:r>
            <a:endParaRPr lang="he-IL" sz="15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טקסטורה, כהות, מילוי, מתיחה</a:t>
            </a:r>
            <a:endParaRPr lang="he-IL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2240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תמחור מומלץ למטופלת:</a:t>
            </a:r>
            <a:endParaRPr lang="he-IL" sz="1700" dirty="0"/>
          </a:p>
        </p:txBody>
      </p:sp>
      <p:sp>
        <p:nvSpPr>
          <p:cNvPr id="8" name="Shape 5"/>
          <p:cNvSpPr/>
          <p:nvPr/>
        </p:nvSpPr>
        <p:spPr>
          <a:xfrm>
            <a:off x="6245352" y="2743200"/>
            <a:ext cx="5394960" cy="2148840"/>
          </a:xfrm>
          <a:prstGeom prst="roundRect">
            <a:avLst>
              <a:gd name="adj" fmla="val 4255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19672" y="294436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 ש”ח לטיפול מלא</a:t>
            </a:r>
            <a:endParaRPr lang="he-IL" sz="2100" dirty="0"/>
          </a:p>
        </p:txBody>
      </p:sp>
      <p:sp>
        <p:nvSpPr>
          <p:cNvPr id="10" name="Text 7"/>
          <p:cNvSpPr/>
          <p:nvPr/>
        </p:nvSpPr>
        <p:spPr>
          <a:xfrm>
            <a:off x="6519672" y="3611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1,537 ש”ח (76.8%)</a:t>
            </a:r>
            <a:endParaRPr lang="he-IL" sz="16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1,640 ש”ח (82.0%)</a:t>
            </a:r>
            <a:endParaRPr lang="he-IL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2743200"/>
            <a:ext cx="5394960" cy="2148840"/>
          </a:xfrm>
          <a:prstGeom prst="roundRect">
            <a:avLst>
              <a:gd name="adj" fmla="val 425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" y="294436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1800 ש”ח למטופלת מתקשה – ועדיין ברווח מצוין</a:t>
            </a:r>
            <a:endParaRPr lang="he-IL" sz="1700" dirty="0"/>
          </a:p>
        </p:txBody>
      </p:sp>
      <p:sp>
        <p:nvSpPr>
          <p:cNvPr id="13" name="Text 10"/>
          <p:cNvSpPr/>
          <p:nvPr/>
        </p:nvSpPr>
        <p:spPr>
          <a:xfrm>
            <a:off x="822960" y="3749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1,337 ש”ח (74.3%)</a:t>
            </a:r>
            <a:endParaRPr lang="he-IL" sz="16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1,440 ש”ח (80.0%)</a:t>
            </a:r>
            <a:endParaRPr lang="he-IL" sz="1600" dirty="0"/>
          </a:p>
        </p:txBody>
      </p:sp>
      <p:sp>
        <p:nvSpPr>
          <p:cNvPr id="14" name="Text 11"/>
          <p:cNvSpPr/>
          <p:nvPr/>
        </p:nvSpPr>
        <p:spPr>
          <a:xfrm>
            <a:off x="1371600" y="5166360"/>
            <a:ext cx="102687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כך, בתוספת קטנה בלבד לעלות של מזרק בודד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שידרגתם את המכירה לטיפול מקצועי, מלא ומשתלם – לכם ולמטופלת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יצרתם רווח גבוה, גם הבאתם לתוצאה מיטבית – וגם פתחתם פתח להמשכיות טיפולית</a:t>
            </a:r>
            <a:endParaRPr lang="he-IL" sz="14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החברות המובילות בתחום חומרי המילוי האסתטיים</a:t>
            </a:r>
            <a:endParaRPr lang="he-IL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286000"/>
                <a:gridCol w="960120"/>
                <a:gridCol w="960120"/>
                <a:gridCol w="1188720"/>
                <a:gridCol w="868680"/>
                <a:gridCol w="1143000"/>
                <a:gridCol w="112471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המזרק הנמכר ביותר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ביוסטימולטור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אינדיקציות עיקריות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צילוב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משווק בארץ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ארץ ייצור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יצרן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מסחרי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XL, XXL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Radiesse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קמטים, שקעים, קו לסת, סנטר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אלפאמדיקס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צרפת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Vivacy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Stylage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 עדינים, נפחים, סנטר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(כל המוצרים)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אלפאמדיקס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גרמניה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Merz Aesthetic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Belotero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החברות המובילות בתחום חומרי המילוי האסתטיים (המשך)</a:t>
            </a:r>
            <a:endParaRPr lang="he-IL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286000"/>
                <a:gridCol w="960120"/>
                <a:gridCol w="960120"/>
                <a:gridCol w="1188720"/>
                <a:gridCol w="868680"/>
                <a:gridCol w="1143000"/>
                <a:gridCol w="112471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המזרק הנמכר ביותר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ביוסטימולטור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אינדיקציות עיקריות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צילוב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משווק בארץ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ארץ ייצור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יצרן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מסחרי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Redensity II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קמטים שטחיים, נפחים, שפתיים, רכות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(Redensity II בלבד)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ביוטים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שוויץ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Teoxane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Teosyal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Shape, Outline, Contour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 בינוניים, קווי מתאר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(Versa בלבד)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קנדה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Prollenium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Revanesse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Ultra 3, Voluma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HarmonyCa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קמטים עמוקים, שפתיים, נפחים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מוצרים מתוך המגוון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אלרגן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אירלנד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Allergan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Juvederm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2926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רופא אסתטיקה להתמודדות עם התנגדויות למחיר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617220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שלב ראשון – להבין את ההתנגדות לעומק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לברור ההתנגדות האמיתית: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לשאול מה גרם לך להרגיש שזה יקר?”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היית מצפה לכלול במחיר כזה?”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“השוואת מול מטפלים אחרים?”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משהו שלא תכננת כלכלית עכשיו או שזו שאלה של ערך בעינייך?”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לברר אם מדובר בהתנגדות כלכלית, רגשית או טכנית – ואז להתאים את התגובה.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שלב שני – חיזוק ערך ולא הנחה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להוריד מחיר, הדגש את היתרונות הייחודיים: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 עבודות / לפני-אחרי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הכשרה מתקדמת (למשל עם אולטרסאונד או ביוסטימולטורים)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 רשמיים בלבד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וליווי אישי אחרי טיפול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 רפואית על ידי רופא בלבד</a:t>
            </a:r>
            <a:endParaRPr lang="he-IL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 מפתח: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“טיפול אסתטי טוב הוא לא הוצאה – הוא השקעה בביטחון העצמי שלך.”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הכי זולה, אבל אני כן הכי מדויקת, בטוחה ומקצועית.”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לעשות בזול, אבל לא פשרות כשזה הפנים שלך.”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שלב שלישי – לתת תחושת שליטה ופתרונות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לפצל את הטיפול לשלבים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אפשרות לפריסת תשלומים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טיפול חלופי בתקציב נגיש יותר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מוצע: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מבינה שכרגע זה לא בתקציב – אפשר להתחיל בפעולה אחת מדויקת שתיתן שינוי מיידי.”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שלב רביעי – לשחרר את מי שלא מתאים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לקוח הוא לקוח מדויק.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שמחפש רק מחיר – לא תמיד מבין את הערך.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שימרו על ערך עצמי ומיתוג מקצועי. זה חלק מהצלחה רפואית.</a:t>
            </a:r>
            <a:endParaRPr lang="he-IL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2926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רופא אסתטיקה להתמודדות עם התנגדויות למחיר – גרסה מעודכנת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617220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שלב ראשון – להבין את ההתנגדות לעומק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לברור ההתנגדות האמיתית: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לשאול מה גרם לך להרגיש שזה יקר?”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היית מצפה לכלול במחיר כזה?”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“יקר ביחס לך? האם היא משווה בינכם לבין רשת?”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משהו שלא תכננת כלכלית עכשיו או שזו שאלה של ערך בעינייך?”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לברר אם מדובר בהתנגדות כלכלית, רגשית או טכנית – ואז להתאים את התגובה.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שלב שני – חיזוק ערך ולא הנחה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להוריד מחיר, הדגש את היתרונות הייחודיים: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תחזרו לבידול שלכם, לחוזקות שלכם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הכשרה מתקדמת, יחס אישי, יכולת מענה וזמינות גבוהה, בניית תוכנית טיפולים מותאמת אישית.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 פרימיום בלבד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וליווי אישי אחרי טיפול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 רפואית על ידי רופא בלבד</a:t>
            </a:r>
            <a:endParaRPr lang="he-IL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 מפתח: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“טיפול אסתטי טוב הוא לא הוצאה – הוא השקעה בביטחון העצמי שלך.”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הכי זולה, אבל אני כן הכי מדויקת, בטוחה ומקצועית.”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“מחיר הוא לא השיקול המרכזי כשמדובר בפנים שלך.”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שלב שלישי – לתת תחושת שליטה ופתרונות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לפצל את הטיפול לשלבים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אפשרות לפריסת תשלומים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טיפול חלופי בתקציב נגיש יותר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מוצע: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מבינה שכרגע זה לא בתקציב – אפשר להתחיל בפעולה אחת מדויקת שתיתן שינוי מיידי.”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שלב רביעי – לשחרר את מי שלא מתאים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לקוח הוא לקוח מדויק.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שמחפש רק מחיר – לא תמיד מבין את הערך.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שימרו על ערך עצמי ומיתוג מקצועי. זה חלק מהצלחה רפואית.</a:t>
            </a:r>
            <a:endParaRPr lang="he-IL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תוספים – מה מומלץ וממה להימנע סביב טיפולים</a:t>
            </a:r>
            <a:endParaRPr lang="he-IL" sz="2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566160"/>
                <a:gridCol w="1737360"/>
                <a:gridCol w="194767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הנחיה לרופאים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מטרה / השפעה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התוסף / גורם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להתחיל שבוע לפני ולהמשיך שבוע לאחר הטיפול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מעודד ייצור קולגן ותומך בהחלמת העור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ויטמין 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לפני טיפולים סדרתיים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משפר את מרקם העור ותומך בתיקון רקמות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קולגן הידרולייזד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בטיפולים ביוסטימולטוריים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תורם להתחדשות תאים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L-ליזין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כשיש רגישות או דלקתיות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משפר עמידות ויעילות הבוטוקס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אבץ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במקרים של רקמה דקה/חלשה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תורמת לגמישות וחוזק רקמות חיבור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סיליקה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תמיכה כללית, אפשר כל הזמן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תומך בכלי דם ותפקוד תאי עור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קומפלקס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מתאים לתחזוקה בין טיפולים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תומך בתהליך האנטי-אייג'ינג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קואנזים Q10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שבוע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מגביר סיכון לשטפי דם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אומגה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שבוע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מגביר סיכון לדימומים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ויטמין 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לפחות 5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מעלה סיכון לשטפי דם ודלקת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כורכום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לפחות 5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עלול להפריע לקרישה תקינה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ג'ינגר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לצרוך 3–4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משפיע על קרישת דם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להימנע 24–48 שעות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מעלה סיכון לנפיחות ודימומים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אלכוהול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חדש לבוגרים של AAA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רופאים ורופאות יקרים, יש לנו חדשות מרגשות עבורכם!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אנו גאים להשיק שירות מותאם אישית הכולל שיווק פרסום וניהול קמפיינים במדיות החברתיות בלעדי לבוגרי הקורס שלנו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1371600" y="2514600"/>
            <a:ext cx="10268712" cy="2651760"/>
          </a:xfrm>
          <a:prstGeom prst="roundRect">
            <a:avLst>
              <a:gd name="adj" fmla="val 34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91640" y="2697480"/>
            <a:ext cx="9628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כולל השירות?</a:t>
            </a:r>
            <a:endParaRPr lang="he-IL" sz="1700" dirty="0"/>
          </a:p>
        </p:txBody>
      </p:sp>
      <p:sp>
        <p:nvSpPr>
          <p:cNvPr id="9" name="Text 6"/>
          <p:cNvSpPr/>
          <p:nvPr/>
        </p:nvSpPr>
        <p:spPr>
          <a:xfrm>
            <a:off x="1691640" y="3200400"/>
            <a:ext cx="96286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קמפיין בפייסבוק ובאינסטגרם: 800 שח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יומן מלא, תיאום תורים: 15% מכל טיפול שנסגר מול המטופלת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השכרת חדר טיפולים באקדמיה של AAA בראשון לציון: 100 שח לשעה+מע”מ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סושיאל ליום של 6 שעות: 1500 שח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ייעוץ מכירות לאורך יום הטיפולים: 2500 שח</a:t>
            </a:r>
            <a:endParaRPr lang="he-IL" sz="1450" dirty="0"/>
          </a:p>
        </p:txBody>
      </p:sp>
      <p:sp>
        <p:nvSpPr>
          <p:cNvPr id="10" name="Text 7"/>
          <p:cNvSpPr/>
          <p:nvPr/>
        </p:nvSpPr>
        <p:spPr>
          <a:xfrm>
            <a:off x="548640" y="53492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 בעלויות נמוכות עם רווח מקסימלי עבורכם</a:t>
            </a:r>
            <a:endParaRPr lang="he-IL" sz="15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לנצל את היתרונות של שירות ייחודי ובלעדי זה</a:t>
            </a:r>
            <a:endParaRPr lang="he-IL" sz="15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להצלחה שלכם!</a:t>
            </a:r>
            <a:endParaRPr lang="he-IL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פרקטיקה פרטני לבוגרי AAA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078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מרגישים שאתם זקוקים לתרגול נוסף?</a:t>
            </a:r>
            <a:endParaRPr lang="he-IL" sz="1700" dirty="0"/>
          </a:p>
        </p:txBody>
      </p:sp>
      <p:sp>
        <p:nvSpPr>
          <p:cNvPr id="7" name="Text 4"/>
          <p:cNvSpPr/>
          <p:nvPr/>
        </p:nvSpPr>
        <p:spPr>
          <a:xfrm>
            <a:off x="5943600" y="1691640"/>
            <a:ext cx="56967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אנו מציעים יום הכולל 6 שעות בצמוד לאחד ממרצי הקורס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 אתם מגדירים מראש אילו אינדיקציות/אזורים תרצו לתרגל, ואנו מספקים מודגמות בהתאם לדרישה.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(בין 5-6 מודגמות)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 יתבצע בצמוד לאחד ממרצי הקורס,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וכמובן כולל תיעוד והרחבת תיק העבודות שלכם.</a:t>
            </a:r>
            <a:endParaRPr lang="he-IL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1691640"/>
            <a:ext cx="5120640" cy="2651760"/>
          </a:xfrm>
          <a:prstGeom prst="roundRect">
            <a:avLst>
              <a:gd name="adj" fmla="val 344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1920240"/>
            <a:ext cx="44805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dirty="0">
                <a:solidFill>
                  <a:srgbClr val="D8CC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היום היא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 שח + מע”מ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החדר עומד לרשותכם כולל מתכלים: אלכוהול, קנולות, מחטים, מזרקי שאיבה, גאזות.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וחומרי הזרקה תוכלו להביא איתכם באופן עצמאי או לרכוש מאיתנו בעלויות נמוכות פר שימוש.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1371600" y="4709160"/>
            <a:ext cx="10268712" cy="1371600"/>
          </a:xfrm>
          <a:prstGeom prst="roundRect">
            <a:avLst>
              <a:gd name="adj" fmla="val 666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691640" y="4892040"/>
            <a:ext cx="9628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 בעלויות נמוכות עם רווח מקסימלי עבורכם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לנצל את היתרונות של שירות ייחודי ובלעדי זה להצלחה שלכם!</a:t>
            </a:r>
            <a:endParaRPr lang="he-IL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20624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3" name="Image 0" descr="assets/he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25880"/>
            <a:ext cx="4251960" cy="2834640"/>
          </a:xfrm>
          <a:prstGeom prst="rect">
            <a:avLst/>
          </a:prstGeom>
        </p:spPr>
      </p:pic>
      <p:pic>
        <p:nvPicPr>
          <p:cNvPr id="4" name="Image 1" descr="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4343400"/>
            <a:ext cx="2057400" cy="2057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94960" y="1143000"/>
            <a:ext cx="6263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he-IL" altLang="en-US" sz="28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ותזכרו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אף רופא לא נולד עם מזרק ביד, ואף אחד לא נכנס לקליניקה משגשגת ביום הראשון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מסע – של התפתחות, למידה והתנסות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ואתם לא לבד בו!!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כאן בשבילכם – תמיד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הבית לשאול, להתייעץ, לקבל גב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ולצמוח יד ביד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שתהיו הרופאים שאתם חולמים להיות</a:t>
            </a:r>
            <a:endParaRPr lang="he-IL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2026-08-03T07:27:08Z</dcterms:created>
  <dcterms:modified xsi:type="dcterms:W3CDTF">2026-08-03T07:27:08Z</dcterms:modified>
</cp:coreProperties>
</file>