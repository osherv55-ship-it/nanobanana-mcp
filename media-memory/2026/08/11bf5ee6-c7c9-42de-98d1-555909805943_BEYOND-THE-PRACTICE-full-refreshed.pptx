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A3866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120640"/>
            <a:ext cx="3108960" cy="3108960"/>
          </a:xfrm>
          <a:prstGeom prst="ellipse">
            <a:avLst/>
          </a:prstGeom>
          <a:solidFill>
            <a:srgbClr val="A3866A">
              <a:alpha val="8000"/>
            </a:srgbClr>
          </a:solidFill>
          <a:ln/>
        </p:spPr>
      </p:sp>
      <p:pic>
        <p:nvPicPr>
          <p:cNvPr id="4" name="Image 0" descr="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21488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937760" y="31546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600" kern="0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937760" y="4343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CBB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AESTHETIC ACADEMY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הסיפור שלי – ואיך הוא הופך לנכס העסקי הכי חשוב שלי?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916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המעבר מרופא מקצועי לבעל קליניקה מצליח מתחיל בהיכרות עמוקה עם עצמך!</a:t>
            </a:r>
            <a:endParaRPr lang="he-IL" sz="1600" dirty="0"/>
          </a:p>
          <a:p>
            <a:pPr rtl="1" algn="r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לא רק מה אתה יודע – אלא איך אתה מציג את זה לעולם.</a:t>
            </a:r>
            <a:endParaRPr lang="he-IL" sz="1600" dirty="0"/>
          </a:p>
          <a:p>
            <a:pPr rtl="1" algn="r"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השלב הראשון: להבין מה אני מביא לשולחן</a:t>
            </a:r>
            <a:endParaRPr lang="he-IL" sz="1600" dirty="0"/>
          </a:p>
          <a:p>
            <a:pPr rtl="1" algn="r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לזהות חוזקות שמאפיינות אותי כאדם וכרופא, ולצידן נקודות בהן יש לי הזדמנות לצמוח.</a:t>
            </a:r>
            <a:endParaRPr lang="he-IL" sz="1600" dirty="0"/>
          </a:p>
          <a:p>
            <a:pPr rtl="1" algn="r"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החוזקות שלי הן לא רק מיומנויות – הן הכלי השיווקי הכי חזק שלי</a:t>
            </a:r>
            <a:endParaRPr lang="he-IL" sz="1600" dirty="0"/>
          </a:p>
          <a:p>
            <a:pPr rtl="1" algn="r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כשאני מדגיש אותן, אני יוצר בידול בראיונות עבודה, בשיחה עם מטופלת חדשה או בשיתוף פעולה עם גורמים מסחריים</a:t>
            </a:r>
            <a:endParaRPr lang="he-IL" sz="16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האותנטיות מנצחת.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4983480"/>
            <a:ext cx="10268712" cy="1234440"/>
          </a:xfrm>
          <a:prstGeom prst="roundRect">
            <a:avLst>
              <a:gd name="adj" fmla="val 740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45920" y="5120640"/>
            <a:ext cx="9720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שתהיו מחוברים יותר לסיפור שלכם, כך תצליחו לשדר ביטחון, מקצועיות ואמון – ולהפוך את עצמכם למותג אישי שמטופלות זוכרות ובוחרות</a:t>
            </a:r>
            <a:endParaRPr lang="he-IL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מתאים לי כרופא/ה חדש/ה?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10789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השתלבות בעבודה ברשת או בקליניקה קיימת 💼</a:t>
            </a:r>
            <a:endParaRPr lang="he-IL" sz="1700" dirty="0"/>
          </a:p>
        </p:txBody>
      </p:sp>
      <p:sp>
        <p:nvSpPr>
          <p:cNvPr id="7" name="Shape 4"/>
          <p:cNvSpPr/>
          <p:nvPr/>
        </p:nvSpPr>
        <p:spPr>
          <a:xfrm>
            <a:off x="6400800" y="1691640"/>
            <a:ext cx="5239512" cy="4160520"/>
          </a:xfrm>
          <a:prstGeom prst="roundRect">
            <a:avLst>
              <a:gd name="adj" fmla="val 219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20840" y="19202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יתרונות</a:t>
            </a:r>
            <a:endParaRPr lang="he-IL" sz="1800" dirty="0"/>
          </a:p>
        </p:txBody>
      </p:sp>
      <p:sp>
        <p:nvSpPr>
          <p:cNvPr id="9" name="Text 6"/>
          <p:cNvSpPr/>
          <p:nvPr/>
        </p:nvSpPr>
        <p:spPr>
          <a:xfrm>
            <a:off x="6720840" y="2423160"/>
            <a:ext cx="4617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מאפשרת לי “לרוץ על אוטומט” – בלי לעסוק באדמיניסטרציה, שיווק, מכירות, ניהול מלאי או ניהול עסקי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יכול/ה להתמקד בטיפולים בלבד – בלי דאגות של ניהול שוטף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צבירת ניסיון מעשי בסביבה קיימת וממוסדת</a:t>
            </a:r>
            <a:endParaRPr lang="he-IL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691640"/>
            <a:ext cx="55778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חסרונות</a:t>
            </a:r>
            <a:endParaRPr lang="he-IL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2423160"/>
            <a:ext cx="4937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הרשתות דורשות התחייבות ארוכת טווח – מה שעלול להגביל אותי ביציאה לדרך עצמאית בעתיד הקרוב</a:t>
            </a:r>
            <a:endParaRPr lang="he-IL" sz="1350" dirty="0"/>
          </a:p>
          <a:p>
            <a:pPr rtl="1" algn="r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למרות שאני הסמכות הרפואית – ההחלטות מתקבלות מעליי, ולעיתים בניגוד לגישה או לערכים שלי</a:t>
            </a:r>
            <a:endParaRPr lang="he-IL" sz="1350" dirty="0"/>
          </a:p>
          <a:p>
            <a:pPr rtl="1" algn="r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העבודה אינה בבעלותי – אני בונה עסק עבור מישהו אחר</a:t>
            </a:r>
            <a:endParaRPr lang="he-IL" sz="1350" dirty="0"/>
          </a:p>
          <a:p>
            <a:pPr rtl="1" algn="r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קיימת אפשרות שיתבקש ממני לבצע טיפולים או החלטות שאני פחות מתחבר/ת אליהן מקצועית או אתית</a:t>
            </a:r>
            <a:endParaRPr lang="he-IL" sz="1350" dirty="0"/>
          </a:p>
          <a:p>
            <a:pPr rtl="1" algn="r" marL="342900" indent="-342900">
              <a:lnSpc>
                <a:spcPct val="110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התמורה הכספית מוגבלת יחסית לערך שאני מייצר בפועל</a:t>
            </a:r>
            <a:endParaRPr lang="he-IL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קליניקה קיימת מול יציאה לעצמאות מלאה</a:t>
            </a:r>
            <a:endParaRPr lang="he-IL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4416552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יציאה לעצמאות מלאה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עבודה בקליניקה קיימת / רשת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היבט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מלאה – כל החלטה בידיים שלך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מוגבלת – ההחלטות מתקבלות ע״י מנהלים או הבעלים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שליטה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את/ה בוחר/ת את קווי השירות, סוג הטיפולים וסגנון העבודה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כפוף לפרוטוקולים ומדיניות הקליניקה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חופש מקצועי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נדרש/ת לנהל: מלאי, שיווק, שירות לקוחות, כספים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ללא התעסקות – הכול מנוהל עבורך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אדמיניסטרציה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פוטנציאל הכנסה גבוה – תלוי בך בלבד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קבוע, לרוב נמוך ביחס לפוטנציאל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תזרים והכנסה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 יותר – נדרש זמן לבנייה והתבססות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נמוך – יציבות תעסוקתית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סיכון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גבוהה – בניית מותג אישי וצמיחה עסקית אמיתית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מוגבלת – התפתחות בתוך מסגרת קיימת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צמיחה אישית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מלאה – אתה הבעלים, המנהל והפנים של הקליניקה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 – אתה עובד בעסק של מישהו אחר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תחושת בעלות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1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 ההתחלה של כל טיפול – היא ההבנה שהמטופלת מולכם לא מחפשת רק שינוי, אלא תחושת ערך עצמי מחודשת.</a:t>
            </a:r>
            <a:endParaRPr lang="he-IL" sz="21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916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לפעמים היא מגיעה עם רצון לשפר אזור מסוים</a:t>
            </a:r>
            <a:endParaRPr lang="he-IL" sz="1600" dirty="0"/>
          </a:p>
          <a:p>
            <a:pPr rtl="1" algn="r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אבל מאחורי הבקשה מסתתרות גם חוויות, רגישויות ולעיתים אפילו סבל רגשי</a:t>
            </a:r>
            <a:endParaRPr lang="he-IL" sz="1600" dirty="0"/>
          </a:p>
          <a:p>
            <a:pPr rtl="1" algn="r"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ברפואה אסתטית אין מטרה שהיא רק “קוסמטית”</a:t>
            </a:r>
            <a:endParaRPr lang="he-IL" sz="1600" dirty="0"/>
          </a:p>
          <a:p>
            <a:pPr rtl="1" algn="r"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שינוי חיצוני טומן בתוכו השפעה עמוקה – על הדימוי העצמי, על הביטחון, ועל איכות החיים.</a:t>
            </a:r>
            <a:endParaRPr lang="he-IL" sz="1600" dirty="0"/>
          </a:p>
          <a:p>
            <a:pPr rtl="1" algn="r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לכן חשוב לזכור:</a:t>
            </a:r>
            <a:endParaRPr lang="he-IL" sz="1600" dirty="0"/>
          </a:p>
          <a:p>
            <a:pPr rtl="1" algn="r"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הטיפול האמיתי מתחיל הרבה לפני המזרק.</a:t>
            </a:r>
            <a:endParaRPr lang="he-IL" sz="160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 מתחיל בהקשבה. ביכולת לזהות את הגבול בין מה שהיא רוצה – למה שהיא באמת צריכה.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4754880"/>
            <a:ext cx="10268712" cy="1463040"/>
          </a:xfrm>
          <a:prstGeom prst="roundRect">
            <a:avLst>
              <a:gd name="adj" fmla="val 6250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45920" y="4937760"/>
            <a:ext cx="9720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5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המטופלת תזכור את הדרך לא פחות מהתוצאה.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תזכור אם ראיתם אותה באמת, אם הסברתם לה בכנות, אם ידעתם להציב גבולות – גם כשהיא לא ידעה להציבם לעצמה.</a:t>
            </a:r>
            <a:endParaRPr lang="he-IL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מוכרים טיפול – אתם בונים אמון.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6263640" y="1554480"/>
            <a:ext cx="53766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ברפואה אסתטית, הקסם לא מתחיל במזרק – אלא בחיבור האנושי.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המטופלת בוחרת בכם לא בגלל המחיר – אלא בגלל התחושה שאתם מעניקים לה.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שתהיו נוכחים, קשובים ואותנטיים – כך תצליחו לייצר חוויה מנצחת.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חוויה שמבוססת על קשר אישי, על הקשבה אמיתית לחששות, ועל הובלה מקצועית עם רגישות.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4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זכרו: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שמוכר בזול – מתחרה על מחיר.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שמוביל ברגש ובערך – הופך לבחירה הברורה.</a:t>
            </a:r>
            <a:endParaRPr lang="he-IL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645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כן חשוב להדגיש בשיחה עם מטופלת חדשה?</a:t>
            </a:r>
            <a:endParaRPr lang="he-IL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להבהיר לה שאתם כאן כדי להבין את הרצון האישי שלה – לא רק את הבעיה הטכנית.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לנסח יחד ציפיות מדויקות ונכונות – ולתכנן תוצאה שמתאימה לה, לא לאחרות.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והכי חשוב: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טוב הוא כזה שמייצר קשר, ולא רק תוצאה.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בסוף, התחושה שהענקתם לה – תלווה אותה הרבה אחרי שהתוצאה תתייצב.</a:t>
            </a:r>
            <a:endParaRPr lang="he-IL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תפקידכם כרופאים ברפואה האסתטית?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852160" y="1463040"/>
            <a:ext cx="57881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לתרגם את הרצון – לפרוטוקול טיפולי אחראי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כל מה שהמטופלת מבקשת – נכון לה.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האחריות שלכם היא לדעת מתי להגיד “לא”, מתי להמליץ על תהליך הדרגתי,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ומתי להסביר לה שהשינוי האמיתי יקרה לא רק בפנים – אלא בתחושה.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לראות את המטופלת – ולא רק את הקמט.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לשאול את עצמכם: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באמת עומד מאחורי הבקשה שלה?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היא מחפשת שיראו בה – כשהיא מבקשת לשנות?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לטפל מתוך חמלה, אבל גם מתוך גבולות בריאים.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מטופלת שמגיעה עם ציפיות לא ריאליות – זקוקה לרופא שלא רק “מבצע”, אלא גם מוביל.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 רופא טוב יודע גם מתי לא להזריק.</a:t>
            </a:r>
            <a:endParaRPr lang="he-IL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14884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he-IL" altLang="en-US" sz="15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בסופו של דבר – רפואה אסתטית היא שליחות.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he-IL" alt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רק משפיעים על מראה – אתם נוגעים בזהות.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he-IL" alt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שתפעלו מתוך מקצועיות, יושרה וחיבור אנושי –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buNone/>
            </a:pPr>
            <a:r>
              <a:rPr lang="he-IL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תיצרו טיפולים משני חיים, ולא רק משני פנים.</a:t>
            </a:r>
            <a:endParaRPr lang="he-IL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לעלות מדרגה – ולהוביל את הטיפול, גם כשהמטופלת “כבר יודעת מה היא רוצה”</a:t>
            </a:r>
            <a:endParaRPr lang="he-IL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91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ויותר מטופלות מגיעות עם תוכנית טיפול מוכנה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הן חושבות שהן יודעות איזה חומר הן צריכות, באיזו אינדיקציה, ובאיזה אזור להזריק.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הן לא תמיד טועות – אבל לרוב הן מושפעות מתוכן ברשתות, המלצות של חברות או ניסיון עבר, ולא מהבנה קלינית אמיתית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כאן נכנס התפקיד הקריטי שלכם כרופאים.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התפקיד שלכם הוא לעצור – ולבחון מחדש את מה שהיא מבקשת.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להבין את מקור הרצון, לחשוף את הצורך האמיתי, ולבנות תוכנית טיפול מקצועית, מותאמת, הדרגתית ואחראית.</a:t>
            </a:r>
            <a:endParaRPr lang="he-IL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52628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he-IL" altLang="en-US" sz="14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מהקליניקה: מטופלת שמבקשת הזרקה לקמט ספציפי</a:t>
            </a:r>
            <a:endParaRPr lang="he-IL" sz="1450" dirty="0"/>
          </a:p>
          <a:p>
            <a:pPr rtl="1" algn="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ייתכן שהבעיה האמיתית בכלל נובעת מהשקע הטבעי במרכז הפנים או משינויים במבנה העצמות</a:t>
            </a:r>
            <a:endParaRPr lang="he-IL" sz="1450" dirty="0"/>
          </a:p>
          <a:p>
            <a:pPr rtl="1" algn="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תיארה “קמט”, אבל אתם כרופאים רואים חוסר נפח או שקיעה במבנה תומך</a:t>
            </a:r>
            <a:endParaRPr lang="he-IL" sz="145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 שתסבירו לה את ההבדל, תובילו אותה למקום הנכון – גם אם זה שונה ממה שביקשה</a:t>
            </a:r>
            <a:endParaRPr lang="he-IL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חשוב: להוביל תכנון משולב – גם מהיבט קליני וגם מהיבט כלכלי.</a:t>
            </a:r>
            <a:endParaRPr lang="he-IL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916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השאיפה היא לבנות טיפול הוליסטי – כזה שמבוסס על האבחנה הקלינית,</a:t>
            </a:r>
            <a:endParaRPr lang="he-IL" sz="1600" dirty="0"/>
          </a:p>
          <a:p>
            <a:pPr rtl="1" algn="r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אך גם על היכולת של המטופלת לעמוד בו לאורך זמן</a:t>
            </a:r>
            <a:endParaRPr lang="he-IL" sz="1600" dirty="0"/>
          </a:p>
          <a:p>
            <a:pPr rtl="1" algn="r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מושכל באסטרטגיית שילוב (חומרים/אזורים/אינדיקציות) יאפשר לכם למקסם את האפקט – וגם לדרג את המחיר באופן חכם ולא מאיים.</a:t>
            </a:r>
            <a:endParaRPr lang="he-IL" sz="160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טיפולים שמובנים בשלבים, עם התאמה תקציבית – יסייעו למטופלת להתחייב רגשית וכלכלית</a:t>
            </a:r>
            <a:endParaRPr lang="he-IL" sz="160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ולהרגיש שהיא מובלת ולא “נמכרת לה הזרקה”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526280"/>
            <a:ext cx="10451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he-IL" altLang="en-US" sz="15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לשילובים חכמים – לא “למכור מזרק”, אלא לבנות טיפול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“למכור מזרק למילוי”, עברו לחשוב במונחים של טיפול הוליסטי לאזור שלם – כזה שמתייחס למרקם העור, למבנה התומך, לשרירים ולגוון.</a:t>
            </a:r>
            <a:endParaRPr lang="he-IL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🪞 טכניקת שיקוף – כלי תקשורתי קריטי לרופאי אסתטיקה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שיקוף?</a:t>
            </a:r>
            <a:endParaRPr lang="he-IL" sz="1600" dirty="0"/>
          </a:p>
          <a:p>
            <a:pPr rtl="1" algn="r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שיקוף זו טכניקה מעולם הטיפול והאימון בה משקפים למטופלת את מה שהיא אומרת/מרגישה – אבל בשפה נקייה, רגשית, ולעיתים גם רפואית.</a:t>
            </a:r>
            <a:endParaRPr lang="he-IL" sz="1600" dirty="0"/>
          </a:p>
          <a:p>
            <a:pPr rtl="1" algn="r" indent="0" marL="0">
              <a:lnSpc>
                <a:spcPct val="118000"/>
              </a:lnSpc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המטרה: לגרום לה להרגיש שמבינים אותה, מבלי להסכים בהכרח, ובו זמנית להוביל אותה להבנה מקצועית ונכונה יותר של המצב.</a:t>
            </a:r>
            <a:endParaRPr lang="he-IL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✳️ דוגמאות קליניות:</a:t>
            </a:r>
            <a:endParaRPr lang="he-IL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11091672" cy="2240280"/>
          </a:xfrm>
          <a:prstGeom prst="roundRect">
            <a:avLst>
              <a:gd name="adj" fmla="val 4082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4114800"/>
            <a:ext cx="10451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5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מטופלת: “אני מרגישה שעשיתי ולא רואים כלום!”</a:t>
            </a:r>
            <a:endParaRPr lang="he-IL" sz="1500" dirty="0"/>
          </a:p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5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שיקוף:</a:t>
            </a:r>
            <a:endParaRPr lang="he-IL" sz="15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“זה נשמע שאת מרגישה שהתוצאה עדיין לא בולטת כמו שציפית – וזה יכול לתסכל, בטח כשאת משקיעה זמן וכסף.</a:t>
            </a:r>
            <a:endParaRPr lang="he-IL" sz="15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בואי נסתכל ביחד בתמונות ונבדוק את ההבדל.”</a:t>
            </a:r>
            <a:endParaRPr lang="he-IL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263640" y="960120"/>
            <a:ext cx="5376672" cy="3200400"/>
          </a:xfrm>
          <a:prstGeom prst="roundRect">
            <a:avLst>
              <a:gd name="adj" fmla="val 285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0" y="11887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3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מטופלת: “אני רוצה רק מילוי בשפתיים למעלה”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3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שיקוף: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שומעת שאת מאוד ממוקדת באזור אחד שאת רואה מול העיניים – השפה העליונה.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לפעמים מה שאנחנו רואים מול המראה זה רק חלק מהתמונה המלאה.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רוצה לבדוק איתך אם את פתוחה שנביט יחד בפרופורציות הכלליות של הפנים, ואז אראה לך את ההמלצה הרפואית שלי.”</a:t>
            </a:r>
            <a:endParaRPr lang="he-IL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18872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3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מטופלת: “מה שחשוב לי זה שלא יראו שעשיתי כלום!”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3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שיקוף: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“הכי חשוב לך שיראו אותך – לא את ההזרקה. אני איתך בזה.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יכולים לבנות תוכנית מדויקת מאוד שתחזק את מה שיש, בלי להיראות ‘עשוי’.”</a:t>
            </a:r>
            <a:endParaRPr lang="he-IL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4526280"/>
            <a:ext cx="10451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he-IL" altLang="en-US" sz="14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כללי זהב לשיקוף: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להתחיל ב-“אני שומע/ת ש…” או “נשמע ש…”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להזדהות עם הרגש – לא עם הדרישה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להוביל לתחום שלך: “בואי אראה לך איך אני רואה את זה מקצועית”</a:t>
            </a:r>
            <a:endParaRPr lang="he-IL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בניית תוכנית טיפול מול מטופלת “יודעת הכול”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סיטואציה נפוצה: מטופלת באה עם רשימת דרישות: “תעשה לי רק לחיים, בוטוקס כאן, ומילוי פה” כאילו מדובר בתפריט.</a:t>
            </a:r>
            <a:endParaRPr lang="he-IL" sz="15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הסכנה: איבוד הסמכות המקצועית, פגיעה בתוצאה, אחריות על החלטות לא רפואיות.</a:t>
            </a:r>
            <a:endParaRPr lang="he-IL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איך לנהל את הסיטואציה?</a:t>
            </a:r>
            <a:endParaRPr lang="he-IL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11091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שיקוף הציפייה שלה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רואה שכבר יש לך רעיון ברור מה את רוצה – זה מצוין, זה אומר שאת יודעת מה מפריע לך.”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להחזיר את הכוח למומחיות שלך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“התפקיד שלי כרופא הוא לראות גם את מה שלא רואים מול המראה. אם את מסכימה – נבדוק יחד את כל הפרופורציות ונבנה תוכנית שתשלב את הרצונות שלך עם מה שייתן לך תוצאה טבעית, הרמונית ולטווח ארוך.”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המחשה ויזואלית (תמונות של אחרים, הסבר על אנטומיה)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לתעד ולהחתים – ולכתוב שזו החלטה רפואית על בסיס תוכנית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4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(משפט שחשוב להכניס גם במסמכי הסכמה מדעת)</a:t>
            </a:r>
            <a:endParaRPr lang="he-IL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כשהמטופלת לא רואה תוצאה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6263640" y="1463040"/>
            <a:ext cx="5376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he-IL" altLang="en-US" sz="15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תחושת “לא רואים כלום” יכולה לנבוע מ-3 סיבות: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התרגלות הדרגתית – ראייה יומיומית במראה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ציפייה לא ריאלית – רצתה “וואו” מטיפול עדין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השוואה לחברות / לרשתות</a:t>
            </a:r>
            <a:endParaRPr lang="he-IL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691640"/>
            <a:ext cx="4800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4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🧰 כלים להתמודדות:</a:t>
            </a:r>
            <a:endParaRPr lang="he-IL" sz="14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שיקוף:</a:t>
            </a:r>
            <a:endParaRPr lang="he-IL" sz="14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שומעת שאת מרגישה שלא רואים שינוי משמעותי – וזה לגמרי מובן.</a:t>
            </a:r>
            <a:endParaRPr lang="he-IL" sz="1400" dirty="0"/>
          </a:p>
          <a:p>
            <a:pPr rtl="1"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 לי שנעבור יחד על התמונות מלפני, כדי שתראי את ההבדלים – גם אם הם עדינים.”</a:t>
            </a:r>
            <a:endParaRPr lang="he-IL" sz="1400" dirty="0"/>
          </a:p>
          <a:p>
            <a:pPr rtl="1"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להציג לפני/אחרי (באותה תאורה וזווית!)</a:t>
            </a:r>
            <a:endParaRPr lang="he-IL" sz="14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לחזק את הבחירה שלה</a:t>
            </a:r>
            <a:endParaRPr lang="he-IL" sz="14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“זה בדיוק מה שבחרנו מראש – שינוי עדין, עם תוצאה טבעית.”</a:t>
            </a:r>
            <a:endParaRPr lang="he-IL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איך להפוך פגישת ייעוץ לטיפול בפועל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5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הבנה בסיסית: ייעוץ הוא לא אינפורמציה בלבד – הוא תהליך של חיבור רגשי, מקצועי ואסתטי.</a:t>
            </a:r>
            <a:endParaRPr lang="he-IL" sz="1550" dirty="0"/>
          </a:p>
        </p:txBody>
      </p:sp>
      <p:sp>
        <p:nvSpPr>
          <p:cNvPr id="7" name="Shape 4"/>
          <p:cNvSpPr/>
          <p:nvPr/>
        </p:nvSpPr>
        <p:spPr>
          <a:xfrm>
            <a:off x="6263640" y="2011680"/>
            <a:ext cx="5376672" cy="2103120"/>
          </a:xfrm>
          <a:prstGeom prst="roundRect">
            <a:avLst>
              <a:gd name="adj" fmla="val 434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21945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🧠 שינוי גישה – לא “להסביר”, אלא לנווט!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באנו “לשכנע” אלא להוביל את המטופלת לתחושת ביטחון בהחלטה.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המטרה: שהיא תבין למה כדאי להתחיל כבר עכשיו – ולא “לחשוב על זה בבית”.</a:t>
            </a:r>
            <a:endParaRPr lang="he-IL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1945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📋 מבנה שיחת ייעוץ אפקטיבית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כדי להפוך ייעוץ לטיפול בפועל, חשוב להבין שמדובר בתהליך מובנה – לא רק מתן מידע.</a:t>
            </a:r>
            <a:endParaRPr lang="he-IL" sz="135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הנה השלבים שמומלץ לעבור איתם במהלך הפגישה:</a:t>
            </a:r>
            <a:endParaRPr lang="he-IL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38912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he-IL" altLang="en-US" sz="15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פתיחה רגשית:</a:t>
            </a:r>
            <a:endParaRPr lang="he-IL" sz="1500" dirty="0"/>
          </a:p>
          <a:p>
            <a:pPr rtl="1" algn="r"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התחילי ביצירת חיבור אישי עם המטופלת שאלי שאלות שמזמינות אותה לספר על עצמה</a:t>
            </a:r>
            <a:endParaRPr lang="he-IL" sz="1500" dirty="0"/>
          </a:p>
          <a:p>
            <a:pPr rtl="1" algn="r" indent="0" marL="0">
              <a:lnSpc>
                <a:spcPct val="118000"/>
              </a:lnSpc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ולא רק “מה היא רוצה”. למשל:</a:t>
            </a:r>
            <a:endParaRPr lang="he-IL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502920"/>
            <a:ext cx="11091672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“מה גרם לך לקבוע את הפגישה דווקא עכשיו?”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“יש משהו שהתלבטת לגביו הרבה זמן?”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הקשבה אקטיבית: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הקשיבי למה שמפריע לה – לא רק באסתטיקה, אלא גם בתחושת הביטחון.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תני לה מקום, בלי לקטוע או למהר להציע פתרונות.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כמו: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“מה הכי מפריע לך כשאת מסתכלת במראה?”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“מתי את הכי מרגישה בזה – בתמונות? באור מסוים?”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שיקוף והעצמה: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שקפי לה את הדברים שהיא אמרה – כדי שתבין שאת איתה. זה בונה אמון ויוצר חיבור רגשי.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לדוגמה: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“אז אני מבינה שהכי מפריע לך זה הנפילה כאן בלחיים, וזה משהו שאת מרגישה אותו כבר תקופה, נכון?”</a:t>
            </a:r>
            <a:endParaRPr lang="he-IL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502920"/>
            <a:ext cx="11091672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הסבר מקצועי ממוקד: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הסבירי את ההמלצה שלך בצורה פשוטה, ברורה, ולא טכנית מדי –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להיעזר גם בתמונות “לפני ואחרי” של מקרים דומים.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“מבחינה רפואית, הנפילה שאת רואה בשליש התחתון מגיעה מ… . אני ממליצה לטפל קודם בזה, ואז נוכל לראות שינוי משמעותי.”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הצעה ממוקדת לפעולה ראשונה: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 תתפזרי – הציעי התחלה ברורה ובטוחה.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“בואי נתחיל בטיפול עדין באזור הרקות – זה שינוי שנראה לעין, בלי להעמיס על הפנים.”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יצירת תחושת דחיפות עדינה: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“למכור”, נסי להראות לה למה כדאי להתחיל כבר עכשיו – למשל בזמינות,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בתקופת התאוששות מינימלית, או במחיר זמני.</a:t>
            </a:r>
            <a:endParaRPr lang="he-IL" sz="15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5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“זה טיפול בלי צורך בהחלמה – תוכלי לחזור לשגרה מיד. אם את רוצה, יש לי אפשרות כבר היום להתחיל.”</a:t>
            </a:r>
            <a:endParaRPr lang="he-IL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🛠️ כלים פרקטיים להגברת סגירת טיפול</a:t>
            </a:r>
            <a:endParaRPr lang="he-IL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הצעת “טעימה”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“במקום הכל עכשיו – אפשר להתחיל במשהו קטן, כמו הרמה עדינה בלחיים. תרגישי, תראי, ותחליטי אם להמשיך.”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044952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מחיר מיוחד למתלבטים במקום: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לא לוחצת – אבל למי שסוגרת בטווח של 24 שעות, אני נותנת גם טיפול איכות עור נקודתי ללא עלות.”</a:t>
            </a:r>
            <a:endParaRPr lang="he-IL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34340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4507992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שימוש בחומרים פותחים (AMPULAS)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“אפשר להתחיל היום ממש במשהו עדין – כמו סקין בוסטר או מילוי נקודתי בלי מזרק מלא.</a:t>
            </a:r>
            <a:endParaRPr lang="he-IL" sz="140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4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ייתן לנו התחלה בטוחה, תראי איך זה מרגיש.”</a:t>
            </a:r>
            <a:endParaRPr lang="he-IL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263640" y="914400"/>
            <a:ext cx="5376672" cy="2194560"/>
          </a:xfrm>
          <a:prstGeom prst="roundRect">
            <a:avLst>
              <a:gd name="adj" fmla="val 416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0" y="1115568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שפת גוף ונוכחות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תנועות איטיות, טון בטוח, קשר עין.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לשבת לצד המטופלת מול המראה, לא מולה בעמדה שיפוטית.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לצייר תוכנית טיפול ביד – זה יוצר תוקף וסמכות.</a:t>
            </a:r>
            <a:endParaRPr lang="he-IL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115568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🗣️ משפטים חזקים לסגירה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לא כאן למכור לך – אלא לבנות איתך תוצאה שאת תאהבי להסתכל עליה כל בוקר.”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“הכי חשוב לי שתצאי עם הרגשה טובה – ואם נתחיל כבר היום, תוך ימים ספורים תתחילי לראות שינוי.”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יכולה לומר שברוב המקרים ברגע שמתחילים - לא תביני איך התלבטת והיססת.</a:t>
            </a:r>
            <a:endParaRPr lang="he-IL" sz="1350" dirty="0"/>
          </a:p>
          <a:p>
            <a:pPr rtl="1" algn="r" marL="342900" indent="-342900">
              <a:lnSpc>
                <a:spcPct val="114000"/>
              </a:lnSpc>
              <a:buSzPct val="100000"/>
              <a:buChar char="•"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אבל זאת בחירה שלך, בקצב שלך”</a:t>
            </a:r>
            <a:endParaRPr lang="he-IL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4224528"/>
            <a:ext cx="104515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אם משא ומתן או שיח על מחיר מרגיש לכם לא טבעי, לא נעים, או מחוץ לאזור הנוחות שלכם – תזכרו: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דוחפים טיפול, אתם מציעים מענה מדויק ומקצועי למישהי שפנתה אליכם מרצונה.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דווקא שם – במקום שבו קשה לכם – נמצא לעיתים הרגע הכי משמעותי לבניית אמון.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שתרגישו יותר בנוח עם השיח הזה, כך תצליחו יותר ללוות מטופלות בתהליך אמיתי ומשמעותי.</a:t>
            </a:r>
            <a:endParaRPr lang="he-IL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אמרה “אני אחשוב על זה”? כך נראה פולו־אפ נכון</a:t>
            </a:r>
            <a:endParaRPr lang="he-IL" sz="2400" dirty="0"/>
          </a:p>
        </p:txBody>
      </p:sp>
      <p:sp>
        <p:nvSpPr>
          <p:cNvPr id="6" name="Text 3"/>
          <p:cNvSpPr/>
          <p:nvPr/>
        </p:nvSpPr>
        <p:spPr>
          <a:xfrm>
            <a:off x="1097280" y="111556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העיקרון: לא רודפים – מלווים. כל הודעה נותנת ערך, אף הודעה לא לוחצת.</a:t>
            </a:r>
            <a:endParaRPr lang="he-IL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1207008"/>
          </a:xfrm>
          <a:prstGeom prst="roundRect">
            <a:avLst>
              <a:gd name="adj" fmla="val 7576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837944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24 שעות – סיכום אישי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“היי [שם], שמחתי שנפגשנו. מצרפת את תוכנית הטיפול שבנינו יחד – היא שמורה לך. כאן לכל שאלה.”</a:t>
            </a:r>
            <a:endParaRPr lang="he-IL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035808"/>
            <a:ext cx="11091672" cy="1207008"/>
          </a:xfrm>
          <a:prstGeom prst="roundRect">
            <a:avLst>
              <a:gd name="adj" fmla="val 7576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182112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72 שעות – ערך, לא תזכורת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“ראיתי היום מקרה דומה לשלך עם תוצאה ממש יפה – אם תרצי, אשמח להראות לך לפני/אחרי בפגישה קצרה.”</a:t>
            </a:r>
            <a:endParaRPr lang="he-IL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379976"/>
            <a:ext cx="11091672" cy="1207008"/>
          </a:xfrm>
          <a:prstGeom prst="roundRect">
            <a:avLst>
              <a:gd name="adj" fmla="val 7576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452628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שבוע – פתח יציאה מכובד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5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“אם זה לא הזמן – זה לגמרי בסדר. התוכנית שמורה לך, ואני כאן כשתרגישי מוכנה.”</a:t>
            </a:r>
            <a:endParaRPr lang="he-IL" sz="1350" dirty="0"/>
          </a:p>
        </p:txBody>
      </p:sp>
      <p:sp>
        <p:nvSpPr>
          <p:cNvPr id="13" name="Text 10"/>
          <p:cNvSpPr/>
          <p:nvPr/>
        </p:nvSpPr>
        <p:spPr>
          <a:xfrm>
            <a:off x="1371600" y="580644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עד שלוש הודעות. מי שלא הבשילה עכשיו – תחזור דווקא למי שנשאר מקצועי ונעים.</a:t>
            </a:r>
            <a:endParaRPr lang="he-IL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הטיפול הסתיים? כאן נבנית הנאמנות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111556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ההבדל בין עסקה חד־פעמית למטופלת קבועה נמצא במעקב – לא במזרק.</a:t>
            </a:r>
            <a:endParaRPr lang="he-IL" sz="1550" dirty="0"/>
          </a:p>
        </p:txBody>
      </p:sp>
      <p:sp>
        <p:nvSpPr>
          <p:cNvPr id="7" name="Shape 4"/>
          <p:cNvSpPr/>
          <p:nvPr/>
        </p:nvSpPr>
        <p:spPr>
          <a:xfrm>
            <a:off x="6263640" y="1783080"/>
            <a:ext cx="5376672" cy="1783080"/>
          </a:xfrm>
          <a:prstGeom prst="roundRect">
            <a:avLst>
              <a:gd name="adj" fmla="val 512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56248" y="1965960"/>
            <a:ext cx="4791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ביום הטיפול</a:t>
            </a:r>
            <a:endParaRPr lang="he-IL" sz="13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הודעת הנחיות לאחר הטיפול + תזכורת שאתם זמינים לכל שאלה.</a:t>
            </a:r>
            <a:endParaRPr lang="he-IL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1965960"/>
            <a:ext cx="4855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יום 3 – צ'ק־אין יזום</a:t>
            </a:r>
            <a:endParaRPr lang="he-IL" sz="13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“איך את מרגישה? רגישות קלה היא צפויה – אם משהו מטריד אותך, אני כאן.”</a:t>
            </a:r>
            <a:endParaRPr lang="he-IL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76672" cy="1783080"/>
          </a:xfrm>
          <a:prstGeom prst="roundRect">
            <a:avLst>
              <a:gd name="adj" fmla="val 512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56248" y="3886200"/>
            <a:ext cx="4791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שבוע 2 – ביקורת</a:t>
            </a:r>
            <a:endParaRPr lang="he-IL" sz="13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הזמנה לביקורת + צילום תמונות אחרי. תיקון טאצ'־אפ כלול עד חודש – השתמשו בזה כעוגן לפגישה.</a:t>
            </a:r>
            <a:endParaRPr lang="he-IL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7033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" y="3886200"/>
            <a:ext cx="4855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חודש – בונים המשך</a:t>
            </a:r>
            <a:endParaRPr lang="he-IL" sz="13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תוצאה מול תמונות הלפני, והצעד הבא: השלב הבא בתוכנית או תזכורת לסדרה.</a:t>
            </a:r>
            <a:endParaRPr lang="he-IL" sz="1300" dirty="0"/>
          </a:p>
        </p:txBody>
      </p:sp>
      <p:sp>
        <p:nvSpPr>
          <p:cNvPr id="15" name="Text 12"/>
          <p:cNvSpPr/>
          <p:nvPr/>
        </p:nvSpPr>
        <p:spPr>
          <a:xfrm>
            <a:off x="1371600" y="576072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המעקב הוא חלק מהטיפול – הוא ההבדל בין תוצאה חד־פעמית לבין מטופלת שנשארת איתכם שנים.</a:t>
            </a:r>
            <a:endParaRPr lang="he-IL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פרוטוקול צילום לפני/אחרי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111556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אמרנו “באותה תאורה ובאותה זווית” – כך עושים את זה בפועל:</a:t>
            </a:r>
            <a:endParaRPr lang="he-IL" sz="1550" dirty="0"/>
          </a:p>
        </p:txBody>
      </p:sp>
      <p:sp>
        <p:nvSpPr>
          <p:cNvPr id="7" name="Shape 4"/>
          <p:cNvSpPr/>
          <p:nvPr/>
        </p:nvSpPr>
        <p:spPr>
          <a:xfrm>
            <a:off x="6263640" y="1737360"/>
            <a:ext cx="5376672" cy="2560320"/>
          </a:xfrm>
          <a:prstGeom prst="roundRect">
            <a:avLst>
              <a:gd name="adj" fmla="val 3571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1938528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הכללים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חדר, רקע אחיד ובהיר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תאורה קבועה מלפנים – בלי חלון ובלי פלאש ישיר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זוויות: פרונט, 45°, פרופיל – באותו גובה מצלמה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פנים רפויות, בלי איפור ובלי פילטרים</a:t>
            </a:r>
            <a:endParaRPr lang="he-IL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5440680" cy="2560320"/>
          </a:xfrm>
          <a:prstGeom prst="roundRect">
            <a:avLst>
              <a:gd name="adj" fmla="val 3571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1938528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he-IL" altLang="en-US" sz="13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מצלמים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כל טיפול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בביקורת של שבוע 2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בסיום כל סדרה</a:t>
            </a:r>
            <a:endParaRPr lang="he-IL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4727448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4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קריטי:</a:t>
            </a:r>
            <a:endParaRPr lang="he-IL" sz="14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הכלי שמנצח את “לא רואים כלום”, ההגנה המקצועית שלכם – ותיק העבודות שבונה את המותג.</a:t>
            </a:r>
            <a:endParaRPr lang="he-IL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A3866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474720" cy="3474720"/>
          </a:xfrm>
          <a:prstGeom prst="ellipse">
            <a:avLst/>
          </a:prstGeom>
          <a:solidFill>
            <a:srgbClr val="A3866A">
              <a:alpha val="10000"/>
            </a:srgbClr>
          </a:solidFill>
          <a:ln/>
        </p:spPr>
      </p:sp>
      <p:pic>
        <p:nvPicPr>
          <p:cNvPr id="4" name="Image 0" descr="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68580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37744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הדרך היחידה לצאת ממשחק ה’כמה יעלה לי מזרק?’ –</a:t>
            </a:r>
            <a:endParaRPr lang="he-IL" sz="32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360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טיפול הוליסטית</a:t>
            </a:r>
            <a:endParaRPr lang="he-IL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שקעי עיניים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מטופלת מבקשת מזרק אחד למילוי השקע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הזמן לשנות את השיח – ולהציע פתרון מקיף ואפקטיבי הרבה יותר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שיפור טקסטורת העור – טיפול בקמטוטים ובעור העודף באמצעות סלבוסטר או חומרים ביו-רבאליים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בוטוקס בצידי העיניים – לשחרור השריר שמושך את האזור כלפי מטה, וליצירת אפקט הרמה טבעי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מילוי מדויק באמצעות חומצה היאלורונית – לשחזור נפח ואיזון השקע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בכהויות – עם סלבוסטר, אנטיאז' או חומרים מתקדמים נוספים, לפי הצורך האישי</a:t>
            </a:r>
            <a:endParaRPr lang="he-IL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3291840"/>
            <a:ext cx="10268712" cy="2880360"/>
          </a:xfrm>
          <a:prstGeom prst="roundRect">
            <a:avLst>
              <a:gd name="adj" fmla="val 3175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91640" y="3474720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יוצא לכם מזה</a:t>
            </a:r>
            <a:endParaRPr lang="he-IL" sz="1650" dirty="0"/>
          </a:p>
        </p:txBody>
      </p:sp>
      <p:sp>
        <p:nvSpPr>
          <p:cNvPr id="9" name="Text 6"/>
          <p:cNvSpPr/>
          <p:nvPr/>
        </p:nvSpPr>
        <p:spPr>
          <a:xfrm>
            <a:off x="1691640" y="3886200"/>
            <a:ext cx="9628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למכור מזרק ב-1,500–1,800 ₪ כמו כולם,</a:t>
            </a:r>
            <a:endParaRPr lang="he-IL" sz="1300" dirty="0"/>
          </a:p>
          <a:p>
            <a:pPr rtl="1" algn="r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מציעים טיפול משולב, מדורג, מקצועי ומבדל –</a:t>
            </a:r>
            <a:endParaRPr lang="he-IL" sz="1300" dirty="0"/>
          </a:p>
          <a:p>
            <a:pPr rtl="1" algn="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תמחור מתאים שמייצג את הערך האמיתי של מה שהמטופלת מקבלת</a:t>
            </a:r>
            <a:endParaRPr lang="he-IL" sz="1300" dirty="0"/>
          </a:p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3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אתם:</a:t>
            </a:r>
            <a:endParaRPr lang="he-IL" sz="13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יוצאים מהשיח של “מחיר למזרק”</a:t>
            </a:r>
            <a:endParaRPr lang="he-IL" sz="13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ממקסמים את תוצאות הטיפול</a:t>
            </a:r>
            <a:endParaRPr lang="he-IL" sz="13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מייצרים תהליך טיפולי מתמשך שמעמיק את הקשר עם המטופלת</a:t>
            </a:r>
            <a:endParaRPr lang="he-IL" sz="1300" dirty="0"/>
          </a:p>
          <a:p>
            <a:pPr rtl="1" algn="r" marL="342900" indent="-342900">
              <a:lnSpc>
                <a:spcPct val="110000"/>
              </a:lnSpc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ומבדלים את עצמכם כאנשי מקצוע שנותנים מענה שלם – לא פתרון נקודתי</a:t>
            </a:r>
            <a:endParaRPr lang="he-IL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בואו ניקח את הדוגמה לתוכנית הטיפול הזו ונלמד איך נכון לתמחר אותה</a:t>
            </a:r>
            <a:endParaRPr lang="he-IL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12801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ראשון – מתחילים בעלויות החומרים:</a:t>
            </a:r>
            <a:endParaRPr lang="he-IL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103120"/>
            <a:ext cx="10451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מזרק למילוי: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ברכישה של 30 מזרקים ומעלה, מחיר מבצע עומד על כ־330 ש”ח + מע”מ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לבוגרי הקורס – המחיר המוזל הוא 250 ש”ח</a:t>
            </a:r>
            <a:endParaRPr lang="he-IL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4206240"/>
            <a:ext cx="10451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בקבוקון סלבוסטר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נמכר לרוב בכ־250 ש”ח + מע”מ לרופא (במבצע)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ולבוגרי הקורס – המחיר המוזל הוא 180 ש”ח</a:t>
            </a:r>
            <a:endParaRPr lang="he-IL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המקום בו מתקיים הטיפול:</a:t>
            </a:r>
            <a:endParaRPr lang="he-IL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לחשב לפי חלוקת עלות שכירות, ארנונה, חשמל, שכר עובדים וכדומה – לפי מספר ימי העבודה בפועל</a:t>
            </a:r>
            <a:endParaRPr lang="he-IL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ציוד מתכלה: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גזות, אלכוהול, קנולות וכו'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עולים יותר מ־50 ש”ח לטיפול</a:t>
            </a:r>
            <a:endParaRPr lang="he-IL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11091672" cy="2331720"/>
          </a:xfrm>
          <a:prstGeom prst="roundRect">
            <a:avLst>
              <a:gd name="adj" fmla="val 3922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74904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 עלות חומרית – דוגמה לטיפול הוליסטי בשקעי עיניים</a:t>
            </a:r>
            <a:endParaRPr lang="he-IL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ניקח את הנתונים ונבדוק מהי העלות החומרית של הטיפול בלבד, תוך התייחסות לשאלה חשובה: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כל 3 מ”ל הסלבוסטר נוצלו בטיפול אחד, או נשאר חומר להמשך סדרת הטיפול?</a:t>
            </a:r>
            <a:endParaRPr lang="he-IL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ב־1 מ”ל בלבד בטיפול הראשון</a:t>
            </a:r>
            <a:endParaRPr lang="he-IL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40880" y="1463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1 מ”ל סלבוסטר:</a:t>
            </a:r>
            <a:endParaRPr lang="he-IL" sz="1550" dirty="0"/>
          </a:p>
        </p:txBody>
      </p:sp>
      <p:sp>
        <p:nvSpPr>
          <p:cNvPr id="8" name="Text 5"/>
          <p:cNvSpPr/>
          <p:nvPr/>
        </p:nvSpPr>
        <p:spPr>
          <a:xfrm>
            <a:off x="3749040" y="1463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ש”ח</a:t>
            </a:r>
            <a:endParaRPr lang="he-IL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1463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 60 ש”ח לבוגרי הקורס</a:t>
            </a:r>
            <a:endParaRPr lang="he-IL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87752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40880" y="258775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מזרק מילוי:</a:t>
            </a:r>
            <a:endParaRPr lang="he-IL" sz="1550" dirty="0"/>
          </a:p>
        </p:txBody>
      </p:sp>
      <p:sp>
        <p:nvSpPr>
          <p:cNvPr id="12" name="Text 9"/>
          <p:cNvSpPr/>
          <p:nvPr/>
        </p:nvSpPr>
        <p:spPr>
          <a:xfrm>
            <a:off x="3749040" y="258775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 ש”ח</a:t>
            </a:r>
            <a:endParaRPr lang="he-IL" sz="2100" dirty="0"/>
          </a:p>
        </p:txBody>
      </p:sp>
      <p:sp>
        <p:nvSpPr>
          <p:cNvPr id="13" name="Text 10"/>
          <p:cNvSpPr/>
          <p:nvPr/>
        </p:nvSpPr>
        <p:spPr>
          <a:xfrm>
            <a:off x="868680" y="258775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 250 ש”ח לבוגרים</a:t>
            </a:r>
            <a:endParaRPr lang="he-IL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12464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40880" y="371246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סה”כ עלות חומרים</a:t>
            </a:r>
            <a:endParaRPr lang="he-IL" sz="1550" dirty="0"/>
          </a:p>
        </p:txBody>
      </p:sp>
      <p:sp>
        <p:nvSpPr>
          <p:cNvPr id="16" name="Text 13"/>
          <p:cNvSpPr/>
          <p:nvPr/>
        </p:nvSpPr>
        <p:spPr>
          <a:xfrm>
            <a:off x="3749040" y="3712464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רגיל: 413 ש”ח</a:t>
            </a:r>
            <a:endParaRPr lang="he-IL" sz="2100" dirty="0"/>
          </a:p>
        </p:txBody>
      </p:sp>
      <p:sp>
        <p:nvSpPr>
          <p:cNvPr id="17" name="Text 14"/>
          <p:cNvSpPr/>
          <p:nvPr/>
        </p:nvSpPr>
        <p:spPr>
          <a:xfrm>
            <a:off x="868680" y="3712464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לבוגרי הקורס: 310 ש”ח</a:t>
            </a:r>
            <a:endParaRPr lang="he-IL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837176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40880" y="4837176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5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בתוספת ציוד מתכלה (כ־50 ש”ח):</a:t>
            </a:r>
            <a:endParaRPr lang="he-IL" sz="1550" dirty="0"/>
          </a:p>
        </p:txBody>
      </p:sp>
      <p:sp>
        <p:nvSpPr>
          <p:cNvPr id="20" name="Text 17"/>
          <p:cNvSpPr/>
          <p:nvPr/>
        </p:nvSpPr>
        <p:spPr>
          <a:xfrm>
            <a:off x="3749040" y="483717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רגיל: 463 ש”ח</a:t>
            </a:r>
            <a:endParaRPr lang="he-IL" sz="2100" dirty="0"/>
          </a:p>
        </p:txBody>
      </p:sp>
      <p:sp>
        <p:nvSpPr>
          <p:cNvPr id="21" name="Text 18"/>
          <p:cNvSpPr/>
          <p:nvPr/>
        </p:nvSpPr>
        <p:spPr>
          <a:xfrm>
            <a:off x="868680" y="4837176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dirty="0">
                <a:solidFill>
                  <a:srgbClr val="D8C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לבוגרי הקורס: 360 ש”ח</a:t>
            </a:r>
            <a:endParaRPr lang="he-IL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מוכרים בפועל?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זהו לא מזרק בודד – זהו טיפול שלם, הוליסטי, עם מענה כולל לכל פרמטר באזור שקעי העיניים</a:t>
            </a:r>
            <a:endParaRPr lang="he-IL" sz="155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טקסטורה, כהות, מילוי, מתיחה</a:t>
            </a:r>
            <a:endParaRPr lang="he-IL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תמחור מומלץ למטופלת:</a:t>
            </a:r>
            <a:endParaRPr lang="he-IL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26060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ש”ח לטיפול מלא</a:t>
            </a:r>
            <a:endParaRPr lang="he-IL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260604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רגיל: 1,537 ש”ח (76.8%)</a:t>
            </a:r>
            <a:endParaRPr lang="he-IL" sz="145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לבוגר קורס: 1,640 ש”ח (82.0%)</a:t>
            </a:r>
            <a:endParaRPr lang="he-IL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388620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38862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 ש”ח למטופלת מתקשה – ועדיין ברווח מצוין</a:t>
            </a:r>
            <a:endParaRPr lang="he-IL" sz="1550" dirty="0"/>
          </a:p>
        </p:txBody>
      </p:sp>
      <p:sp>
        <p:nvSpPr>
          <p:cNvPr id="13" name="Text 10"/>
          <p:cNvSpPr/>
          <p:nvPr/>
        </p:nvSpPr>
        <p:spPr>
          <a:xfrm>
            <a:off x="868680" y="388620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רגיל: 1,337 ש”ח (74.3%)</a:t>
            </a:r>
            <a:endParaRPr lang="he-IL" sz="145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לבוגר קורס: 1,440 ש”ח (80.0%)</a:t>
            </a:r>
            <a:endParaRPr lang="he-IL" sz="1450" dirty="0"/>
          </a:p>
        </p:txBody>
      </p:sp>
      <p:sp>
        <p:nvSpPr>
          <p:cNvPr id="14" name="Text 11"/>
          <p:cNvSpPr/>
          <p:nvPr/>
        </p:nvSpPr>
        <p:spPr>
          <a:xfrm>
            <a:off x="1371600" y="5257800"/>
            <a:ext cx="10268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כך, בתוספת קטנה בלבד לעלות של מזרק בודד</a:t>
            </a:r>
            <a:endParaRPr lang="he-IL" sz="1450" dirty="0"/>
          </a:p>
          <a:p>
            <a:pPr rtl="1" algn="r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שידרגתם את המכירה לטיפול מקצועי, מלא ומשתלם – לכם ולמטופלת</a:t>
            </a:r>
            <a:endParaRPr lang="he-IL" sz="14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יצרתם רווח גבוה, גם הבאתם לתוצאה מיטבית – וגם פתחתם פתח להמשכיות טיפולית</a:t>
            </a:r>
            <a:endParaRPr lang="he-IL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3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משולבת נוספת: שפתיים והאזור הפריאורלי</a:t>
            </a:r>
            <a:endParaRPr lang="he-IL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מטופלת מבקשת “רק מילוי שפתיים”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מזרק בודד – תוכנית הוליסטית לכל האזור: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מילוי מדויק של השפתיים – נפח, הגדרה וסימטריה (מזרק חומצה היאלורונית, אזור מורכב)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סלבוסטר סביב הפה – שיפור מרקם העור וטיפול בקמטוטים הפריאורליים (1 מ”ל)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איזון זוויות הפה – חלוקת החומר לפי המבנה, לא רק “למלא שפה”</a:t>
            </a:r>
            <a:endParaRPr lang="he-IL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78892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חומרים: מזרק מילוי 330 + סלבוסטר 1 מ”ל 83 + ציוד מתכלה כ־50 = 463 ש”ח | לבוגרי הקורס: 360 ש”ח</a:t>
            </a:r>
            <a:endParaRPr lang="he-IL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93192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בנפרד לפי המחירון: מילוי שפתיים 1,800 ₪ + סלבוסטר 1,500 ₪ = 3,300 ₪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מומלץ לתוכנית המשולבת: 2,500 ₪ – המטופלת מקבלת תוכנית שלמה במחיר משתלם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51206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רגיל: 2,037 ש”ח (81.5%) | לבוגר קורס: 2,140 ש”ח (85.6%)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50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כמעט פי 1.5 מהרווח על מזרק שפתיים בודד – עם תוצאה מקיפה יותר ופתח להמשכיות.</a:t>
            </a:r>
            <a:endParaRPr lang="he-IL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3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משולבת נוספת: קמטי נאזולביאל ונפח הפנים</a:t>
            </a:r>
            <a:endParaRPr lang="he-IL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מטופלת מבקשת מזרק אחד לקמט הנאזולביאלי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אבל הקמט הוא הסימפטום – המקור הוא איבוד נפח בעצמות הלחיים: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שחזור נפח בעצמות הלחיים – טיפול במקור הנפילה (מזרק חומצה היאלורונית)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השלמת מילוי עדינה בקמט עצמו, במידת הצורך (מזרק שני)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סלבוסטר – שיפור מרקם, לחות ואלסטיות של העור באזור (1 מ”ל)</a:t>
            </a:r>
            <a:endParaRPr lang="he-IL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78892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חומרים: 2 מזרקי מילוי 660 + סלבוסטר 1 מ”ל 83 + ציוד מתכלה כ־50 = 793 ש”ח | לבוגרי הקורס: 610 ש”ח</a:t>
            </a:r>
            <a:endParaRPr lang="he-IL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93192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בנפרד לפי המחירון: שני מזרקים (אזורים כלליים) 2,600 ₪ + סלבוסטר 1,500 ₪ = 4,100 ₪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מומלץ לתוכנית המשולבת: 3,500 ₪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51206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רגיל: 2,707 ש”ח (77.3%) | לבוגר קורס: 2,890 ש”ח (82.6%)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350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טיפלתם במקור ולא בסימפטום – תוצאה טובה יותר, ועסקה גדולה פי 2.5 ממזרק בודד.</a:t>
            </a:r>
            <a:endParaRPr lang="he-IL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מהטיפול הבודד לחודש עבודה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ניקח את תוכנית שקעי העיניים (2,000 ש”ח לטיפול, רווח של 1,537–1,640 ש”ח) ונראה מה קורה בחודש:</a:t>
            </a:r>
            <a:endParaRPr lang="he-IL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2194560"/>
                <a:gridCol w="2313432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רווח חודשי לבוגר קורס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רווח חודשי רגיל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טיפולים בחודש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תוכניות טיפול בשבוע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13,120 ש”ח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12,296 ש”ח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19,680 ש”ח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18,444 ש”ח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32,800 ש”ח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30,740 ש”ח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02920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5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וזה עוד לפני בוטוקס, סדרות סלבוסטר וטיפולי המשך.</a:t>
            </a:r>
            <a:endParaRPr lang="he-IL" sz="15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סימולציה להמחשה בלבד – מבוסס על 4 שבועות, לפני מע”מ, עלויות קליניקה ומסים.</a:t>
            </a:r>
            <a:endParaRPr lang="he-IL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המחירון המומלץ לבוגרים (1/2)</a:t>
            </a:r>
            <a:endParaRPr lang="he-IL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3108960"/>
                <a:gridCol w="37764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קטגוריה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אזור אחד (מצח, בין הגבות או צידי העיניים)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טיפולי בוטוקס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מיוחד לרגל השקת הקליניקה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שלושה אזורים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טיפולי בוטוקס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מזרק אחד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חומצה היאלורונית – אזורים כלליים (קמטי נאזולביאל, מריונטה, רקות, עצמות לחיים)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חיסכון של 200 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שני מזרקים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חומצה היאלורונית – אזורים כלליים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מזרק אחד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חומצה היאלורונית – אזורים מורכבים (שקעי עיניים, עיצוב ופיסול אף, מילוי שפתיים)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חיסכון של 200 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שני מזרקים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חומצה היאלורונית – אזורים מורכבים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טיפול בודד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סקין בוסטר (Skin Booster)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חיסכון של 600 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סדרה של 3 טיפולים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סקין בוסטר (Skin Booster)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המחירון המומלץ לבוגרים (2/2)</a:t>
            </a:r>
            <a:endParaRPr lang="he-IL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3108960"/>
                <a:gridCol w="377647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קטגוריה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טיפול בודד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סקולפטרה (Sculptra)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חיסכון של 1,500 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סדרה של 3 טיפולים (בסגירה מראש)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סקולפטרה (Sculptra)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טיפול בודד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סלבוסטר (Cellbooster)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חיסכון של 300 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סדרה של 3 טיפולים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סלבוסטר (Cellbooster)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חיסכון של 1,000 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8,000 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סדרה של 6 טיפולים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סלבוסטר (Cellbooster)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68680" y="4901184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3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הערות חשובות</a:t>
            </a:r>
            <a:endParaRPr lang="he-IL" sz="1300" dirty="0"/>
          </a:p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הטיפולים מותאמים באופן אישי, תוך דגש על מראה טבעי והרמוני.</a:t>
            </a:r>
            <a:endParaRPr lang="he-IL" sz="130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3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תיקוני טאצ'־אפ כלולים במסגרת ביקורת עד חודש מהטיפול.</a:t>
            </a:r>
            <a:endParaRPr lang="he-IL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מבצעים מיוחדים</a:t>
            </a:r>
            <a:endParaRPr lang="he-IL" sz="2600" dirty="0"/>
          </a:p>
        </p:txBody>
      </p:sp>
      <p:sp>
        <p:nvSpPr>
          <p:cNvPr id="6" name="Shape 3"/>
          <p:cNvSpPr/>
          <p:nvPr/>
        </p:nvSpPr>
        <p:spPr>
          <a:xfrm>
            <a:off x="8065008" y="1554480"/>
            <a:ext cx="3575304" cy="3017520"/>
          </a:xfrm>
          <a:prstGeom prst="roundRect">
            <a:avLst>
              <a:gd name="adj" fmla="val 3030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0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מבצע “חבר מביא חבר”</a:t>
            </a:r>
            <a:endParaRPr lang="he-IL" sz="1550" dirty="0"/>
          </a:p>
        </p:txBody>
      </p:sp>
      <p:sp>
        <p:nvSpPr>
          <p:cNvPr id="8" name="Text 5"/>
          <p:cNvSpPr/>
          <p:nvPr/>
        </p:nvSpPr>
        <p:spPr>
          <a:xfrm>
            <a:off x="8321040" y="25146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החבר מקבל 10% הנחה על הטיפול הראשון.</a:t>
            </a:r>
            <a:endParaRPr lang="he-IL" sz="130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מקבל 15% הנחה על הטיפול הבא שלך.</a:t>
            </a:r>
            <a:endParaRPr lang="he-IL" sz="1300" dirty="0"/>
          </a:p>
        </p:txBody>
      </p:sp>
      <p:sp>
        <p:nvSpPr>
          <p:cNvPr id="9" name="Shape 6"/>
          <p:cNvSpPr/>
          <p:nvPr/>
        </p:nvSpPr>
        <p:spPr>
          <a:xfrm>
            <a:off x="4306824" y="1554480"/>
            <a:ext cx="3575304" cy="3017520"/>
          </a:xfrm>
          <a:prstGeom prst="roundRect">
            <a:avLst>
              <a:gd name="adj" fmla="val 3030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62856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מבצע טיפול ראשון</a:t>
            </a:r>
            <a:endParaRPr lang="he-IL" sz="1550" dirty="0"/>
          </a:p>
        </p:txBody>
      </p:sp>
      <p:sp>
        <p:nvSpPr>
          <p:cNvPr id="11" name="Text 8"/>
          <p:cNvSpPr/>
          <p:nvPr/>
        </p:nvSpPr>
        <p:spPr>
          <a:xfrm>
            <a:off x="4562856" y="25146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חדשים? 10% הנחה על הטיפול הראשון מכל סוג (לא כולל מבצעים מיוחדים).</a:t>
            </a:r>
            <a:endParaRPr lang="he-IL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3575304" cy="3017520"/>
          </a:xfrm>
          <a:prstGeom prst="roundRect">
            <a:avLst>
              <a:gd name="adj" fmla="val 3030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4672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חבילת טיפולים מותאמת אישית</a:t>
            </a:r>
            <a:endParaRPr lang="he-IL" sz="1550" dirty="0"/>
          </a:p>
        </p:txBody>
      </p:sp>
      <p:sp>
        <p:nvSpPr>
          <p:cNvPr id="14" name="Text 11"/>
          <p:cNvSpPr/>
          <p:nvPr/>
        </p:nvSpPr>
        <p:spPr>
          <a:xfrm>
            <a:off x="804672" y="25146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מעל 3,000 ₪: 10% הנחה על כל החבילה.</a:t>
            </a:r>
            <a:endParaRPr lang="he-IL" sz="130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3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מעל 5,000 ₪: 15% הנחה.</a:t>
            </a:r>
            <a:endParaRPr lang="he-IL" sz="1300" dirty="0"/>
          </a:p>
        </p:txBody>
      </p:sp>
      <p:sp>
        <p:nvSpPr>
          <p:cNvPr id="15" name="Text 12"/>
          <p:cNvSpPr/>
          <p:nvPr/>
        </p:nvSpPr>
        <p:spPr>
          <a:xfrm>
            <a:off x="1371600" y="502920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הנחה היא כלי – לא ברירת מחדל. השתמשו בה כדי לפתוח דלת, לתגמל נאמנות ולסגור חבילות – לא כדי להתחרות על מחיר.</a:t>
            </a:r>
            <a:endParaRPr lang="he-IL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החברות המובילות בתחום חומרי המילוי האסתטיים</a:t>
            </a:r>
            <a:endParaRPr lang="he-IL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2286000"/>
                <a:gridCol w="960120"/>
                <a:gridCol w="960120"/>
                <a:gridCol w="1188720"/>
                <a:gridCol w="868680"/>
                <a:gridCol w="1143000"/>
                <a:gridCol w="112471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המזרק הנמכר ביותר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ביוסטימולטור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אינדיקציות עיקריות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צילוב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משווק בארץ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ארץ ייצור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יצרן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מסחרי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XL, XXL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Radiesse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שפתיים, קמטים, שקעים, קו לסת, סנטר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אלפאמדיקס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צרפת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Vivacy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שפתיים, קמטים עדינים, נפחים, סנטר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(כל המוצרים)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אלפאמדיקס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גרמניה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Merz Aesthetic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Belotero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החברות המובילות בתחום חומרי המילוי האסתטיים (המשך)</a:t>
            </a:r>
            <a:endParaRPr lang="he-IL" sz="2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2286000"/>
                <a:gridCol w="960120"/>
                <a:gridCol w="960120"/>
                <a:gridCol w="1188720"/>
                <a:gridCol w="868680"/>
                <a:gridCol w="1143000"/>
                <a:gridCol w="112471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המזרק הנמכר ביותר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ביוסטימולטור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אינדיקציות עיקריות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צילוב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משווק בארץ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ארץ ייצור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יצרן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מסחרי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Redensity II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קמטים שטחיים, נפחים, שפתיים, רכות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(Redensity II בלבד)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ביוטים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שוויץ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Teoxane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Teosyal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Shape, Outline, Contour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שפתיים, קמטים בינוניים, קווי מתאר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(Versa בלבד)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קנדה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Prollenium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Revanesse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 3, Voluma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HarmonyCa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קמטים עמוקים, שפתיים, נפחים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מוצרים מתוך המגוון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אלרגן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אירלנד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Allergan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Juvederm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29260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רופא אסתטיקה להתמודדות עם התנגדויות למחיר</a:t>
            </a:r>
            <a:endParaRPr lang="he-IL" sz="2100" dirty="0"/>
          </a:p>
        </p:txBody>
      </p:sp>
      <p:sp>
        <p:nvSpPr>
          <p:cNvPr id="6" name="Text 3"/>
          <p:cNvSpPr/>
          <p:nvPr/>
        </p:nvSpPr>
        <p:spPr>
          <a:xfrm>
            <a:off x="6172200" y="960120"/>
            <a:ext cx="5468112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שלב ראשון – להבין את ההתנגדות לעומק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לברור ההתנגדות האמיתית: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“אפשר לשאול מה גרם לך להרגיש שזה יקר?”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“מה היית מצפה לכלול במחיר כזה?”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“השוואת מול מטפלים אחרים?”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“זה משהו שלא תכננת כלכלית עכשיו או שזו שאלה של ערך בעינייך?”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he-IL" altLang="en-US" sz="1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לברר אם מדובר בהתנגדות כלכלית, רגשית או טכנית – ואז להתאים את התגובה.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שלב שני – חיזוק ערך ולא הנחה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להוריד מחיר, הדגש את היתרונות הייחודיים: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 עבודות / לפני-אחרי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הכשרה מתקדמת (למשל עם אולטרסאונד או ביוסטימולטורים)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חומרים רשמיים בלבד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 וליווי אישי אחרי טיפול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בטיחות רפואית על ידי רופא בלבד</a:t>
            </a:r>
            <a:endParaRPr lang="he-IL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5468112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משפטי מפתח: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“טיפול אסתטי טוב הוא לא הוצאה – הוא השקעה בביטחון העצמי שלך.”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לא הכי זולה, אבל אני כן הכי מדויקת, בטוחה ומקצועית.”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“אפשר לעשות בזול, אבל לא פשרות כשזה הפנים שלך.”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🧰 שלב שלישי – לתת תחושת שליטה ופתרונות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הצעה לפצל את הטיפול לשלבים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אפשרות לפריסת תשלומים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התאמת טיפול חלופי בתקציב נגיש יותר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מוצע: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מבינה שכרגע זה לא בתקציב – אפשר להתחיל בפעולה אחת מדויקת שתיתן שינוי מיידי.”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שלב רביעי – לשחרר את מי שלא מתאים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כל לקוח הוא לקוח מדויק.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שמחפש רק מחיר – לא תמיד מבין את הערך.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שימרו על ערך עצמי ומיתוג מקצועי. זה חלק מהצלחה רפואית.</a:t>
            </a:r>
            <a:endParaRPr lang="he-IL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29260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רופא אסתטיקה להתמודדות עם התנגדויות למחיר – גרסה מעודכנת</a:t>
            </a:r>
            <a:endParaRPr lang="he-IL" sz="2100" dirty="0"/>
          </a:p>
        </p:txBody>
      </p:sp>
      <p:sp>
        <p:nvSpPr>
          <p:cNvPr id="6" name="Text 3"/>
          <p:cNvSpPr/>
          <p:nvPr/>
        </p:nvSpPr>
        <p:spPr>
          <a:xfrm>
            <a:off x="6172200" y="960120"/>
            <a:ext cx="5468112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שלב ראשון – להבין את ההתנגדות לעומק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לברור ההתנגדות האמיתית: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“אפשר לשאול מה גרם לך להרגיש שזה יקר?”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“מה היית מצפה לכלול במחיר כזה?”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“יקר ביחס לך? האם היא משווה בינכם לבין רשת?”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“זה משהו שלא תכננת כלכלית עכשיו או שזו שאלה של ערך בעינייך?”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he-IL" altLang="en-US" sz="1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לברר אם מדובר בהתנגדות כלכלית, רגשית או טכנית – ואז להתאים את התגובה.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שלב שני – חיזוק ערך ולא הנחה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להוריד מחיר, הדגש את היתרונות הייחודיים: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תחזרו לבידול שלכם, לחוזקות שלכם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הכשרה מתקדמת, יחס אישי, יכולת מענה וזמינות גבוהה, בניית תוכנית טיפולים מותאמת אישית.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חומרים פרימיום בלבד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 וליווי אישי אחרי טיפול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בטיחות רפואית על ידי רופא בלבד</a:t>
            </a:r>
            <a:endParaRPr lang="he-IL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5468112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משפטי מפתח: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“טיפול אסתטי טוב הוא לא הוצאה – הוא השקעה בביטחון העצמי שלך.”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לא הכי זולה, אבל אני כן הכי מדויקת, בטוחה ומקצועית.”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“מחיר הוא לא השיקול המרכזי כשמדובר בפנים שלך.”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🧰 שלב שלישי – לתת תחושת שליטה ופתרונות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הצעה לפצל את הטיפול לשלבים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אפשרות לפריסת תשלומים</a:t>
            </a:r>
            <a:endParaRPr lang="he-IL" sz="1200" dirty="0"/>
          </a:p>
          <a:p>
            <a:pPr rtl="1" algn="r"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התאמת טיפול חלופי בתקציב נגיש יותר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מוצע: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he-IL" altLang="en-US" sz="1200" i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“אני מבינה שכרגע זה לא בתקציב – אפשר להתחיל בפעולה אחת מדויקת שתיתן שינוי מיידי.”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he-IL" altLang="en-US" sz="1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שלב רביעי – לשחרר את מי שלא מתאים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כל לקוח הוא לקוח מדויק.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he-IL" altLang="en-US" sz="12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שמחפש רק מחיר – לא תמיד מבין את הערך.</a:t>
            </a:r>
            <a:endParaRPr lang="he-IL" sz="120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שימרו על ערך עצמי ומיתוג מקצועי. זה חלק מהצלחה רפואית.</a:t>
            </a:r>
            <a:endParaRPr lang="he-IL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תוספים – מה מומלץ וממה להימנע סביב טיפולים</a:t>
            </a:r>
            <a:endParaRPr lang="he-IL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566160"/>
                <a:gridCol w="1737360"/>
                <a:gridCol w="194767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הנחיה לרופאים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מטרה / השפעה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התוסף / גורם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קטגוריה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להתחיל שבוע לפני ולהמשיך שבוע לאחר הטיפול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מעודד ייצור קולגן ותומך בהחלמת העור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ויטמין 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תוספים לשיפור תוצאה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מומלץ לפני טיפולים סדרתיים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משפר את מרקם העור ותומך בתיקון רקמות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קולגן הידרולייזד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תוספים לשיפור תוצאה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מומלץ בטיפולים ביוסטימולטוריים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תורם להתחדשות תאים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L-ליזין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תוספים לשיפור תוצאה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מומלץ כשיש רגישות או דלקתיות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משפר עמידות ויעילות הבוטוקס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אבץ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תוספים לשיפור תוצאה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מומלץ במקרים של רקמה דקה/חלשה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תורמת לגמישות וחוזק רקמות חיבור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סיליקה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תוספים לשיפור תוצאה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תמיכה כללית, אפשר כל הזמן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תומך בכלי דם ותפקוד תאי עור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קומפלקס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תוספים לשיפור תוצאה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מתאים לתחזוקה בין טיפולים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תומך בתהליך האנטי-אייג'ינג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קואנזים Q10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תוספים לשיפור תוצאה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להפסיק שבוע לפני טיפול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מגביר סיכון לשטפי דם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אומגה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יש להימנע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להפסיק שבוע לפני טיפול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מגביר סיכון לדימומים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ויטמין 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יש להימנע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להפסיק לפחות 5 ימים לפני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מעלה סיכון לשטפי דם ודלקת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כורכום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יש להימנע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להפסיק לפחות 5 ימים לפני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עלול להפריע לקרישה תקינה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ג'ינגר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יש להימנע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לצרוך 3–4 ימים לפני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משפיע על קרישת דם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שום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יש להימנע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להימנע 24–48 שעות לפני טיפול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מעלה סיכון לנפיחות ודימומים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אלכוהול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יש להימנע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 חדש לבוגרים של AAA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altLang="en-US" sz="15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רופאים ורופאות יקרים, יש לנו חדשות מרגשות עבורכם!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אנו גאים להשיק שירות מותאם אישית הכולל שיווק פרסום וניהול קמפיינים במדיות החברתיות בלעדי לבוגרי הקורס שלנו</a:t>
            </a:r>
            <a:endParaRPr lang="he-IL" sz="1550" dirty="0"/>
          </a:p>
        </p:txBody>
      </p:sp>
      <p:sp>
        <p:nvSpPr>
          <p:cNvPr id="7" name="Shape 4"/>
          <p:cNvSpPr/>
          <p:nvPr/>
        </p:nvSpPr>
        <p:spPr>
          <a:xfrm>
            <a:off x="1371600" y="2514600"/>
            <a:ext cx="10268712" cy="2651760"/>
          </a:xfrm>
          <a:prstGeom prst="roundRect">
            <a:avLst>
              <a:gd name="adj" fmla="val 344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91640" y="269748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כולל השירות?</a:t>
            </a:r>
            <a:endParaRPr lang="he-IL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3200400"/>
            <a:ext cx="9628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קמפיין בפייסבוק ובאינסטגרם: 800 שח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יומן מלא, תיאום תורים: 15% מכל טיפול שנסגר מול המטופלת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השכרת חדר טיפולים באקדמיה של AAA בראשון לציון: 100 שח לשעה+מע”מ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ליווי סושיאל ליום של 6 שעות: 1500 שח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ליווי ייעוץ מכירות לאורך יום הטיפולים: 2500 שח</a:t>
            </a:r>
            <a:endParaRPr lang="he-IL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5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זה בעלויות נמוכות עם רווח מקסימלי עבורכם</a:t>
            </a:r>
            <a:endParaRPr lang="he-IL" sz="1500" dirty="0"/>
          </a:p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תתחילו לנצל את היתרונות של שירות ייחודי ובלעדי זה</a:t>
            </a:r>
            <a:endParaRPr lang="he-IL" sz="15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5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להצלחה שלכם!</a:t>
            </a:r>
            <a:endParaRPr lang="he-IL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פרקטיקה פרטני לבוגרי AAA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10789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מרגישים שאתם זקוקים לתרגול נוסף?</a:t>
            </a:r>
            <a:endParaRPr lang="he-IL" sz="1700" dirty="0"/>
          </a:p>
        </p:txBody>
      </p:sp>
      <p:sp>
        <p:nvSpPr>
          <p:cNvPr id="7" name="Text 4"/>
          <p:cNvSpPr/>
          <p:nvPr/>
        </p:nvSpPr>
        <p:spPr>
          <a:xfrm>
            <a:off x="5943600" y="1691640"/>
            <a:ext cx="5696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אנו מציעים יום הכולל 6 שעות בצמוד לאחד ממרצי הקורס</a:t>
            </a:r>
            <a:endParaRPr lang="he-IL" sz="1500" dirty="0"/>
          </a:p>
          <a:p>
            <a:pPr rtl="1" algn="r"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 אתם מגדירים מראש אילו אינדיקציות/אזורים תרצו לתרגל, ואנו מספקים מודגמות בהתאם לדרישה.</a:t>
            </a:r>
            <a:endParaRPr lang="he-IL" sz="1500" dirty="0"/>
          </a:p>
          <a:p>
            <a:pPr rtl="1" algn="r"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(בין 5-6 מודגמות)</a:t>
            </a:r>
            <a:endParaRPr lang="he-IL" sz="1500" dirty="0"/>
          </a:p>
          <a:p>
            <a:pPr rtl="1" algn="r"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יתבצע בצמוד לאחד ממרצי הקורס,</a:t>
            </a:r>
            <a:endParaRPr lang="he-IL" sz="1500" dirty="0"/>
          </a:p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5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וכמובן כולל תיעוד והרחבת תיק העבודות שלכם.</a:t>
            </a:r>
            <a:endParaRPr lang="he-IL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1920240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250" dirty="0">
                <a:solidFill>
                  <a:srgbClr val="D8C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היום היא</a:t>
            </a:r>
            <a:endParaRPr lang="he-IL" sz="1250" dirty="0"/>
          </a:p>
          <a:p>
            <a:pPr rtl="1" algn="r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שח + מע”מ</a:t>
            </a:r>
            <a:endParaRPr lang="he-IL" sz="1250" dirty="0"/>
          </a:p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החדר עומד לרשותכם כולל מתכלים: אלכוהול, קנולות, מחטים, מזרקי שאיבה, גאזות.</a:t>
            </a:r>
            <a:endParaRPr lang="he-IL" sz="12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בוטוקס וחומרי הזרקה תוכלו להביא איתכם באופן עצמאי או לרכוש מאיתנו בעלויות נמוכות פר שימוש.</a:t>
            </a:r>
            <a:endParaRPr lang="he-IL" sz="1250" dirty="0"/>
          </a:p>
        </p:txBody>
      </p:sp>
      <p:sp>
        <p:nvSpPr>
          <p:cNvPr id="10" name="Shape 7"/>
          <p:cNvSpPr/>
          <p:nvPr/>
        </p:nvSpPr>
        <p:spPr>
          <a:xfrm>
            <a:off x="1371600" y="4709160"/>
            <a:ext cx="10268712" cy="1371600"/>
          </a:xfrm>
          <a:prstGeom prst="roundRect">
            <a:avLst>
              <a:gd name="adj" fmla="val 666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691640" y="489204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altLang="en-US" sz="15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זה בעלויות נמוכות עם רווח מקסימלי עבורכם</a:t>
            </a:r>
            <a:endParaRPr lang="he-IL" sz="15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תתחילו לנצל את היתרונות של שירות ייחודי ובלעדי זה להצלחה שלכם!</a:t>
            </a:r>
            <a:endParaRPr lang="he-IL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389120" cy="4389120"/>
          </a:xfrm>
          <a:prstGeom prst="ellipse">
            <a:avLst/>
          </a:prstGeom>
          <a:solidFill>
            <a:srgbClr val="A3866A">
              <a:alpha val="10000"/>
            </a:srgbClr>
          </a:solidFill>
          <a:ln/>
        </p:spPr>
      </p:sp>
      <p:pic>
        <p:nvPicPr>
          <p:cNvPr id="3" name="Image 0" descr="asset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4251960" cy="2834640"/>
          </a:xfrm>
          <a:prstGeom prst="rect">
            <a:avLst/>
          </a:prstGeom>
        </p:spPr>
      </p:pic>
      <p:pic>
        <p:nvPicPr>
          <p:cNvPr id="4" name="Image 1" descr="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4343400"/>
            <a:ext cx="2057400" cy="2057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94960" y="1143000"/>
            <a:ext cx="6263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he-IL" altLang="en-US" sz="280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ותזכרו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רופא לא נולד עם מזרק ביד, ואף אחד לא נכנס לקליניקה משגשגת ביום הראשון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מסע – של התפתחות, למידה והתנסות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ואתם לא לבד בו!!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כאן בשבילכם – תמיד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הבית לשאול, להתייעץ, לקבל גב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ולצמוח יד ביד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שתהיו הרופאים שאתם חולמים להיות</a:t>
            </a:r>
            <a:endParaRPr lang="he-IL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2026-08-03T09:07:16Z</dcterms:created>
  <dcterms:modified xsi:type="dcterms:W3CDTF">2026-08-03T09:07:16Z</dcterms:modified>
</cp:coreProperties>
</file>